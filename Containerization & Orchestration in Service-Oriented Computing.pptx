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8288000" cy="10287000"/>
  <p:notesSz cx="6858000" cy="9144000"/>
  <p:embeddedFontLst>
    <p:embeddedFont>
      <p:font typeface="Calibri" panose="020F0502020204030204" pitchFamily="34" charset="0"/>
      <p:regular r:id="rId27"/>
      <p:bold r:id="rId28"/>
      <p:italic r:id="rId29"/>
      <p:boldItalic r:id="rId30"/>
    </p:embeddedFont>
    <p:embeddedFont>
      <p:font typeface="Montserrat" panose="020B0604020202020204" charset="0"/>
      <p:regular r:id="rId31"/>
    </p:embeddedFont>
    <p:embeddedFont>
      <p:font typeface="Montserrat Bold" panose="020B0604020202020204" charset="0"/>
      <p:regular r:id="rId32"/>
    </p:embeddedFont>
    <p:embeddedFont>
      <p:font typeface="Montserrat Extra-Light" panose="020B0604020202020204" charset="0"/>
      <p:regular r:id="rId33"/>
    </p:embeddedFont>
    <p:embeddedFont>
      <p:font typeface="Montserrat Light" panose="020B0604020202020204" charset="0"/>
      <p:regular r:id="rId34"/>
    </p:embeddedFont>
    <p:embeddedFont>
      <p:font typeface="Montserrat Medium" panose="020B0604020202020204" charset="0"/>
      <p:regular r:id="rId35"/>
    </p:embeddedFont>
    <p:embeddedFont>
      <p:font typeface="Montserrat Semi-Bold" panose="020B0604020202020204" charset="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3" d="100"/>
          <a:sy n="73" d="100"/>
        </p:scale>
        <p:origin x="594"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6259384"/>
            <a:ext cx="9696172" cy="1123020"/>
            <a:chOff x="0" y="0"/>
            <a:chExt cx="2847962" cy="329854"/>
          </a:xfrm>
        </p:grpSpPr>
        <p:sp>
          <p:nvSpPr>
            <p:cNvPr id="4" name="Freeform 4"/>
            <p:cNvSpPr/>
            <p:nvPr/>
          </p:nvSpPr>
          <p:spPr>
            <a:xfrm>
              <a:off x="0" y="0"/>
              <a:ext cx="2847962" cy="329854"/>
            </a:xfrm>
            <a:custGeom>
              <a:avLst/>
              <a:gdLst/>
              <a:ahLst/>
              <a:cxnLst/>
              <a:rect l="l" t="t" r="r" b="b"/>
              <a:pathLst>
                <a:path w="2847962" h="329854">
                  <a:moveTo>
                    <a:pt x="0" y="0"/>
                  </a:moveTo>
                  <a:lnTo>
                    <a:pt x="2847962" y="0"/>
                  </a:lnTo>
                  <a:lnTo>
                    <a:pt x="2847962" y="329854"/>
                  </a:lnTo>
                  <a:lnTo>
                    <a:pt x="0" y="329854"/>
                  </a:lnTo>
                  <a:close/>
                </a:path>
              </a:pathLst>
            </a:custGeom>
            <a:gradFill rotWithShape="1">
              <a:gsLst>
                <a:gs pos="0">
                  <a:srgbClr val="004181">
                    <a:alpha val="100000"/>
                  </a:srgbClr>
                </a:gs>
                <a:gs pos="100000">
                  <a:srgbClr val="004181">
                    <a:alpha val="0"/>
                  </a:srgbClr>
                </a:gs>
              </a:gsLst>
              <a:lin ang="0"/>
            </a:gradFill>
          </p:spPr>
        </p:sp>
        <p:sp>
          <p:nvSpPr>
            <p:cNvPr id="5" name="TextBox 5"/>
            <p:cNvSpPr txBox="1"/>
            <p:nvPr/>
          </p:nvSpPr>
          <p:spPr>
            <a:xfrm>
              <a:off x="0" y="-38100"/>
              <a:ext cx="2847962" cy="36795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1517332" y="2488475"/>
            <a:ext cx="6178868" cy="725135"/>
          </a:xfrm>
          <a:prstGeom prst="rect">
            <a:avLst/>
          </a:prstGeom>
        </p:spPr>
        <p:txBody>
          <a:bodyPr wrap="square" lIns="0" tIns="0" rIns="0" bIns="0" rtlCol="0" anchor="t">
            <a:spAutoFit/>
          </a:bodyPr>
          <a:lstStyle/>
          <a:p>
            <a:pPr marL="0" lvl="0" indent="0" algn="l">
              <a:lnSpc>
                <a:spcPts val="5390"/>
              </a:lnSpc>
            </a:pPr>
            <a:r>
              <a:rPr lang="en-US" sz="6494" b="1" spc="-519" dirty="0">
                <a:solidFill>
                  <a:srgbClr val="FFFFFF"/>
                </a:solidFill>
                <a:latin typeface="Montserrat Bold"/>
                <a:ea typeface="Montserrat Bold"/>
                <a:cs typeface="Montserrat Bold"/>
                <a:sym typeface="Montserrat Bold"/>
              </a:rPr>
              <a:t>Containerization</a:t>
            </a:r>
          </a:p>
        </p:txBody>
      </p:sp>
      <p:sp>
        <p:nvSpPr>
          <p:cNvPr id="7" name="TextBox 7"/>
          <p:cNvSpPr txBox="1"/>
          <p:nvPr/>
        </p:nvSpPr>
        <p:spPr>
          <a:xfrm>
            <a:off x="1517332" y="3354788"/>
            <a:ext cx="11675438" cy="1703993"/>
          </a:xfrm>
          <a:prstGeom prst="rect">
            <a:avLst/>
          </a:prstGeom>
        </p:spPr>
        <p:txBody>
          <a:bodyPr lIns="0" tIns="0" rIns="0" bIns="0" rtlCol="0" anchor="t">
            <a:spAutoFit/>
          </a:bodyPr>
          <a:lstStyle/>
          <a:p>
            <a:pPr marL="0" lvl="0" indent="0" algn="l">
              <a:lnSpc>
                <a:spcPts val="6375"/>
              </a:lnSpc>
            </a:pPr>
            <a:r>
              <a:rPr lang="en-US" sz="7681" b="1" spc="-614" dirty="0">
                <a:solidFill>
                  <a:srgbClr val="CAF0F8"/>
                </a:solidFill>
                <a:latin typeface="Montserrat Bold"/>
                <a:ea typeface="Montserrat Bold"/>
                <a:cs typeface="Montserrat Bold"/>
                <a:sym typeface="Montserrat Bold"/>
              </a:rPr>
              <a:t>&amp; Orchestration in Service-Oriented Computing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TextBox 3"/>
          <p:cNvSpPr txBox="1"/>
          <p:nvPr/>
        </p:nvSpPr>
        <p:spPr>
          <a:xfrm>
            <a:off x="1028700" y="1733738"/>
            <a:ext cx="8739647" cy="2070101"/>
          </a:xfrm>
          <a:prstGeom prst="rect">
            <a:avLst/>
          </a:prstGeom>
        </p:spPr>
        <p:txBody>
          <a:bodyPr lIns="0" tIns="0" rIns="0" bIns="0" rtlCol="0" anchor="t">
            <a:spAutoFit/>
          </a:bodyPr>
          <a:lstStyle/>
          <a:p>
            <a:pPr marL="0" lvl="0" indent="0" algn="l">
              <a:lnSpc>
                <a:spcPts val="8000"/>
              </a:lnSpc>
            </a:pPr>
            <a:r>
              <a:rPr lang="en-US" sz="8000" b="1" spc="-640">
                <a:solidFill>
                  <a:srgbClr val="FFFFFF"/>
                </a:solidFill>
                <a:latin typeface="Montserrat Medium"/>
                <a:ea typeface="Montserrat Medium"/>
                <a:cs typeface="Montserrat Medium"/>
                <a:sym typeface="Montserrat Medium"/>
              </a:rPr>
              <a:t>Learning Outcomes</a:t>
            </a:r>
          </a:p>
        </p:txBody>
      </p:sp>
      <p:sp>
        <p:nvSpPr>
          <p:cNvPr id="4" name="TextBox 4"/>
          <p:cNvSpPr txBox="1"/>
          <p:nvPr/>
        </p:nvSpPr>
        <p:spPr>
          <a:xfrm>
            <a:off x="1028700" y="5328491"/>
            <a:ext cx="4530746" cy="3967728"/>
          </a:xfrm>
          <a:prstGeom prst="rect">
            <a:avLst/>
          </a:prstGeom>
        </p:spPr>
        <p:txBody>
          <a:bodyPr lIns="0" tIns="0" rIns="0" bIns="0" rtlCol="0" anchor="t">
            <a:spAutoFit/>
          </a:bodyPr>
          <a:lstStyle/>
          <a:p>
            <a:pPr marL="0" lvl="0" indent="0" algn="l">
              <a:lnSpc>
                <a:spcPts val="2856"/>
              </a:lnSpc>
            </a:pPr>
            <a:r>
              <a:rPr lang="en-US" sz="2040" spc="-20" dirty="0">
                <a:solidFill>
                  <a:srgbClr val="FFFFFF"/>
                </a:solidFill>
                <a:latin typeface="Montserrat"/>
                <a:ea typeface="Montserrat"/>
                <a:cs typeface="Montserrat"/>
                <a:sym typeface="Montserrat"/>
              </a:rPr>
              <a:t>Explain container technology and its core concepts</a:t>
            </a:r>
          </a:p>
          <a:p>
            <a:pPr marL="0" lvl="0" indent="0" algn="l">
              <a:lnSpc>
                <a:spcPts val="2856"/>
              </a:lnSpc>
            </a:pPr>
            <a:r>
              <a:rPr lang="en-US" sz="2040" spc="-20" dirty="0">
                <a:solidFill>
                  <a:srgbClr val="FFFFFF"/>
                </a:solidFill>
                <a:latin typeface="Montserrat"/>
                <a:ea typeface="Montserrat"/>
                <a:cs typeface="Montserrat"/>
                <a:sym typeface="Montserrat"/>
              </a:rPr>
              <a:t>Differentiate between virtual machines and containers</a:t>
            </a:r>
          </a:p>
          <a:p>
            <a:pPr marL="0" lvl="0" indent="0" algn="l">
              <a:lnSpc>
                <a:spcPts val="2856"/>
              </a:lnSpc>
            </a:pPr>
            <a:r>
              <a:rPr lang="en-US" sz="2040" spc="-20" dirty="0">
                <a:solidFill>
                  <a:srgbClr val="FFFFFF"/>
                </a:solidFill>
                <a:latin typeface="Montserrat"/>
                <a:ea typeface="Montserrat"/>
                <a:cs typeface="Montserrat"/>
                <a:sym typeface="Montserrat"/>
              </a:rPr>
              <a:t>Describe Docker architecture, images, containers, and registries</a:t>
            </a:r>
          </a:p>
          <a:p>
            <a:pPr marL="0" lvl="0" indent="0" algn="l">
              <a:lnSpc>
                <a:spcPts val="2856"/>
              </a:lnSpc>
            </a:pPr>
            <a:r>
              <a:rPr lang="en-US" sz="2040" spc="-20" dirty="0">
                <a:solidFill>
                  <a:srgbClr val="FFFFFF"/>
                </a:solidFill>
                <a:latin typeface="Montserrat"/>
                <a:ea typeface="Montserrat"/>
                <a:cs typeface="Montserrat"/>
                <a:sym typeface="Montserrat"/>
              </a:rPr>
              <a:t>Understand Kubernetes architecture and container orchestration</a:t>
            </a:r>
          </a:p>
          <a:p>
            <a:pPr marL="0" lvl="0" indent="0" algn="l">
              <a:lnSpc>
                <a:spcPts val="2856"/>
              </a:lnSpc>
            </a:pPr>
            <a:r>
              <a:rPr lang="en-US" sz="2040" spc="-20" dirty="0">
                <a:solidFill>
                  <a:srgbClr val="FFFFFF"/>
                </a:solidFill>
                <a:latin typeface="Montserrat"/>
                <a:ea typeface="Montserrat"/>
                <a:cs typeface="Montserrat"/>
                <a:sym typeface="Montserrat"/>
              </a:rPr>
              <a:t>Explain orchestration's role in scalable cloud services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4181">
                <a:alpha val="100000"/>
              </a:srgbClr>
            </a:gs>
            <a:gs pos="100000">
              <a:srgbClr val="0A254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028700" y="3926038"/>
            <a:ext cx="16230600" cy="4974747"/>
            <a:chOff x="0" y="0"/>
            <a:chExt cx="4767256" cy="1461184"/>
          </a:xfrm>
        </p:grpSpPr>
        <p:sp>
          <p:nvSpPr>
            <p:cNvPr id="3" name="Freeform 3"/>
            <p:cNvSpPr/>
            <p:nvPr/>
          </p:nvSpPr>
          <p:spPr>
            <a:xfrm>
              <a:off x="0" y="0"/>
              <a:ext cx="4767256" cy="1461184"/>
            </a:xfrm>
            <a:custGeom>
              <a:avLst/>
              <a:gdLst/>
              <a:ahLst/>
              <a:cxnLst/>
              <a:rect l="l" t="t" r="r" b="b"/>
              <a:pathLst>
                <a:path w="4767256" h="1461184">
                  <a:moveTo>
                    <a:pt x="0" y="0"/>
                  </a:moveTo>
                  <a:lnTo>
                    <a:pt x="4767256" y="0"/>
                  </a:lnTo>
                  <a:lnTo>
                    <a:pt x="4767256" y="1461184"/>
                  </a:lnTo>
                  <a:lnTo>
                    <a:pt x="0" y="1461184"/>
                  </a:lnTo>
                  <a:close/>
                </a:path>
              </a:pathLst>
            </a:custGeom>
            <a:gradFill rotWithShape="1">
              <a:gsLst>
                <a:gs pos="0">
                  <a:srgbClr val="004181">
                    <a:alpha val="0"/>
                  </a:srgbClr>
                </a:gs>
                <a:gs pos="100000">
                  <a:srgbClr val="004181">
                    <a:alpha val="100000"/>
                  </a:srgbClr>
                </a:gs>
              </a:gsLst>
              <a:lin ang="5400000"/>
            </a:gradFill>
          </p:spPr>
        </p:sp>
        <p:sp>
          <p:nvSpPr>
            <p:cNvPr id="4" name="TextBox 4"/>
            <p:cNvSpPr txBox="1"/>
            <p:nvPr/>
          </p:nvSpPr>
          <p:spPr>
            <a:xfrm>
              <a:off x="0" y="-38100"/>
              <a:ext cx="4767256" cy="149928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2087109" y="1876038"/>
            <a:ext cx="4696708" cy="2976539"/>
          </a:xfrm>
          <a:custGeom>
            <a:avLst/>
            <a:gdLst/>
            <a:ahLst/>
            <a:cxnLst/>
            <a:rect l="l" t="t" r="r" b="b"/>
            <a:pathLst>
              <a:path w="4696708" h="2976539">
                <a:moveTo>
                  <a:pt x="0" y="0"/>
                </a:moveTo>
                <a:lnTo>
                  <a:pt x="4696708" y="0"/>
                </a:lnTo>
                <a:lnTo>
                  <a:pt x="4696708" y="2976539"/>
                </a:lnTo>
                <a:lnTo>
                  <a:pt x="0" y="2976539"/>
                </a:lnTo>
                <a:lnTo>
                  <a:pt x="0" y="0"/>
                </a:lnTo>
                <a:close/>
              </a:path>
            </a:pathLst>
          </a:custGeom>
          <a:blipFill>
            <a:blip r:embed="rId2"/>
            <a:stretch>
              <a:fillRect/>
            </a:stretch>
          </a:blipFill>
        </p:spPr>
      </p:sp>
      <p:sp>
        <p:nvSpPr>
          <p:cNvPr id="6" name="TextBox 6"/>
          <p:cNvSpPr txBox="1"/>
          <p:nvPr/>
        </p:nvSpPr>
        <p:spPr>
          <a:xfrm>
            <a:off x="7682784" y="2088355"/>
            <a:ext cx="8211554" cy="1562767"/>
          </a:xfrm>
          <a:prstGeom prst="rect">
            <a:avLst/>
          </a:prstGeom>
        </p:spPr>
        <p:txBody>
          <a:bodyPr lIns="0" tIns="0" rIns="0" bIns="0" rtlCol="0" anchor="t">
            <a:spAutoFit/>
          </a:bodyPr>
          <a:lstStyle/>
          <a:p>
            <a:pPr marL="0" lvl="0" indent="0" algn="l">
              <a:lnSpc>
                <a:spcPts val="6026"/>
              </a:lnSpc>
            </a:pPr>
            <a:r>
              <a:rPr lang="en-US" sz="6026" b="1" spc="-482">
                <a:solidFill>
                  <a:srgbClr val="FFFFFF"/>
                </a:solidFill>
                <a:latin typeface="Montserrat Medium"/>
                <a:ea typeface="Montserrat Medium"/>
                <a:cs typeface="Montserrat Medium"/>
                <a:sym typeface="Montserrat Medium"/>
              </a:rPr>
              <a:t>Service-Oriented Deployment Challenges</a:t>
            </a:r>
          </a:p>
        </p:txBody>
      </p:sp>
      <p:grpSp>
        <p:nvGrpSpPr>
          <p:cNvPr id="7" name="Group 7"/>
          <p:cNvGrpSpPr/>
          <p:nvPr/>
        </p:nvGrpSpPr>
        <p:grpSpPr>
          <a:xfrm>
            <a:off x="1864676" y="6149534"/>
            <a:ext cx="4161264" cy="1600690"/>
            <a:chOff x="0" y="0"/>
            <a:chExt cx="5548351" cy="2134254"/>
          </a:xfrm>
        </p:grpSpPr>
        <p:sp>
          <p:nvSpPr>
            <p:cNvPr id="8" name="TextBox 8"/>
            <p:cNvSpPr txBox="1"/>
            <p:nvPr/>
          </p:nvSpPr>
          <p:spPr>
            <a:xfrm>
              <a:off x="0" y="588412"/>
              <a:ext cx="5268634" cy="1545842"/>
            </a:xfrm>
            <a:prstGeom prst="rect">
              <a:avLst/>
            </a:prstGeom>
          </p:spPr>
          <p:txBody>
            <a:bodyPr lIns="0" tIns="0" rIns="0" bIns="0" rtlCol="0" anchor="t">
              <a:spAutoFit/>
            </a:bodyPr>
            <a:lstStyle/>
            <a:p>
              <a:pPr marL="0" lvl="0" indent="0" algn="l">
                <a:lnSpc>
                  <a:spcPts val="2378"/>
                </a:lnSpc>
              </a:pPr>
              <a:r>
                <a:rPr lang="en-US" sz="1698" spc="-16">
                  <a:solidFill>
                    <a:srgbClr val="FFFFFF"/>
                  </a:solidFill>
                  <a:latin typeface="Montserrat Extra-Light"/>
                  <a:ea typeface="Montserrat Extra-Light"/>
                  <a:cs typeface="Montserrat Extra-Light"/>
                  <a:sym typeface="Montserrat Extra-Light"/>
                </a:rPr>
                <a:t>Multiple independent services require different library versions, causing conflicts and breaking builds when deployed on shared environments.</a:t>
              </a:r>
            </a:p>
          </p:txBody>
        </p:sp>
        <p:sp>
          <p:nvSpPr>
            <p:cNvPr id="9" name="TextBox 9"/>
            <p:cNvSpPr txBox="1"/>
            <p:nvPr/>
          </p:nvSpPr>
          <p:spPr>
            <a:xfrm>
              <a:off x="0" y="9525"/>
              <a:ext cx="5548351" cy="384175"/>
            </a:xfrm>
            <a:prstGeom prst="rect">
              <a:avLst/>
            </a:prstGeom>
          </p:spPr>
          <p:txBody>
            <a:bodyPr lIns="0" tIns="0" rIns="0" bIns="0" rtlCol="0" anchor="t">
              <a:spAutoFit/>
            </a:bodyPr>
            <a:lstStyle/>
            <a:p>
              <a:pPr marL="0" lvl="0" indent="0" algn="l">
                <a:lnSpc>
                  <a:spcPts val="2398"/>
                </a:lnSpc>
              </a:pPr>
              <a:r>
                <a:rPr lang="en-US" sz="1998" b="1" spc="-19">
                  <a:solidFill>
                    <a:srgbClr val="FFFFFF"/>
                  </a:solidFill>
                  <a:latin typeface="Montserrat Medium"/>
                  <a:ea typeface="Montserrat Medium"/>
                  <a:cs typeface="Montserrat Medium"/>
                  <a:sym typeface="Montserrat Medium"/>
                </a:rPr>
                <a:t>Dependency Conflicts</a:t>
              </a:r>
            </a:p>
          </p:txBody>
        </p:sp>
      </p:grpSp>
      <p:grpSp>
        <p:nvGrpSpPr>
          <p:cNvPr id="10" name="Group 10"/>
          <p:cNvGrpSpPr/>
          <p:nvPr/>
        </p:nvGrpSpPr>
        <p:grpSpPr>
          <a:xfrm>
            <a:off x="7319662" y="6149534"/>
            <a:ext cx="3939913" cy="1600690"/>
            <a:chOff x="0" y="0"/>
            <a:chExt cx="5253217" cy="2134254"/>
          </a:xfrm>
        </p:grpSpPr>
        <p:sp>
          <p:nvSpPr>
            <p:cNvPr id="11" name="TextBox 11"/>
            <p:cNvSpPr txBox="1"/>
            <p:nvPr/>
          </p:nvSpPr>
          <p:spPr>
            <a:xfrm>
              <a:off x="0" y="588412"/>
              <a:ext cx="5253217" cy="1545842"/>
            </a:xfrm>
            <a:prstGeom prst="rect">
              <a:avLst/>
            </a:prstGeom>
          </p:spPr>
          <p:txBody>
            <a:bodyPr lIns="0" tIns="0" rIns="0" bIns="0" rtlCol="0" anchor="t">
              <a:spAutoFit/>
            </a:bodyPr>
            <a:lstStyle/>
            <a:p>
              <a:pPr marL="0" lvl="0" indent="0" algn="l">
                <a:lnSpc>
                  <a:spcPts val="2378"/>
                </a:lnSpc>
              </a:pPr>
              <a:r>
                <a:rPr lang="en-US" sz="1698" spc="-16">
                  <a:solidFill>
                    <a:srgbClr val="FFFFFF"/>
                  </a:solidFill>
                  <a:latin typeface="Montserrat Extra-Light"/>
                  <a:ea typeface="Montserrat Extra-Light"/>
                  <a:cs typeface="Montserrat Extra-Light"/>
                  <a:sym typeface="Montserrat Extra-Light"/>
                </a:rPr>
                <a:t>Applications behave differently across development, testing, and production environments, making it difficult to reproduce and resolve bugs.</a:t>
              </a:r>
            </a:p>
          </p:txBody>
        </p:sp>
        <p:sp>
          <p:nvSpPr>
            <p:cNvPr id="12" name="TextBox 12"/>
            <p:cNvSpPr txBox="1"/>
            <p:nvPr/>
          </p:nvSpPr>
          <p:spPr>
            <a:xfrm>
              <a:off x="0" y="9525"/>
              <a:ext cx="4700411" cy="384175"/>
            </a:xfrm>
            <a:prstGeom prst="rect">
              <a:avLst/>
            </a:prstGeom>
          </p:spPr>
          <p:txBody>
            <a:bodyPr lIns="0" tIns="0" rIns="0" bIns="0" rtlCol="0" anchor="t">
              <a:spAutoFit/>
            </a:bodyPr>
            <a:lstStyle/>
            <a:p>
              <a:pPr marL="0" lvl="0" indent="0" algn="l">
                <a:lnSpc>
                  <a:spcPts val="2398"/>
                </a:lnSpc>
              </a:pPr>
              <a:r>
                <a:rPr lang="en-US" sz="1998" b="1" spc="-19">
                  <a:solidFill>
                    <a:srgbClr val="FFFFFF"/>
                  </a:solidFill>
                  <a:latin typeface="Montserrat Medium"/>
                  <a:ea typeface="Montserrat Medium"/>
                  <a:cs typeface="Montserrat Medium"/>
                  <a:sym typeface="Montserrat Medium"/>
                </a:rPr>
                <a:t>Environment Inconsistency</a:t>
              </a:r>
            </a:p>
          </p:txBody>
        </p:sp>
      </p:grpSp>
      <p:grpSp>
        <p:nvGrpSpPr>
          <p:cNvPr id="13" name="Group 13"/>
          <p:cNvGrpSpPr/>
          <p:nvPr/>
        </p:nvGrpSpPr>
        <p:grpSpPr>
          <a:xfrm>
            <a:off x="12553297" y="6149534"/>
            <a:ext cx="3939913" cy="1895965"/>
            <a:chOff x="0" y="0"/>
            <a:chExt cx="5253217" cy="2527954"/>
          </a:xfrm>
        </p:grpSpPr>
        <p:sp>
          <p:nvSpPr>
            <p:cNvPr id="14" name="TextBox 14"/>
            <p:cNvSpPr txBox="1"/>
            <p:nvPr/>
          </p:nvSpPr>
          <p:spPr>
            <a:xfrm>
              <a:off x="0" y="588412"/>
              <a:ext cx="5253217" cy="1939542"/>
            </a:xfrm>
            <a:prstGeom prst="rect">
              <a:avLst/>
            </a:prstGeom>
          </p:spPr>
          <p:txBody>
            <a:bodyPr lIns="0" tIns="0" rIns="0" bIns="0" rtlCol="0" anchor="t">
              <a:spAutoFit/>
            </a:bodyPr>
            <a:lstStyle/>
            <a:p>
              <a:pPr marL="0" lvl="0" indent="0" algn="l">
                <a:lnSpc>
                  <a:spcPts val="2378"/>
                </a:lnSpc>
              </a:pPr>
              <a:r>
                <a:rPr lang="en-US" sz="1698" spc="-16">
                  <a:solidFill>
                    <a:srgbClr val="FFFFFF"/>
                  </a:solidFill>
                  <a:latin typeface="Montserrat Extra-Light"/>
                  <a:ea typeface="Montserrat Extra-Light"/>
                  <a:cs typeface="Montserrat Extra-Light"/>
                  <a:sym typeface="Montserrat Extra-Light"/>
                </a:rPr>
                <a:t>Scaling individual services is complex and costly. High maintenance overhead arises from managing multiple runtimes, configurations, and deployment pipelines.</a:t>
              </a:r>
            </a:p>
          </p:txBody>
        </p:sp>
        <p:sp>
          <p:nvSpPr>
            <p:cNvPr id="15" name="TextBox 15"/>
            <p:cNvSpPr txBox="1"/>
            <p:nvPr/>
          </p:nvSpPr>
          <p:spPr>
            <a:xfrm>
              <a:off x="0" y="9525"/>
              <a:ext cx="4700411" cy="384175"/>
            </a:xfrm>
            <a:prstGeom prst="rect">
              <a:avLst/>
            </a:prstGeom>
          </p:spPr>
          <p:txBody>
            <a:bodyPr lIns="0" tIns="0" rIns="0" bIns="0" rtlCol="0" anchor="t">
              <a:spAutoFit/>
            </a:bodyPr>
            <a:lstStyle/>
            <a:p>
              <a:pPr marL="0" lvl="0" indent="0" algn="l">
                <a:lnSpc>
                  <a:spcPts val="2398"/>
                </a:lnSpc>
              </a:pPr>
              <a:r>
                <a:rPr lang="en-US" sz="1998" b="1" spc="-19">
                  <a:solidFill>
                    <a:srgbClr val="FFFFFF"/>
                  </a:solidFill>
                  <a:latin typeface="Montserrat Medium"/>
                  <a:ea typeface="Montserrat Medium"/>
                  <a:cs typeface="Montserrat Medium"/>
                  <a:sym typeface="Montserrat Medium"/>
                </a:rPr>
                <a:t>Scaling &amp; Maintenance Cost</a:t>
              </a:r>
            </a:p>
          </p:txBody>
        </p:sp>
      </p:grpSp>
      <p:grpSp>
        <p:nvGrpSpPr>
          <p:cNvPr id="16" name="Group 16"/>
          <p:cNvGrpSpPr/>
          <p:nvPr/>
        </p:nvGrpSpPr>
        <p:grpSpPr>
          <a:xfrm>
            <a:off x="-425100" y="7079291"/>
            <a:ext cx="850199" cy="1072772"/>
            <a:chOff x="0" y="0"/>
            <a:chExt cx="249721" cy="315095"/>
          </a:xfrm>
        </p:grpSpPr>
        <p:sp>
          <p:nvSpPr>
            <p:cNvPr id="17" name="Freeform 17"/>
            <p:cNvSpPr/>
            <p:nvPr/>
          </p:nvSpPr>
          <p:spPr>
            <a:xfrm>
              <a:off x="0" y="0"/>
              <a:ext cx="249721" cy="315095"/>
            </a:xfrm>
            <a:custGeom>
              <a:avLst/>
              <a:gdLst/>
              <a:ahLst/>
              <a:cxnLst/>
              <a:rect l="l" t="t" r="r" b="b"/>
              <a:pathLst>
                <a:path w="249721" h="315095">
                  <a:moveTo>
                    <a:pt x="0" y="0"/>
                  </a:moveTo>
                  <a:lnTo>
                    <a:pt x="249721" y="0"/>
                  </a:lnTo>
                  <a:lnTo>
                    <a:pt x="249721" y="315095"/>
                  </a:lnTo>
                  <a:lnTo>
                    <a:pt x="0" y="315095"/>
                  </a:lnTo>
                  <a:close/>
                </a:path>
              </a:pathLst>
            </a:custGeom>
            <a:solidFill>
              <a:srgbClr val="CAF0F8"/>
            </a:solidFill>
          </p:spPr>
        </p:sp>
        <p:sp>
          <p:nvSpPr>
            <p:cNvPr id="18" name="TextBox 18"/>
            <p:cNvSpPr txBox="1"/>
            <p:nvPr/>
          </p:nvSpPr>
          <p:spPr>
            <a:xfrm>
              <a:off x="0" y="-38100"/>
              <a:ext cx="249721" cy="353195"/>
            </a:xfrm>
            <a:prstGeom prst="rect">
              <a:avLst/>
            </a:prstGeom>
          </p:spPr>
          <p:txBody>
            <a:bodyPr lIns="50800" tIns="50800" rIns="50800" bIns="50800" rtlCol="0" anchor="ctr"/>
            <a:lstStyle/>
            <a:p>
              <a:pPr marL="0" lvl="0" indent="0" algn="ctr">
                <a:lnSpc>
                  <a:spcPts val="2659"/>
                </a:lnSpc>
                <a:spcBef>
                  <a:spcPct val="0"/>
                </a:spcBef>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4181">
                <a:alpha val="100000"/>
              </a:srgbClr>
            </a:gs>
            <a:gs pos="100000">
              <a:srgbClr val="0A2540">
                <a:alpha val="100000"/>
              </a:srgbClr>
            </a:gs>
          </a:gsLst>
          <a:path path="circle">
            <a:fillToRect l="50000" t="50000" r="50000" b="50000"/>
          </a:path>
        </a:gradFill>
        <a:effectLst/>
      </p:bgPr>
    </p:bg>
    <p:spTree>
      <p:nvGrpSpPr>
        <p:cNvPr id="1" name=""/>
        <p:cNvGrpSpPr/>
        <p:nvPr/>
      </p:nvGrpSpPr>
      <p:grpSpPr>
        <a:xfrm>
          <a:off x="0" y="0"/>
          <a:ext cx="0" cy="0"/>
          <a:chOff x="0" y="0"/>
          <a:chExt cx="0" cy="0"/>
        </a:xfrm>
      </p:grpSpPr>
      <p:grpSp>
        <p:nvGrpSpPr>
          <p:cNvPr id="2" name="Group 2"/>
          <p:cNvGrpSpPr/>
          <p:nvPr/>
        </p:nvGrpSpPr>
        <p:grpSpPr>
          <a:xfrm>
            <a:off x="4648412" y="5926466"/>
            <a:ext cx="432498" cy="264799"/>
            <a:chOff x="0" y="0"/>
            <a:chExt cx="576664" cy="353065"/>
          </a:xfrm>
        </p:grpSpPr>
        <p:grpSp>
          <p:nvGrpSpPr>
            <p:cNvPr id="3" name="Group 3"/>
            <p:cNvGrpSpPr/>
            <p:nvPr/>
          </p:nvGrpSpPr>
          <p:grpSpPr>
            <a:xfrm>
              <a:off x="0" y="0"/>
              <a:ext cx="576664" cy="353065"/>
              <a:chOff x="0" y="0"/>
              <a:chExt cx="127033" cy="77777"/>
            </a:xfrm>
          </p:grpSpPr>
          <p:sp>
            <p:nvSpPr>
              <p:cNvPr id="4" name="Freeform 4"/>
              <p:cNvSpPr/>
              <p:nvPr/>
            </p:nvSpPr>
            <p:spPr>
              <a:xfrm>
                <a:off x="0" y="0"/>
                <a:ext cx="127034" cy="77777"/>
              </a:xfrm>
              <a:custGeom>
                <a:avLst/>
                <a:gdLst/>
                <a:ahLst/>
                <a:cxnLst/>
                <a:rect l="l" t="t" r="r" b="b"/>
                <a:pathLst>
                  <a:path w="127034" h="77777">
                    <a:moveTo>
                      <a:pt x="0" y="0"/>
                    </a:moveTo>
                    <a:lnTo>
                      <a:pt x="127034" y="0"/>
                    </a:lnTo>
                    <a:lnTo>
                      <a:pt x="127034" y="77777"/>
                    </a:lnTo>
                    <a:lnTo>
                      <a:pt x="0" y="77777"/>
                    </a:lnTo>
                    <a:close/>
                  </a:path>
                </a:pathLst>
              </a:custGeom>
              <a:solidFill>
                <a:srgbClr val="CAF0F8"/>
              </a:solidFill>
            </p:spPr>
          </p:sp>
          <p:sp>
            <p:nvSpPr>
              <p:cNvPr id="5" name="TextBox 5"/>
              <p:cNvSpPr txBox="1"/>
              <p:nvPr/>
            </p:nvSpPr>
            <p:spPr>
              <a:xfrm>
                <a:off x="0" y="-38100"/>
                <a:ext cx="127033" cy="11587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58306" y="73662"/>
              <a:ext cx="460052" cy="224790"/>
            </a:xfrm>
            <a:prstGeom prst="rect">
              <a:avLst/>
            </a:prstGeom>
          </p:spPr>
          <p:txBody>
            <a:bodyPr lIns="0" tIns="0" rIns="0" bIns="0" rtlCol="0" anchor="t">
              <a:spAutoFit/>
            </a:bodyPr>
            <a:lstStyle/>
            <a:p>
              <a:pPr marL="0" lvl="0" indent="0" algn="ctr">
                <a:lnSpc>
                  <a:spcPts val="1200"/>
                </a:lnSpc>
              </a:pPr>
              <a:r>
                <a:rPr lang="en-US" sz="1200" b="1" spc="-96">
                  <a:solidFill>
                    <a:srgbClr val="000000"/>
                  </a:solidFill>
                  <a:latin typeface="Montserrat Semi-Bold"/>
                  <a:ea typeface="Montserrat Semi-Bold"/>
                  <a:cs typeface="Montserrat Semi-Bold"/>
                  <a:sym typeface="Montserrat Semi-Bold"/>
                </a:rPr>
                <a:t>01</a:t>
              </a:r>
            </a:p>
          </p:txBody>
        </p:sp>
      </p:grpSp>
      <p:grpSp>
        <p:nvGrpSpPr>
          <p:cNvPr id="7" name="Group 7"/>
          <p:cNvGrpSpPr/>
          <p:nvPr/>
        </p:nvGrpSpPr>
        <p:grpSpPr>
          <a:xfrm>
            <a:off x="4648412" y="7638019"/>
            <a:ext cx="432498" cy="264799"/>
            <a:chOff x="0" y="0"/>
            <a:chExt cx="576664" cy="353065"/>
          </a:xfrm>
        </p:grpSpPr>
        <p:grpSp>
          <p:nvGrpSpPr>
            <p:cNvPr id="8" name="Group 8"/>
            <p:cNvGrpSpPr/>
            <p:nvPr/>
          </p:nvGrpSpPr>
          <p:grpSpPr>
            <a:xfrm>
              <a:off x="0" y="0"/>
              <a:ext cx="576664" cy="353065"/>
              <a:chOff x="0" y="0"/>
              <a:chExt cx="127033" cy="77777"/>
            </a:xfrm>
          </p:grpSpPr>
          <p:sp>
            <p:nvSpPr>
              <p:cNvPr id="9" name="Freeform 9"/>
              <p:cNvSpPr/>
              <p:nvPr/>
            </p:nvSpPr>
            <p:spPr>
              <a:xfrm>
                <a:off x="0" y="0"/>
                <a:ext cx="127034" cy="77777"/>
              </a:xfrm>
              <a:custGeom>
                <a:avLst/>
                <a:gdLst/>
                <a:ahLst/>
                <a:cxnLst/>
                <a:rect l="l" t="t" r="r" b="b"/>
                <a:pathLst>
                  <a:path w="127034" h="77777">
                    <a:moveTo>
                      <a:pt x="0" y="0"/>
                    </a:moveTo>
                    <a:lnTo>
                      <a:pt x="127034" y="0"/>
                    </a:lnTo>
                    <a:lnTo>
                      <a:pt x="127034" y="77777"/>
                    </a:lnTo>
                    <a:lnTo>
                      <a:pt x="0" y="77777"/>
                    </a:lnTo>
                    <a:close/>
                  </a:path>
                </a:pathLst>
              </a:custGeom>
              <a:solidFill>
                <a:srgbClr val="4EA8DE"/>
              </a:solidFill>
            </p:spPr>
          </p:sp>
          <p:sp>
            <p:nvSpPr>
              <p:cNvPr id="10" name="TextBox 10"/>
              <p:cNvSpPr txBox="1"/>
              <p:nvPr/>
            </p:nvSpPr>
            <p:spPr>
              <a:xfrm>
                <a:off x="0" y="-38100"/>
                <a:ext cx="127033" cy="11587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1" name="TextBox 11"/>
            <p:cNvSpPr txBox="1"/>
            <p:nvPr/>
          </p:nvSpPr>
          <p:spPr>
            <a:xfrm>
              <a:off x="58306" y="73662"/>
              <a:ext cx="460052" cy="224790"/>
            </a:xfrm>
            <a:prstGeom prst="rect">
              <a:avLst/>
            </a:prstGeom>
          </p:spPr>
          <p:txBody>
            <a:bodyPr lIns="0" tIns="0" rIns="0" bIns="0" rtlCol="0" anchor="t">
              <a:spAutoFit/>
            </a:bodyPr>
            <a:lstStyle/>
            <a:p>
              <a:pPr marL="0" lvl="0" indent="0" algn="ctr">
                <a:lnSpc>
                  <a:spcPts val="1200"/>
                </a:lnSpc>
              </a:pPr>
              <a:r>
                <a:rPr lang="en-US" sz="1200" b="1" spc="-96">
                  <a:solidFill>
                    <a:srgbClr val="000000"/>
                  </a:solidFill>
                  <a:latin typeface="Montserrat Semi-Bold"/>
                  <a:ea typeface="Montserrat Semi-Bold"/>
                  <a:cs typeface="Montserrat Semi-Bold"/>
                  <a:sym typeface="Montserrat Semi-Bold"/>
                </a:rPr>
                <a:t>02</a:t>
              </a:r>
            </a:p>
          </p:txBody>
        </p:sp>
      </p:grpSp>
      <p:grpSp>
        <p:nvGrpSpPr>
          <p:cNvPr id="12" name="Group 12"/>
          <p:cNvGrpSpPr/>
          <p:nvPr/>
        </p:nvGrpSpPr>
        <p:grpSpPr>
          <a:xfrm>
            <a:off x="11116118" y="5926466"/>
            <a:ext cx="432498" cy="264799"/>
            <a:chOff x="0" y="0"/>
            <a:chExt cx="576664" cy="353065"/>
          </a:xfrm>
        </p:grpSpPr>
        <p:grpSp>
          <p:nvGrpSpPr>
            <p:cNvPr id="13" name="Group 13"/>
            <p:cNvGrpSpPr/>
            <p:nvPr/>
          </p:nvGrpSpPr>
          <p:grpSpPr>
            <a:xfrm>
              <a:off x="0" y="0"/>
              <a:ext cx="576664" cy="353065"/>
              <a:chOff x="0" y="0"/>
              <a:chExt cx="127033" cy="77777"/>
            </a:xfrm>
          </p:grpSpPr>
          <p:sp>
            <p:nvSpPr>
              <p:cNvPr id="14" name="Freeform 14"/>
              <p:cNvSpPr/>
              <p:nvPr/>
            </p:nvSpPr>
            <p:spPr>
              <a:xfrm>
                <a:off x="0" y="0"/>
                <a:ext cx="127034" cy="77777"/>
              </a:xfrm>
              <a:custGeom>
                <a:avLst/>
                <a:gdLst/>
                <a:ahLst/>
                <a:cxnLst/>
                <a:rect l="l" t="t" r="r" b="b"/>
                <a:pathLst>
                  <a:path w="127034" h="77777">
                    <a:moveTo>
                      <a:pt x="0" y="0"/>
                    </a:moveTo>
                    <a:lnTo>
                      <a:pt x="127034" y="0"/>
                    </a:lnTo>
                    <a:lnTo>
                      <a:pt x="127034" y="77777"/>
                    </a:lnTo>
                    <a:lnTo>
                      <a:pt x="0" y="77777"/>
                    </a:lnTo>
                    <a:close/>
                  </a:path>
                </a:pathLst>
              </a:custGeom>
              <a:solidFill>
                <a:srgbClr val="4EA8DE"/>
              </a:solidFill>
            </p:spPr>
          </p:sp>
          <p:sp>
            <p:nvSpPr>
              <p:cNvPr id="15" name="TextBox 15"/>
              <p:cNvSpPr txBox="1"/>
              <p:nvPr/>
            </p:nvSpPr>
            <p:spPr>
              <a:xfrm>
                <a:off x="0" y="-38100"/>
                <a:ext cx="127033" cy="11587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6" name="TextBox 16"/>
            <p:cNvSpPr txBox="1"/>
            <p:nvPr/>
          </p:nvSpPr>
          <p:spPr>
            <a:xfrm>
              <a:off x="58306" y="73662"/>
              <a:ext cx="460052" cy="224790"/>
            </a:xfrm>
            <a:prstGeom prst="rect">
              <a:avLst/>
            </a:prstGeom>
          </p:spPr>
          <p:txBody>
            <a:bodyPr lIns="0" tIns="0" rIns="0" bIns="0" rtlCol="0" anchor="t">
              <a:spAutoFit/>
            </a:bodyPr>
            <a:lstStyle/>
            <a:p>
              <a:pPr marL="0" lvl="0" indent="0" algn="ctr">
                <a:lnSpc>
                  <a:spcPts val="1200"/>
                </a:lnSpc>
              </a:pPr>
              <a:r>
                <a:rPr lang="en-US" sz="1200" b="1" spc="-96">
                  <a:solidFill>
                    <a:srgbClr val="000000"/>
                  </a:solidFill>
                  <a:latin typeface="Montserrat Semi-Bold"/>
                  <a:ea typeface="Montserrat Semi-Bold"/>
                  <a:cs typeface="Montserrat Semi-Bold"/>
                  <a:sym typeface="Montserrat Semi-Bold"/>
                </a:rPr>
                <a:t>03</a:t>
              </a:r>
            </a:p>
          </p:txBody>
        </p:sp>
      </p:grpSp>
      <p:grpSp>
        <p:nvGrpSpPr>
          <p:cNvPr id="17" name="Group 17"/>
          <p:cNvGrpSpPr/>
          <p:nvPr/>
        </p:nvGrpSpPr>
        <p:grpSpPr>
          <a:xfrm>
            <a:off x="11116118" y="7638019"/>
            <a:ext cx="432498" cy="264799"/>
            <a:chOff x="0" y="0"/>
            <a:chExt cx="576664" cy="353065"/>
          </a:xfrm>
        </p:grpSpPr>
        <p:grpSp>
          <p:nvGrpSpPr>
            <p:cNvPr id="18" name="Group 18"/>
            <p:cNvGrpSpPr/>
            <p:nvPr/>
          </p:nvGrpSpPr>
          <p:grpSpPr>
            <a:xfrm>
              <a:off x="0" y="0"/>
              <a:ext cx="576664" cy="353065"/>
              <a:chOff x="0" y="0"/>
              <a:chExt cx="127033" cy="77777"/>
            </a:xfrm>
          </p:grpSpPr>
          <p:sp>
            <p:nvSpPr>
              <p:cNvPr id="19" name="Freeform 19"/>
              <p:cNvSpPr/>
              <p:nvPr/>
            </p:nvSpPr>
            <p:spPr>
              <a:xfrm>
                <a:off x="0" y="0"/>
                <a:ext cx="127034" cy="77777"/>
              </a:xfrm>
              <a:custGeom>
                <a:avLst/>
                <a:gdLst/>
                <a:ahLst/>
                <a:cxnLst/>
                <a:rect l="l" t="t" r="r" b="b"/>
                <a:pathLst>
                  <a:path w="127034" h="77777">
                    <a:moveTo>
                      <a:pt x="0" y="0"/>
                    </a:moveTo>
                    <a:lnTo>
                      <a:pt x="127034" y="0"/>
                    </a:lnTo>
                    <a:lnTo>
                      <a:pt x="127034" y="77777"/>
                    </a:lnTo>
                    <a:lnTo>
                      <a:pt x="0" y="77777"/>
                    </a:lnTo>
                    <a:close/>
                  </a:path>
                </a:pathLst>
              </a:custGeom>
              <a:solidFill>
                <a:srgbClr val="CAF0F8"/>
              </a:solidFill>
            </p:spPr>
          </p:sp>
          <p:sp>
            <p:nvSpPr>
              <p:cNvPr id="20" name="TextBox 20"/>
              <p:cNvSpPr txBox="1"/>
              <p:nvPr/>
            </p:nvSpPr>
            <p:spPr>
              <a:xfrm>
                <a:off x="0" y="-38100"/>
                <a:ext cx="127033" cy="11587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1" name="TextBox 21"/>
            <p:cNvSpPr txBox="1"/>
            <p:nvPr/>
          </p:nvSpPr>
          <p:spPr>
            <a:xfrm>
              <a:off x="58306" y="73662"/>
              <a:ext cx="460052" cy="224790"/>
            </a:xfrm>
            <a:prstGeom prst="rect">
              <a:avLst/>
            </a:prstGeom>
          </p:spPr>
          <p:txBody>
            <a:bodyPr lIns="0" tIns="0" rIns="0" bIns="0" rtlCol="0" anchor="t">
              <a:spAutoFit/>
            </a:bodyPr>
            <a:lstStyle/>
            <a:p>
              <a:pPr marL="0" lvl="0" indent="0" algn="ctr">
                <a:lnSpc>
                  <a:spcPts val="1200"/>
                </a:lnSpc>
              </a:pPr>
              <a:r>
                <a:rPr lang="en-US" sz="1200" b="1" spc="-96">
                  <a:solidFill>
                    <a:srgbClr val="000000"/>
                  </a:solidFill>
                  <a:latin typeface="Montserrat Semi-Bold"/>
                  <a:ea typeface="Montserrat Semi-Bold"/>
                  <a:cs typeface="Montserrat Semi-Bold"/>
                  <a:sym typeface="Montserrat Semi-Bold"/>
                </a:rPr>
                <a:t>04</a:t>
              </a:r>
            </a:p>
          </p:txBody>
        </p:sp>
      </p:grpSp>
      <p:grpSp>
        <p:nvGrpSpPr>
          <p:cNvPr id="22" name="Group 22"/>
          <p:cNvGrpSpPr/>
          <p:nvPr/>
        </p:nvGrpSpPr>
        <p:grpSpPr>
          <a:xfrm>
            <a:off x="0" y="0"/>
            <a:ext cx="2202711" cy="10287000"/>
            <a:chOff x="0" y="0"/>
            <a:chExt cx="341258" cy="1593725"/>
          </a:xfrm>
        </p:grpSpPr>
        <p:sp>
          <p:nvSpPr>
            <p:cNvPr id="23" name="Freeform 23"/>
            <p:cNvSpPr/>
            <p:nvPr/>
          </p:nvSpPr>
          <p:spPr>
            <a:xfrm>
              <a:off x="0" y="0"/>
              <a:ext cx="341258" cy="1593725"/>
            </a:xfrm>
            <a:custGeom>
              <a:avLst/>
              <a:gdLst/>
              <a:ahLst/>
              <a:cxnLst/>
              <a:rect l="l" t="t" r="r" b="b"/>
              <a:pathLst>
                <a:path w="341258" h="1593725">
                  <a:moveTo>
                    <a:pt x="0" y="0"/>
                  </a:moveTo>
                  <a:lnTo>
                    <a:pt x="341258" y="0"/>
                  </a:lnTo>
                  <a:lnTo>
                    <a:pt x="341258" y="1593725"/>
                  </a:lnTo>
                  <a:lnTo>
                    <a:pt x="0" y="1593725"/>
                  </a:lnTo>
                  <a:close/>
                </a:path>
              </a:pathLst>
            </a:custGeom>
            <a:gradFill rotWithShape="1">
              <a:gsLst>
                <a:gs pos="0">
                  <a:srgbClr val="CAF0F8">
                    <a:alpha val="100000"/>
                  </a:srgbClr>
                </a:gs>
                <a:gs pos="100000">
                  <a:srgbClr val="004181">
                    <a:alpha val="100000"/>
                  </a:srgbClr>
                </a:gs>
              </a:gsLst>
              <a:lin ang="5400000"/>
            </a:gradFill>
          </p:spPr>
        </p:sp>
      </p:grpSp>
      <p:sp>
        <p:nvSpPr>
          <p:cNvPr id="24" name="TextBox 24"/>
          <p:cNvSpPr txBox="1"/>
          <p:nvPr/>
        </p:nvSpPr>
        <p:spPr>
          <a:xfrm>
            <a:off x="4648412" y="1509818"/>
            <a:ext cx="5639765" cy="1855470"/>
          </a:xfrm>
          <a:prstGeom prst="rect">
            <a:avLst/>
          </a:prstGeom>
        </p:spPr>
        <p:txBody>
          <a:bodyPr lIns="0" tIns="0" rIns="0" bIns="0" rtlCol="0" anchor="t">
            <a:spAutoFit/>
          </a:bodyPr>
          <a:lstStyle/>
          <a:p>
            <a:pPr marL="0" lvl="0" indent="0" algn="l">
              <a:lnSpc>
                <a:spcPts val="4800"/>
              </a:lnSpc>
            </a:pPr>
            <a:r>
              <a:rPr lang="en-US" sz="4800" b="1" spc="-384">
                <a:solidFill>
                  <a:srgbClr val="FFFFFF"/>
                </a:solidFill>
                <a:latin typeface="Montserrat Medium"/>
                <a:ea typeface="Montserrat Medium"/>
                <a:cs typeface="Montserrat Medium"/>
                <a:sym typeface="Montserrat Medium"/>
              </a:rPr>
              <a:t>Evolution of Application Deployment</a:t>
            </a:r>
          </a:p>
        </p:txBody>
      </p:sp>
      <p:sp>
        <p:nvSpPr>
          <p:cNvPr id="25" name="TextBox 25"/>
          <p:cNvSpPr txBox="1"/>
          <p:nvPr/>
        </p:nvSpPr>
        <p:spPr>
          <a:xfrm>
            <a:off x="5222522" y="6379607"/>
            <a:ext cx="4698823" cy="617220"/>
          </a:xfrm>
          <a:prstGeom prst="rect">
            <a:avLst/>
          </a:prstGeom>
        </p:spPr>
        <p:txBody>
          <a:bodyPr lIns="0" tIns="0" rIns="0" bIns="0" rtlCol="0" anchor="t">
            <a:spAutoFit/>
          </a:bodyPr>
          <a:lstStyle/>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Apps deployed directly on physical servers with fixed dependencies. Environment inconsistencies and high maintenance costs were common challenges.</a:t>
            </a:r>
          </a:p>
        </p:txBody>
      </p:sp>
      <p:sp>
        <p:nvSpPr>
          <p:cNvPr id="26" name="TextBox 26"/>
          <p:cNvSpPr txBox="1"/>
          <p:nvPr/>
        </p:nvSpPr>
        <p:spPr>
          <a:xfrm>
            <a:off x="5222522" y="8091160"/>
            <a:ext cx="4698823" cy="617220"/>
          </a:xfrm>
          <a:prstGeom prst="rect">
            <a:avLst/>
          </a:prstGeom>
        </p:spPr>
        <p:txBody>
          <a:bodyPr lIns="0" tIns="0" rIns="0" bIns="0" rtlCol="0" anchor="t">
            <a:spAutoFit/>
          </a:bodyPr>
          <a:lstStyle/>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Hypervisors enabled multiple OS instances on one host. Improved isolation and resource use, but VMs remained heavyweight with slow startup times.</a:t>
            </a:r>
          </a:p>
        </p:txBody>
      </p:sp>
      <p:sp>
        <p:nvSpPr>
          <p:cNvPr id="27" name="TextBox 27"/>
          <p:cNvSpPr txBox="1"/>
          <p:nvPr/>
        </p:nvSpPr>
        <p:spPr>
          <a:xfrm>
            <a:off x="11690228" y="6379607"/>
            <a:ext cx="4698823" cy="617220"/>
          </a:xfrm>
          <a:prstGeom prst="rect">
            <a:avLst/>
          </a:prstGeom>
        </p:spPr>
        <p:txBody>
          <a:bodyPr lIns="0" tIns="0" rIns="0" bIns="0" rtlCol="0" anchor="t">
            <a:spAutoFit/>
          </a:bodyPr>
          <a:lstStyle/>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Lightweight, portable units packaging app code with all dependencies. Consistent across environments, fast to start, and efficient in resource usage.</a:t>
            </a:r>
          </a:p>
        </p:txBody>
      </p:sp>
      <p:sp>
        <p:nvSpPr>
          <p:cNvPr id="28" name="TextBox 28"/>
          <p:cNvSpPr txBox="1"/>
          <p:nvPr/>
        </p:nvSpPr>
        <p:spPr>
          <a:xfrm>
            <a:off x="11690228" y="8091160"/>
            <a:ext cx="4698823" cy="617220"/>
          </a:xfrm>
          <a:prstGeom prst="rect">
            <a:avLst/>
          </a:prstGeom>
        </p:spPr>
        <p:txBody>
          <a:bodyPr lIns="0" tIns="0" rIns="0" bIns="0" rtlCol="0" anchor="t">
            <a:spAutoFit/>
          </a:bodyPr>
          <a:lstStyle/>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Platforms like Kubernetes automate deployment, scaling, load balancing, and self-healing across clusters, enabling cloud-native application architectures.</a:t>
            </a:r>
          </a:p>
        </p:txBody>
      </p:sp>
      <p:sp>
        <p:nvSpPr>
          <p:cNvPr id="29" name="TextBox 29"/>
          <p:cNvSpPr txBox="1"/>
          <p:nvPr/>
        </p:nvSpPr>
        <p:spPr>
          <a:xfrm>
            <a:off x="5222522" y="5926466"/>
            <a:ext cx="2919049" cy="180975"/>
          </a:xfrm>
          <a:prstGeom prst="rect">
            <a:avLst/>
          </a:prstGeom>
        </p:spPr>
        <p:txBody>
          <a:bodyPr lIns="0" tIns="0" rIns="0" bIns="0" rtlCol="0" anchor="t">
            <a:spAutoFit/>
          </a:bodyPr>
          <a:lstStyle/>
          <a:p>
            <a:pPr marL="0" lvl="0" indent="0" algn="l">
              <a:lnSpc>
                <a:spcPts val="1439"/>
              </a:lnSpc>
            </a:pPr>
            <a:r>
              <a:rPr lang="en-US" sz="1200" b="1" spc="-12">
                <a:solidFill>
                  <a:srgbClr val="FFFFFF"/>
                </a:solidFill>
                <a:latin typeface="Montserrat Medium"/>
                <a:ea typeface="Montserrat Medium"/>
                <a:cs typeface="Montserrat Medium"/>
                <a:sym typeface="Montserrat Medium"/>
              </a:rPr>
              <a:t>Traditional Applications</a:t>
            </a:r>
          </a:p>
        </p:txBody>
      </p:sp>
      <p:sp>
        <p:nvSpPr>
          <p:cNvPr id="30" name="TextBox 30"/>
          <p:cNvSpPr txBox="1"/>
          <p:nvPr/>
        </p:nvSpPr>
        <p:spPr>
          <a:xfrm>
            <a:off x="5222522" y="7638019"/>
            <a:ext cx="2919049" cy="180975"/>
          </a:xfrm>
          <a:prstGeom prst="rect">
            <a:avLst/>
          </a:prstGeom>
        </p:spPr>
        <p:txBody>
          <a:bodyPr lIns="0" tIns="0" rIns="0" bIns="0" rtlCol="0" anchor="t">
            <a:spAutoFit/>
          </a:bodyPr>
          <a:lstStyle/>
          <a:p>
            <a:pPr marL="0" lvl="0" indent="0" algn="l">
              <a:lnSpc>
                <a:spcPts val="1439"/>
              </a:lnSpc>
            </a:pPr>
            <a:r>
              <a:rPr lang="en-US" sz="1200" b="1" spc="-12">
                <a:solidFill>
                  <a:srgbClr val="FFFFFF"/>
                </a:solidFill>
                <a:latin typeface="Montserrat Medium"/>
                <a:ea typeface="Montserrat Medium"/>
                <a:cs typeface="Montserrat Medium"/>
                <a:sym typeface="Montserrat Medium"/>
              </a:rPr>
              <a:t>Virtual Machines</a:t>
            </a:r>
          </a:p>
        </p:txBody>
      </p:sp>
      <p:sp>
        <p:nvSpPr>
          <p:cNvPr id="31" name="TextBox 31"/>
          <p:cNvSpPr txBox="1"/>
          <p:nvPr/>
        </p:nvSpPr>
        <p:spPr>
          <a:xfrm>
            <a:off x="11690228" y="5926466"/>
            <a:ext cx="2919049" cy="180975"/>
          </a:xfrm>
          <a:prstGeom prst="rect">
            <a:avLst/>
          </a:prstGeom>
        </p:spPr>
        <p:txBody>
          <a:bodyPr lIns="0" tIns="0" rIns="0" bIns="0" rtlCol="0" anchor="t">
            <a:spAutoFit/>
          </a:bodyPr>
          <a:lstStyle/>
          <a:p>
            <a:pPr marL="0" lvl="0" indent="0" algn="l">
              <a:lnSpc>
                <a:spcPts val="1439"/>
              </a:lnSpc>
            </a:pPr>
            <a:r>
              <a:rPr lang="en-US" sz="1200" b="1" spc="-12">
                <a:solidFill>
                  <a:srgbClr val="FFFFFF"/>
                </a:solidFill>
                <a:latin typeface="Montserrat Medium"/>
                <a:ea typeface="Montserrat Medium"/>
                <a:cs typeface="Montserrat Medium"/>
                <a:sym typeface="Montserrat Medium"/>
              </a:rPr>
              <a:t>Containers</a:t>
            </a:r>
          </a:p>
        </p:txBody>
      </p:sp>
      <p:sp>
        <p:nvSpPr>
          <p:cNvPr id="32" name="TextBox 32"/>
          <p:cNvSpPr txBox="1"/>
          <p:nvPr/>
        </p:nvSpPr>
        <p:spPr>
          <a:xfrm>
            <a:off x="11690228" y="7638019"/>
            <a:ext cx="2488537" cy="361950"/>
          </a:xfrm>
          <a:prstGeom prst="rect">
            <a:avLst/>
          </a:prstGeom>
        </p:spPr>
        <p:txBody>
          <a:bodyPr lIns="0" tIns="0" rIns="0" bIns="0" rtlCol="0" anchor="t">
            <a:spAutoFit/>
          </a:bodyPr>
          <a:lstStyle/>
          <a:p>
            <a:pPr marL="0" lvl="0" indent="0" algn="l">
              <a:lnSpc>
                <a:spcPts val="1439"/>
              </a:lnSpc>
            </a:pPr>
            <a:r>
              <a:rPr lang="en-US" sz="1200" b="1" spc="-12">
                <a:solidFill>
                  <a:srgbClr val="FFFFFF"/>
                </a:solidFill>
                <a:latin typeface="Montserrat Medium"/>
                <a:ea typeface="Montserrat Medium"/>
                <a:cs typeface="Montserrat Medium"/>
                <a:sym typeface="Montserrat Medium"/>
              </a:rPr>
              <a:t>Container Orchestration &amp; Cloud Native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TextBox 3"/>
          <p:cNvSpPr txBox="1"/>
          <p:nvPr/>
        </p:nvSpPr>
        <p:spPr>
          <a:xfrm>
            <a:off x="1028700" y="1605150"/>
            <a:ext cx="5495918" cy="1289590"/>
          </a:xfrm>
          <a:prstGeom prst="rect">
            <a:avLst/>
          </a:prstGeom>
        </p:spPr>
        <p:txBody>
          <a:bodyPr lIns="0" tIns="0" rIns="0" bIns="0" rtlCol="0" anchor="t">
            <a:spAutoFit/>
          </a:bodyPr>
          <a:lstStyle/>
          <a:p>
            <a:pPr marL="0" lvl="0" indent="0" algn="l">
              <a:lnSpc>
                <a:spcPts val="5021"/>
              </a:lnSpc>
            </a:pPr>
            <a:r>
              <a:rPr lang="en-US" sz="5021" b="1" spc="-401">
                <a:solidFill>
                  <a:srgbClr val="FFFFFF"/>
                </a:solidFill>
                <a:latin typeface="Montserrat Medium"/>
                <a:ea typeface="Montserrat Medium"/>
                <a:cs typeface="Montserrat Medium"/>
                <a:sym typeface="Montserrat Medium"/>
              </a:rPr>
              <a:t>What is a Container?</a:t>
            </a:r>
          </a:p>
        </p:txBody>
      </p:sp>
      <p:sp>
        <p:nvSpPr>
          <p:cNvPr id="4" name="TextBox 4"/>
          <p:cNvSpPr txBox="1"/>
          <p:nvPr/>
        </p:nvSpPr>
        <p:spPr>
          <a:xfrm>
            <a:off x="1028700" y="5266578"/>
            <a:ext cx="7643835" cy="2198519"/>
          </a:xfrm>
          <a:prstGeom prst="rect">
            <a:avLst/>
          </a:prstGeom>
        </p:spPr>
        <p:txBody>
          <a:bodyPr lIns="0" tIns="0" rIns="0" bIns="0" rtlCol="0" anchor="t">
            <a:spAutoFit/>
          </a:bodyPr>
          <a:lstStyle/>
          <a:p>
            <a:pPr marL="0" lvl="0" indent="0" algn="l">
              <a:lnSpc>
                <a:spcPts val="2196"/>
              </a:lnSpc>
            </a:pPr>
            <a:r>
              <a:rPr lang="en-US" sz="1569" spc="-15" dirty="0">
                <a:solidFill>
                  <a:srgbClr val="FFFFFF"/>
                </a:solidFill>
                <a:latin typeface="Montserrat"/>
                <a:ea typeface="Montserrat"/>
                <a:cs typeface="Montserrat"/>
                <a:sym typeface="Montserrat"/>
              </a:rPr>
              <a:t>A lightweight, portable software package that includes everything needed to run an application — code, runtime, libraries, and dependencies.</a:t>
            </a:r>
          </a:p>
          <a:p>
            <a:pPr marL="0" lvl="0" indent="0" algn="l">
              <a:lnSpc>
                <a:spcPts val="2196"/>
              </a:lnSpc>
            </a:pPr>
            <a:r>
              <a:rPr lang="en-US" sz="1569" spc="-15" dirty="0">
                <a:solidFill>
                  <a:srgbClr val="FFFFFF"/>
                </a:solidFill>
                <a:latin typeface="Montserrat"/>
                <a:ea typeface="Montserrat"/>
                <a:cs typeface="Montserrat"/>
                <a:sym typeface="Montserrat"/>
              </a:rPr>
              <a:t>• Portable — runs consistently across any environment</a:t>
            </a:r>
          </a:p>
          <a:p>
            <a:pPr marL="0" lvl="0" indent="0" algn="l">
              <a:lnSpc>
                <a:spcPts val="2196"/>
              </a:lnSpc>
            </a:pPr>
            <a:r>
              <a:rPr lang="en-US" sz="1569" spc="-15" dirty="0">
                <a:solidFill>
                  <a:srgbClr val="FFFFFF"/>
                </a:solidFill>
                <a:latin typeface="Montserrat"/>
                <a:ea typeface="Montserrat"/>
                <a:cs typeface="Montserrat"/>
                <a:sym typeface="Montserrat"/>
              </a:rPr>
              <a:t>• Lightweight — shares the host OS kernel, minimal overhead</a:t>
            </a:r>
          </a:p>
          <a:p>
            <a:pPr marL="0" lvl="0" indent="0" algn="l">
              <a:lnSpc>
                <a:spcPts val="2196"/>
              </a:lnSpc>
            </a:pPr>
            <a:r>
              <a:rPr lang="en-US" sz="1569" spc="-15" dirty="0">
                <a:solidFill>
                  <a:srgbClr val="FFFFFF"/>
                </a:solidFill>
                <a:latin typeface="Montserrat"/>
                <a:ea typeface="Montserrat"/>
                <a:cs typeface="Montserrat"/>
                <a:sym typeface="Montserrat"/>
              </a:rPr>
              <a:t>• Fast — starts in milliseconds, rapid deployment</a:t>
            </a:r>
          </a:p>
          <a:p>
            <a:pPr marL="0" lvl="0" indent="0" algn="l">
              <a:lnSpc>
                <a:spcPts val="2196"/>
              </a:lnSpc>
            </a:pPr>
            <a:r>
              <a:rPr lang="en-US" sz="1569" spc="-15" dirty="0">
                <a:solidFill>
                  <a:srgbClr val="FFFFFF"/>
                </a:solidFill>
                <a:latin typeface="Montserrat"/>
                <a:ea typeface="Montserrat"/>
                <a:cs typeface="Montserrat"/>
                <a:sym typeface="Montserrat"/>
              </a:rPr>
              <a:t>• Isolated — processes run independently from each other</a:t>
            </a:r>
          </a:p>
          <a:p>
            <a:pPr marL="0" lvl="0" indent="0" algn="l">
              <a:lnSpc>
                <a:spcPts val="2196"/>
              </a:lnSpc>
            </a:pPr>
            <a:r>
              <a:rPr lang="en-US" sz="1569" spc="-15" dirty="0">
                <a:solidFill>
                  <a:srgbClr val="FFFFFF"/>
                </a:solidFill>
                <a:latin typeface="Montserrat"/>
                <a:ea typeface="Montserrat"/>
                <a:cs typeface="Montserrat"/>
                <a:sym typeface="Montserrat"/>
              </a:rPr>
              <a:t>• Consistent — same behavior in dev, test, and production</a:t>
            </a:r>
          </a:p>
          <a:p>
            <a:pPr marL="0" lvl="0" indent="0" algn="l">
              <a:lnSpc>
                <a:spcPts val="2196"/>
              </a:lnSpc>
            </a:pPr>
            <a:r>
              <a:rPr lang="en-US" sz="1569" spc="-15" dirty="0">
                <a:solidFill>
                  <a:srgbClr val="FFFFFF"/>
                </a:solidFill>
                <a:latin typeface="Montserrat"/>
                <a:ea typeface="Montserrat"/>
                <a:cs typeface="Montserrat"/>
                <a:sym typeface="Montserrat"/>
              </a:rPr>
              <a:t>• Secure — encapsulated environment limits exposure</a:t>
            </a:r>
          </a:p>
        </p:txBody>
      </p:sp>
      <p:sp>
        <p:nvSpPr>
          <p:cNvPr id="5" name="TextBox 5"/>
          <p:cNvSpPr txBox="1"/>
          <p:nvPr/>
        </p:nvSpPr>
        <p:spPr>
          <a:xfrm>
            <a:off x="1028700" y="7955618"/>
            <a:ext cx="6382626" cy="407670"/>
          </a:xfrm>
          <a:prstGeom prst="rect">
            <a:avLst/>
          </a:prstGeom>
        </p:spPr>
        <p:txBody>
          <a:bodyPr lIns="0" tIns="0" rIns="0" bIns="0" rtlCol="0" anchor="t">
            <a:spAutoFit/>
          </a:bodyPr>
          <a:lstStyle/>
          <a:p>
            <a:pPr marL="0" lvl="0" indent="0" algn="l">
              <a:lnSpc>
                <a:spcPts val="1679"/>
              </a:lnSpc>
            </a:pPr>
            <a:r>
              <a:rPr lang="en-US" sz="1200" spc="-12" dirty="0">
                <a:solidFill>
                  <a:srgbClr val="FFFFFF"/>
                </a:solidFill>
                <a:latin typeface="Montserrat"/>
                <a:ea typeface="Montserrat"/>
                <a:cs typeface="Montserrat"/>
                <a:sym typeface="Montserrat"/>
              </a:rPr>
              <a:t>Containers package all dependencies into a single unit, eliminating "it works on my machine" problems and enabling seamless deployment across cloud environments.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4181">
                <a:alpha val="100000"/>
              </a:srgbClr>
            </a:gs>
            <a:gs pos="100000">
              <a:srgbClr val="0A2540">
                <a:alpha val="100000"/>
              </a:srgbClr>
            </a:gs>
          </a:gsLst>
          <a:path path="circle">
            <a:fillToRect l="50000" t="50000" r="50000" b="50000"/>
          </a:path>
        </a:gradFill>
        <a:effectLst/>
      </p:bgPr>
    </p:bg>
    <p:spTree>
      <p:nvGrpSpPr>
        <p:cNvPr id="1" name=""/>
        <p:cNvGrpSpPr/>
        <p:nvPr/>
      </p:nvGrpSpPr>
      <p:grpSpPr>
        <a:xfrm>
          <a:off x="0" y="0"/>
          <a:ext cx="0" cy="0"/>
          <a:chOff x="0" y="0"/>
          <a:chExt cx="0" cy="0"/>
        </a:xfrm>
      </p:grpSpPr>
      <p:grpSp>
        <p:nvGrpSpPr>
          <p:cNvPr id="2" name="Group 2"/>
          <p:cNvGrpSpPr/>
          <p:nvPr/>
        </p:nvGrpSpPr>
        <p:grpSpPr>
          <a:xfrm>
            <a:off x="4648412" y="5926466"/>
            <a:ext cx="432498" cy="333990"/>
            <a:chOff x="0" y="0"/>
            <a:chExt cx="576664" cy="445320"/>
          </a:xfrm>
        </p:grpSpPr>
        <p:grpSp>
          <p:nvGrpSpPr>
            <p:cNvPr id="3" name="Group 3"/>
            <p:cNvGrpSpPr/>
            <p:nvPr/>
          </p:nvGrpSpPr>
          <p:grpSpPr>
            <a:xfrm>
              <a:off x="0" y="0"/>
              <a:ext cx="576664" cy="445320"/>
              <a:chOff x="0" y="0"/>
              <a:chExt cx="127033" cy="98100"/>
            </a:xfrm>
          </p:grpSpPr>
          <p:sp>
            <p:nvSpPr>
              <p:cNvPr id="4" name="Freeform 4"/>
              <p:cNvSpPr/>
              <p:nvPr/>
            </p:nvSpPr>
            <p:spPr>
              <a:xfrm>
                <a:off x="0" y="0"/>
                <a:ext cx="127034" cy="98100"/>
              </a:xfrm>
              <a:custGeom>
                <a:avLst/>
                <a:gdLst/>
                <a:ahLst/>
                <a:cxnLst/>
                <a:rect l="l" t="t" r="r" b="b"/>
                <a:pathLst>
                  <a:path w="127034" h="98100">
                    <a:moveTo>
                      <a:pt x="0" y="0"/>
                    </a:moveTo>
                    <a:lnTo>
                      <a:pt x="127034" y="0"/>
                    </a:lnTo>
                    <a:lnTo>
                      <a:pt x="127034" y="98100"/>
                    </a:lnTo>
                    <a:lnTo>
                      <a:pt x="0" y="98100"/>
                    </a:lnTo>
                    <a:close/>
                  </a:path>
                </a:pathLst>
              </a:custGeom>
              <a:solidFill>
                <a:srgbClr val="CAF0F8"/>
              </a:solidFill>
            </p:spPr>
          </p:sp>
          <p:sp>
            <p:nvSpPr>
              <p:cNvPr id="5" name="TextBox 5"/>
              <p:cNvSpPr txBox="1"/>
              <p:nvPr/>
            </p:nvSpPr>
            <p:spPr>
              <a:xfrm>
                <a:off x="0" y="-38100"/>
                <a:ext cx="127033" cy="1362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58306" y="92712"/>
              <a:ext cx="460052" cy="297995"/>
            </a:xfrm>
            <a:prstGeom prst="rect">
              <a:avLst/>
            </a:prstGeom>
          </p:spPr>
          <p:txBody>
            <a:bodyPr lIns="0" tIns="0" rIns="0" bIns="0" rtlCol="0" anchor="t">
              <a:spAutoFit/>
            </a:bodyPr>
            <a:lstStyle/>
            <a:p>
              <a:pPr marL="0" lvl="0" indent="0" algn="ctr">
                <a:lnSpc>
                  <a:spcPts val="1674"/>
                </a:lnSpc>
              </a:pPr>
              <a:r>
                <a:rPr lang="en-US" sz="1674" b="1" spc="-133">
                  <a:solidFill>
                    <a:srgbClr val="000000"/>
                  </a:solidFill>
                  <a:latin typeface="Montserrat Semi-Bold"/>
                  <a:ea typeface="Montserrat Semi-Bold"/>
                  <a:cs typeface="Montserrat Semi-Bold"/>
                  <a:sym typeface="Montserrat Semi-Bold"/>
                </a:rPr>
                <a:t>01</a:t>
              </a:r>
            </a:p>
          </p:txBody>
        </p:sp>
      </p:grpSp>
      <p:grpSp>
        <p:nvGrpSpPr>
          <p:cNvPr id="7" name="Group 7"/>
          <p:cNvGrpSpPr/>
          <p:nvPr/>
        </p:nvGrpSpPr>
        <p:grpSpPr>
          <a:xfrm>
            <a:off x="4648412" y="7638019"/>
            <a:ext cx="432498" cy="333990"/>
            <a:chOff x="0" y="0"/>
            <a:chExt cx="576664" cy="445320"/>
          </a:xfrm>
        </p:grpSpPr>
        <p:grpSp>
          <p:nvGrpSpPr>
            <p:cNvPr id="8" name="Group 8"/>
            <p:cNvGrpSpPr/>
            <p:nvPr/>
          </p:nvGrpSpPr>
          <p:grpSpPr>
            <a:xfrm>
              <a:off x="0" y="0"/>
              <a:ext cx="576664" cy="445320"/>
              <a:chOff x="0" y="0"/>
              <a:chExt cx="127033" cy="98100"/>
            </a:xfrm>
          </p:grpSpPr>
          <p:sp>
            <p:nvSpPr>
              <p:cNvPr id="9" name="Freeform 9"/>
              <p:cNvSpPr/>
              <p:nvPr/>
            </p:nvSpPr>
            <p:spPr>
              <a:xfrm>
                <a:off x="0" y="0"/>
                <a:ext cx="127034" cy="98100"/>
              </a:xfrm>
              <a:custGeom>
                <a:avLst/>
                <a:gdLst/>
                <a:ahLst/>
                <a:cxnLst/>
                <a:rect l="l" t="t" r="r" b="b"/>
                <a:pathLst>
                  <a:path w="127034" h="98100">
                    <a:moveTo>
                      <a:pt x="0" y="0"/>
                    </a:moveTo>
                    <a:lnTo>
                      <a:pt x="127034" y="0"/>
                    </a:lnTo>
                    <a:lnTo>
                      <a:pt x="127034" y="98100"/>
                    </a:lnTo>
                    <a:lnTo>
                      <a:pt x="0" y="98100"/>
                    </a:lnTo>
                    <a:close/>
                  </a:path>
                </a:pathLst>
              </a:custGeom>
              <a:solidFill>
                <a:srgbClr val="4EA8DE"/>
              </a:solidFill>
            </p:spPr>
          </p:sp>
          <p:sp>
            <p:nvSpPr>
              <p:cNvPr id="10" name="TextBox 10"/>
              <p:cNvSpPr txBox="1"/>
              <p:nvPr/>
            </p:nvSpPr>
            <p:spPr>
              <a:xfrm>
                <a:off x="0" y="-38100"/>
                <a:ext cx="127033" cy="1362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1" name="TextBox 11"/>
            <p:cNvSpPr txBox="1"/>
            <p:nvPr/>
          </p:nvSpPr>
          <p:spPr>
            <a:xfrm>
              <a:off x="58306" y="92712"/>
              <a:ext cx="460052" cy="297995"/>
            </a:xfrm>
            <a:prstGeom prst="rect">
              <a:avLst/>
            </a:prstGeom>
          </p:spPr>
          <p:txBody>
            <a:bodyPr lIns="0" tIns="0" rIns="0" bIns="0" rtlCol="0" anchor="t">
              <a:spAutoFit/>
            </a:bodyPr>
            <a:lstStyle/>
            <a:p>
              <a:pPr marL="0" lvl="0" indent="0" algn="ctr">
                <a:lnSpc>
                  <a:spcPts val="1674"/>
                </a:lnSpc>
              </a:pPr>
              <a:r>
                <a:rPr lang="en-US" sz="1674" b="1" spc="-133">
                  <a:solidFill>
                    <a:srgbClr val="000000"/>
                  </a:solidFill>
                  <a:latin typeface="Montserrat Semi-Bold"/>
                  <a:ea typeface="Montserrat Semi-Bold"/>
                  <a:cs typeface="Montserrat Semi-Bold"/>
                  <a:sym typeface="Montserrat Semi-Bold"/>
                </a:rPr>
                <a:t>02</a:t>
              </a:r>
            </a:p>
          </p:txBody>
        </p:sp>
      </p:grpSp>
      <p:grpSp>
        <p:nvGrpSpPr>
          <p:cNvPr id="12" name="Group 12"/>
          <p:cNvGrpSpPr/>
          <p:nvPr/>
        </p:nvGrpSpPr>
        <p:grpSpPr>
          <a:xfrm>
            <a:off x="11116118" y="5926466"/>
            <a:ext cx="432498" cy="333990"/>
            <a:chOff x="0" y="0"/>
            <a:chExt cx="576664" cy="445320"/>
          </a:xfrm>
        </p:grpSpPr>
        <p:grpSp>
          <p:nvGrpSpPr>
            <p:cNvPr id="13" name="Group 13"/>
            <p:cNvGrpSpPr/>
            <p:nvPr/>
          </p:nvGrpSpPr>
          <p:grpSpPr>
            <a:xfrm>
              <a:off x="0" y="0"/>
              <a:ext cx="576664" cy="445320"/>
              <a:chOff x="0" y="0"/>
              <a:chExt cx="127033" cy="98100"/>
            </a:xfrm>
          </p:grpSpPr>
          <p:sp>
            <p:nvSpPr>
              <p:cNvPr id="14" name="Freeform 14"/>
              <p:cNvSpPr/>
              <p:nvPr/>
            </p:nvSpPr>
            <p:spPr>
              <a:xfrm>
                <a:off x="0" y="0"/>
                <a:ext cx="127034" cy="98100"/>
              </a:xfrm>
              <a:custGeom>
                <a:avLst/>
                <a:gdLst/>
                <a:ahLst/>
                <a:cxnLst/>
                <a:rect l="l" t="t" r="r" b="b"/>
                <a:pathLst>
                  <a:path w="127034" h="98100">
                    <a:moveTo>
                      <a:pt x="0" y="0"/>
                    </a:moveTo>
                    <a:lnTo>
                      <a:pt x="127034" y="0"/>
                    </a:lnTo>
                    <a:lnTo>
                      <a:pt x="127034" y="98100"/>
                    </a:lnTo>
                    <a:lnTo>
                      <a:pt x="0" y="98100"/>
                    </a:lnTo>
                    <a:close/>
                  </a:path>
                </a:pathLst>
              </a:custGeom>
              <a:solidFill>
                <a:srgbClr val="4EA8DE"/>
              </a:solidFill>
            </p:spPr>
          </p:sp>
          <p:sp>
            <p:nvSpPr>
              <p:cNvPr id="15" name="TextBox 15"/>
              <p:cNvSpPr txBox="1"/>
              <p:nvPr/>
            </p:nvSpPr>
            <p:spPr>
              <a:xfrm>
                <a:off x="0" y="-38100"/>
                <a:ext cx="127033" cy="1362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6" name="TextBox 16"/>
            <p:cNvSpPr txBox="1"/>
            <p:nvPr/>
          </p:nvSpPr>
          <p:spPr>
            <a:xfrm>
              <a:off x="58306" y="92712"/>
              <a:ext cx="460052" cy="297995"/>
            </a:xfrm>
            <a:prstGeom prst="rect">
              <a:avLst/>
            </a:prstGeom>
          </p:spPr>
          <p:txBody>
            <a:bodyPr lIns="0" tIns="0" rIns="0" bIns="0" rtlCol="0" anchor="t">
              <a:spAutoFit/>
            </a:bodyPr>
            <a:lstStyle/>
            <a:p>
              <a:pPr marL="0" lvl="0" indent="0" algn="ctr">
                <a:lnSpc>
                  <a:spcPts val="1674"/>
                </a:lnSpc>
              </a:pPr>
              <a:r>
                <a:rPr lang="en-US" sz="1674" b="1" spc="-133">
                  <a:solidFill>
                    <a:srgbClr val="000000"/>
                  </a:solidFill>
                  <a:latin typeface="Montserrat Semi-Bold"/>
                  <a:ea typeface="Montserrat Semi-Bold"/>
                  <a:cs typeface="Montserrat Semi-Bold"/>
                  <a:sym typeface="Montserrat Semi-Bold"/>
                </a:rPr>
                <a:t>03</a:t>
              </a:r>
            </a:p>
          </p:txBody>
        </p:sp>
      </p:grpSp>
      <p:grpSp>
        <p:nvGrpSpPr>
          <p:cNvPr id="17" name="Group 17"/>
          <p:cNvGrpSpPr/>
          <p:nvPr/>
        </p:nvGrpSpPr>
        <p:grpSpPr>
          <a:xfrm>
            <a:off x="11116118" y="7638019"/>
            <a:ext cx="432498" cy="333990"/>
            <a:chOff x="0" y="0"/>
            <a:chExt cx="576664" cy="445320"/>
          </a:xfrm>
        </p:grpSpPr>
        <p:grpSp>
          <p:nvGrpSpPr>
            <p:cNvPr id="18" name="Group 18"/>
            <p:cNvGrpSpPr/>
            <p:nvPr/>
          </p:nvGrpSpPr>
          <p:grpSpPr>
            <a:xfrm>
              <a:off x="0" y="0"/>
              <a:ext cx="576664" cy="445320"/>
              <a:chOff x="0" y="0"/>
              <a:chExt cx="127033" cy="98100"/>
            </a:xfrm>
          </p:grpSpPr>
          <p:sp>
            <p:nvSpPr>
              <p:cNvPr id="19" name="Freeform 19"/>
              <p:cNvSpPr/>
              <p:nvPr/>
            </p:nvSpPr>
            <p:spPr>
              <a:xfrm>
                <a:off x="0" y="0"/>
                <a:ext cx="127034" cy="98100"/>
              </a:xfrm>
              <a:custGeom>
                <a:avLst/>
                <a:gdLst/>
                <a:ahLst/>
                <a:cxnLst/>
                <a:rect l="l" t="t" r="r" b="b"/>
                <a:pathLst>
                  <a:path w="127034" h="98100">
                    <a:moveTo>
                      <a:pt x="0" y="0"/>
                    </a:moveTo>
                    <a:lnTo>
                      <a:pt x="127034" y="0"/>
                    </a:lnTo>
                    <a:lnTo>
                      <a:pt x="127034" y="98100"/>
                    </a:lnTo>
                    <a:lnTo>
                      <a:pt x="0" y="98100"/>
                    </a:lnTo>
                    <a:close/>
                  </a:path>
                </a:pathLst>
              </a:custGeom>
              <a:solidFill>
                <a:srgbClr val="CAF0F8"/>
              </a:solidFill>
            </p:spPr>
          </p:sp>
          <p:sp>
            <p:nvSpPr>
              <p:cNvPr id="20" name="TextBox 20"/>
              <p:cNvSpPr txBox="1"/>
              <p:nvPr/>
            </p:nvSpPr>
            <p:spPr>
              <a:xfrm>
                <a:off x="0" y="-38100"/>
                <a:ext cx="127033" cy="1362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1" name="TextBox 21"/>
            <p:cNvSpPr txBox="1"/>
            <p:nvPr/>
          </p:nvSpPr>
          <p:spPr>
            <a:xfrm>
              <a:off x="58306" y="92712"/>
              <a:ext cx="460052" cy="297995"/>
            </a:xfrm>
            <a:prstGeom prst="rect">
              <a:avLst/>
            </a:prstGeom>
          </p:spPr>
          <p:txBody>
            <a:bodyPr lIns="0" tIns="0" rIns="0" bIns="0" rtlCol="0" anchor="t">
              <a:spAutoFit/>
            </a:bodyPr>
            <a:lstStyle/>
            <a:p>
              <a:pPr marL="0" lvl="0" indent="0" algn="ctr">
                <a:lnSpc>
                  <a:spcPts val="1674"/>
                </a:lnSpc>
              </a:pPr>
              <a:r>
                <a:rPr lang="en-US" sz="1674" b="1" spc="-133">
                  <a:solidFill>
                    <a:srgbClr val="000000"/>
                  </a:solidFill>
                  <a:latin typeface="Montserrat Semi-Bold"/>
                  <a:ea typeface="Montserrat Semi-Bold"/>
                  <a:cs typeface="Montserrat Semi-Bold"/>
                  <a:sym typeface="Montserrat Semi-Bold"/>
                </a:rPr>
                <a:t>04</a:t>
              </a:r>
            </a:p>
          </p:txBody>
        </p:sp>
      </p:grpSp>
      <p:grpSp>
        <p:nvGrpSpPr>
          <p:cNvPr id="22" name="Group 22"/>
          <p:cNvGrpSpPr/>
          <p:nvPr/>
        </p:nvGrpSpPr>
        <p:grpSpPr>
          <a:xfrm>
            <a:off x="0" y="0"/>
            <a:ext cx="2202711" cy="10287000"/>
            <a:chOff x="0" y="0"/>
            <a:chExt cx="341258" cy="1593725"/>
          </a:xfrm>
        </p:grpSpPr>
        <p:sp>
          <p:nvSpPr>
            <p:cNvPr id="23" name="Freeform 23"/>
            <p:cNvSpPr/>
            <p:nvPr/>
          </p:nvSpPr>
          <p:spPr>
            <a:xfrm>
              <a:off x="0" y="0"/>
              <a:ext cx="341258" cy="1593725"/>
            </a:xfrm>
            <a:custGeom>
              <a:avLst/>
              <a:gdLst/>
              <a:ahLst/>
              <a:cxnLst/>
              <a:rect l="l" t="t" r="r" b="b"/>
              <a:pathLst>
                <a:path w="341258" h="1593725">
                  <a:moveTo>
                    <a:pt x="0" y="0"/>
                  </a:moveTo>
                  <a:lnTo>
                    <a:pt x="341258" y="0"/>
                  </a:lnTo>
                  <a:lnTo>
                    <a:pt x="341258" y="1593725"/>
                  </a:lnTo>
                  <a:lnTo>
                    <a:pt x="0" y="1593725"/>
                  </a:lnTo>
                  <a:close/>
                </a:path>
              </a:pathLst>
            </a:custGeom>
            <a:gradFill rotWithShape="1">
              <a:gsLst>
                <a:gs pos="0">
                  <a:srgbClr val="CAF0F8">
                    <a:alpha val="100000"/>
                  </a:srgbClr>
                </a:gs>
                <a:gs pos="100000">
                  <a:srgbClr val="004181">
                    <a:alpha val="100000"/>
                  </a:srgbClr>
                </a:gs>
              </a:gsLst>
              <a:lin ang="5400000"/>
            </a:gradFill>
          </p:spPr>
        </p:sp>
      </p:grpSp>
      <p:sp>
        <p:nvSpPr>
          <p:cNvPr id="24" name="TextBox 24"/>
          <p:cNvSpPr txBox="1"/>
          <p:nvPr/>
        </p:nvSpPr>
        <p:spPr>
          <a:xfrm>
            <a:off x="4648412" y="1566968"/>
            <a:ext cx="5639765" cy="2070101"/>
          </a:xfrm>
          <a:prstGeom prst="rect">
            <a:avLst/>
          </a:prstGeom>
        </p:spPr>
        <p:txBody>
          <a:bodyPr lIns="0" tIns="0" rIns="0" bIns="0" rtlCol="0" anchor="t">
            <a:spAutoFit/>
          </a:bodyPr>
          <a:lstStyle/>
          <a:p>
            <a:pPr marL="0" lvl="0" indent="0" algn="l">
              <a:lnSpc>
                <a:spcPts val="8000"/>
              </a:lnSpc>
            </a:pPr>
            <a:r>
              <a:rPr lang="en-US" sz="8000" b="1" spc="-640">
                <a:solidFill>
                  <a:srgbClr val="FFFFFF"/>
                </a:solidFill>
                <a:latin typeface="Montserrat Medium"/>
                <a:ea typeface="Montserrat Medium"/>
                <a:cs typeface="Montserrat Medium"/>
                <a:sym typeface="Montserrat Medium"/>
              </a:rPr>
              <a:t>Container Architecture</a:t>
            </a:r>
          </a:p>
        </p:txBody>
      </p:sp>
      <p:sp>
        <p:nvSpPr>
          <p:cNvPr id="25" name="TextBox 25"/>
          <p:cNvSpPr txBox="1"/>
          <p:nvPr/>
        </p:nvSpPr>
        <p:spPr>
          <a:xfrm>
            <a:off x="5222522" y="6379607"/>
            <a:ext cx="4698823" cy="617220"/>
          </a:xfrm>
          <a:prstGeom prst="rect">
            <a:avLst/>
          </a:prstGeom>
        </p:spPr>
        <p:txBody>
          <a:bodyPr lIns="0" tIns="0" rIns="0" bIns="0" rtlCol="0" anchor="t">
            <a:spAutoFit/>
          </a:bodyPr>
          <a:lstStyle/>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The topmost layer contains the application code and all required libraries. This layer is unique to each container and defines the software running inside the isolated environment.</a:t>
            </a:r>
          </a:p>
        </p:txBody>
      </p:sp>
      <p:sp>
        <p:nvSpPr>
          <p:cNvPr id="26" name="TextBox 26"/>
          <p:cNvSpPr txBox="1"/>
          <p:nvPr/>
        </p:nvSpPr>
        <p:spPr>
          <a:xfrm>
            <a:off x="5222522" y="8091160"/>
            <a:ext cx="4698823" cy="826770"/>
          </a:xfrm>
          <a:prstGeom prst="rect">
            <a:avLst/>
          </a:prstGeom>
        </p:spPr>
        <p:txBody>
          <a:bodyPr lIns="0" tIns="0" rIns="0" bIns="0" rtlCol="0" anchor="t">
            <a:spAutoFit/>
          </a:bodyPr>
          <a:lstStyle/>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Below the application sit the dependencies and runtime environment. These provide the necessary execution context, ensuring consistent behavior regardless of the underlying host system.</a:t>
            </a:r>
          </a:p>
        </p:txBody>
      </p:sp>
      <p:sp>
        <p:nvSpPr>
          <p:cNvPr id="27" name="TextBox 27"/>
          <p:cNvSpPr txBox="1"/>
          <p:nvPr/>
        </p:nvSpPr>
        <p:spPr>
          <a:xfrm>
            <a:off x="11690228" y="6379607"/>
            <a:ext cx="4698823" cy="826770"/>
          </a:xfrm>
          <a:prstGeom prst="rect">
            <a:avLst/>
          </a:prstGeom>
        </p:spPr>
        <p:txBody>
          <a:bodyPr lIns="0" tIns="0" rIns="0" bIns="0" rtlCol="0" anchor="t">
            <a:spAutoFit/>
          </a:bodyPr>
          <a:lstStyle/>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The Docker Container wraps all upper layers into a portable unit. The Docker Engine manages container lifecycle operations including creation, execution, networking, and resource allocation.</a:t>
            </a:r>
          </a:p>
        </p:txBody>
      </p:sp>
      <p:sp>
        <p:nvSpPr>
          <p:cNvPr id="28" name="TextBox 28"/>
          <p:cNvSpPr txBox="1"/>
          <p:nvPr/>
        </p:nvSpPr>
        <p:spPr>
          <a:xfrm>
            <a:off x="11690228" y="8091160"/>
            <a:ext cx="4698823" cy="826770"/>
          </a:xfrm>
          <a:prstGeom prst="rect">
            <a:avLst/>
          </a:prstGeom>
        </p:spPr>
        <p:txBody>
          <a:bodyPr lIns="0" tIns="0" rIns="0" bIns="0" rtlCol="0" anchor="t">
            <a:spAutoFit/>
          </a:bodyPr>
          <a:lstStyle/>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The Host OS provides the kernel and core system resources shared across all containers. Docker leverages the host kernel directly, making containers significantly lighter than virtual machines.</a:t>
            </a:r>
          </a:p>
        </p:txBody>
      </p:sp>
      <p:sp>
        <p:nvSpPr>
          <p:cNvPr id="29" name="TextBox 29"/>
          <p:cNvSpPr txBox="1"/>
          <p:nvPr/>
        </p:nvSpPr>
        <p:spPr>
          <a:xfrm>
            <a:off x="5222522" y="5926466"/>
            <a:ext cx="2919049" cy="247650"/>
          </a:xfrm>
          <a:prstGeom prst="rect">
            <a:avLst/>
          </a:prstGeom>
        </p:spPr>
        <p:txBody>
          <a:bodyPr lIns="0" tIns="0" rIns="0" bIns="0" rtlCol="0" anchor="t">
            <a:spAutoFit/>
          </a:bodyPr>
          <a:lstStyle/>
          <a:p>
            <a:pPr marL="0" lvl="0" indent="0" algn="l">
              <a:lnSpc>
                <a:spcPts val="2008"/>
              </a:lnSpc>
            </a:pPr>
            <a:r>
              <a:rPr lang="en-US" sz="1674" b="1" spc="-16" dirty="0">
                <a:solidFill>
                  <a:srgbClr val="FFFFFF"/>
                </a:solidFill>
                <a:latin typeface="Montserrat Medium"/>
                <a:ea typeface="Montserrat Medium"/>
                <a:cs typeface="Montserrat Medium"/>
                <a:sym typeface="Montserrat Medium"/>
              </a:rPr>
              <a:t>Application &amp; Libraries</a:t>
            </a:r>
          </a:p>
        </p:txBody>
      </p:sp>
      <p:sp>
        <p:nvSpPr>
          <p:cNvPr id="30" name="TextBox 30"/>
          <p:cNvSpPr txBox="1"/>
          <p:nvPr/>
        </p:nvSpPr>
        <p:spPr>
          <a:xfrm>
            <a:off x="5222522" y="7638019"/>
            <a:ext cx="2919049" cy="247650"/>
          </a:xfrm>
          <a:prstGeom prst="rect">
            <a:avLst/>
          </a:prstGeom>
        </p:spPr>
        <p:txBody>
          <a:bodyPr lIns="0" tIns="0" rIns="0" bIns="0" rtlCol="0" anchor="t">
            <a:spAutoFit/>
          </a:bodyPr>
          <a:lstStyle/>
          <a:p>
            <a:pPr marL="0" lvl="0" indent="0" algn="l">
              <a:lnSpc>
                <a:spcPts val="2008"/>
              </a:lnSpc>
            </a:pPr>
            <a:r>
              <a:rPr lang="en-US" sz="1674" b="1" spc="-16" dirty="0">
                <a:solidFill>
                  <a:srgbClr val="FFFFFF"/>
                </a:solidFill>
                <a:latin typeface="Montserrat Medium"/>
                <a:ea typeface="Montserrat Medium"/>
                <a:cs typeface="Montserrat Medium"/>
                <a:sym typeface="Montserrat Medium"/>
              </a:rPr>
              <a:t>Dependencies &amp; Runtime</a:t>
            </a:r>
          </a:p>
        </p:txBody>
      </p:sp>
      <p:sp>
        <p:nvSpPr>
          <p:cNvPr id="31" name="TextBox 31"/>
          <p:cNvSpPr txBox="1"/>
          <p:nvPr/>
        </p:nvSpPr>
        <p:spPr>
          <a:xfrm>
            <a:off x="11690228" y="5926466"/>
            <a:ext cx="2919049" cy="247650"/>
          </a:xfrm>
          <a:prstGeom prst="rect">
            <a:avLst/>
          </a:prstGeom>
        </p:spPr>
        <p:txBody>
          <a:bodyPr lIns="0" tIns="0" rIns="0" bIns="0" rtlCol="0" anchor="t">
            <a:spAutoFit/>
          </a:bodyPr>
          <a:lstStyle/>
          <a:p>
            <a:pPr marL="0" lvl="0" indent="0" algn="l">
              <a:lnSpc>
                <a:spcPts val="2008"/>
              </a:lnSpc>
            </a:pPr>
            <a:r>
              <a:rPr lang="en-US" sz="1674" b="1" spc="-16" dirty="0">
                <a:solidFill>
                  <a:srgbClr val="FFFFFF"/>
                </a:solidFill>
                <a:latin typeface="Montserrat Medium"/>
                <a:ea typeface="Montserrat Medium"/>
                <a:cs typeface="Montserrat Medium"/>
                <a:sym typeface="Montserrat Medium"/>
              </a:rPr>
              <a:t>Docker Container &amp; Engine</a:t>
            </a:r>
          </a:p>
        </p:txBody>
      </p:sp>
      <p:sp>
        <p:nvSpPr>
          <p:cNvPr id="32" name="TextBox 32"/>
          <p:cNvSpPr txBox="1"/>
          <p:nvPr/>
        </p:nvSpPr>
        <p:spPr>
          <a:xfrm>
            <a:off x="11690228" y="7638019"/>
            <a:ext cx="2488537" cy="247650"/>
          </a:xfrm>
          <a:prstGeom prst="rect">
            <a:avLst/>
          </a:prstGeom>
        </p:spPr>
        <p:txBody>
          <a:bodyPr lIns="0" tIns="0" rIns="0" bIns="0" rtlCol="0" anchor="t">
            <a:spAutoFit/>
          </a:bodyPr>
          <a:lstStyle/>
          <a:p>
            <a:pPr marL="0" lvl="0" indent="0" algn="l">
              <a:lnSpc>
                <a:spcPts val="2008"/>
              </a:lnSpc>
            </a:pPr>
            <a:r>
              <a:rPr lang="en-US" sz="1674" b="1" spc="-16" dirty="0">
                <a:solidFill>
                  <a:srgbClr val="FFFFFF"/>
                </a:solidFill>
                <a:latin typeface="Montserrat Medium"/>
                <a:ea typeface="Montserrat Medium"/>
                <a:cs typeface="Montserrat Medium"/>
                <a:sym typeface="Montserrat Medium"/>
              </a:rPr>
              <a:t>Host Operating System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9144000" y="6870656"/>
            <a:ext cx="9144000" cy="912579"/>
            <a:chOff x="0" y="0"/>
            <a:chExt cx="2685778" cy="268043"/>
          </a:xfrm>
        </p:grpSpPr>
        <p:sp>
          <p:nvSpPr>
            <p:cNvPr id="4" name="Freeform 4"/>
            <p:cNvSpPr/>
            <p:nvPr/>
          </p:nvSpPr>
          <p:spPr>
            <a:xfrm>
              <a:off x="0" y="0"/>
              <a:ext cx="2685778" cy="268043"/>
            </a:xfrm>
            <a:custGeom>
              <a:avLst/>
              <a:gdLst/>
              <a:ahLst/>
              <a:cxnLst/>
              <a:rect l="l" t="t" r="r" b="b"/>
              <a:pathLst>
                <a:path w="2685778" h="268043">
                  <a:moveTo>
                    <a:pt x="0" y="0"/>
                  </a:moveTo>
                  <a:lnTo>
                    <a:pt x="2685778" y="0"/>
                  </a:lnTo>
                  <a:lnTo>
                    <a:pt x="2685778" y="268043"/>
                  </a:lnTo>
                  <a:lnTo>
                    <a:pt x="0" y="268043"/>
                  </a:lnTo>
                  <a:close/>
                </a:path>
              </a:pathLst>
            </a:custGeom>
            <a:solidFill>
              <a:srgbClr val="CAF0F8"/>
            </a:solidFill>
          </p:spPr>
        </p:sp>
        <p:sp>
          <p:nvSpPr>
            <p:cNvPr id="5" name="TextBox 5"/>
            <p:cNvSpPr txBox="1"/>
            <p:nvPr/>
          </p:nvSpPr>
          <p:spPr>
            <a:xfrm>
              <a:off x="0" y="-38100"/>
              <a:ext cx="2685778" cy="30614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3453468" y="1694847"/>
            <a:ext cx="11381064" cy="944849"/>
          </a:xfrm>
          <a:prstGeom prst="rect">
            <a:avLst/>
          </a:prstGeom>
        </p:spPr>
        <p:txBody>
          <a:bodyPr lIns="0" tIns="0" rIns="0" bIns="0" rtlCol="0" anchor="t">
            <a:spAutoFit/>
          </a:bodyPr>
          <a:lstStyle/>
          <a:p>
            <a:pPr marL="0" lvl="0" indent="0" algn="ctr">
              <a:lnSpc>
                <a:spcPts val="7198"/>
              </a:lnSpc>
            </a:pPr>
            <a:r>
              <a:rPr lang="en-US" sz="7198" b="1" spc="-575">
                <a:solidFill>
                  <a:srgbClr val="FFFFFF"/>
                </a:solidFill>
                <a:latin typeface="Montserrat Medium"/>
                <a:ea typeface="Montserrat Medium"/>
                <a:cs typeface="Montserrat Medium"/>
                <a:sym typeface="Montserrat Medium"/>
              </a:rPr>
              <a:t>Virtual Machine vs Container</a:t>
            </a:r>
          </a:p>
        </p:txBody>
      </p:sp>
      <p:sp>
        <p:nvSpPr>
          <p:cNvPr id="7" name="TextBox 7"/>
          <p:cNvSpPr txBox="1"/>
          <p:nvPr/>
        </p:nvSpPr>
        <p:spPr>
          <a:xfrm>
            <a:off x="1028700" y="4402177"/>
            <a:ext cx="6310291" cy="1874520"/>
          </a:xfrm>
          <a:prstGeom prst="rect">
            <a:avLst/>
          </a:prstGeom>
        </p:spPr>
        <p:txBody>
          <a:bodyPr lIns="0" tIns="0" rIns="0" bIns="0" rtlCol="0" anchor="t">
            <a:spAutoFit/>
          </a:bodyPr>
          <a:lstStyle/>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OS: Full OS per VM (Guest OS)</a:t>
            </a:r>
          </a:p>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Hypervisor: Required (VMware, Hyper-V)</a:t>
            </a:r>
          </a:p>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Startup Time: Minutes (slow boot)</a:t>
            </a:r>
          </a:p>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Resource Usage: High (GB of RAM/storage)</a:t>
            </a:r>
          </a:p>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Performance: Moderate overhead</a:t>
            </a:r>
          </a:p>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Isolation: Strong (hardware-level)</a:t>
            </a:r>
          </a:p>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Storage: Large image size (GBs)</a:t>
            </a:r>
          </a:p>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Portability: Limited, OS-dependent</a:t>
            </a:r>
          </a:p>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Scalability: Slower, heavier scaling</a:t>
            </a:r>
          </a:p>
        </p:txBody>
      </p:sp>
      <p:sp>
        <p:nvSpPr>
          <p:cNvPr id="8" name="TextBox 8"/>
          <p:cNvSpPr txBox="1"/>
          <p:nvPr/>
        </p:nvSpPr>
        <p:spPr>
          <a:xfrm>
            <a:off x="1028700" y="6920422"/>
            <a:ext cx="6310291" cy="826770"/>
          </a:xfrm>
          <a:prstGeom prst="rect">
            <a:avLst/>
          </a:prstGeom>
        </p:spPr>
        <p:txBody>
          <a:bodyPr lIns="0" tIns="0" rIns="0" bIns="0" rtlCol="0" anchor="t">
            <a:spAutoFit/>
          </a:bodyPr>
          <a:lstStyle/>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Containers are lightweight, fast, and portable alternatives to VMs. While VMs offer stronger isolation with a full OS per instance, containers share the host OS kernel — enabling faster startup, lower resource consumption, and greater scalability, making them ideal for modern cloud-native and microservices architectures.</a:t>
            </a:r>
          </a:p>
        </p:txBody>
      </p:sp>
      <p:sp>
        <p:nvSpPr>
          <p:cNvPr id="9" name="TextBox 9"/>
          <p:cNvSpPr txBox="1"/>
          <p:nvPr/>
        </p:nvSpPr>
        <p:spPr>
          <a:xfrm>
            <a:off x="9144000" y="4402177"/>
            <a:ext cx="6310291" cy="1874520"/>
          </a:xfrm>
          <a:prstGeom prst="rect">
            <a:avLst/>
          </a:prstGeom>
        </p:spPr>
        <p:txBody>
          <a:bodyPr lIns="0" tIns="0" rIns="0" bIns="0" rtlCol="0" anchor="t">
            <a:spAutoFit/>
          </a:bodyPr>
          <a:lstStyle/>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OS: Shares Host OS kernel</a:t>
            </a:r>
          </a:p>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Hypervisor: Not required</a:t>
            </a:r>
          </a:p>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Startup Time: Seconds (near-instant)</a:t>
            </a:r>
          </a:p>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Resource Usage: Low (MBs of RAM/storage)</a:t>
            </a:r>
          </a:p>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Performance: Near-native, minimal overhead</a:t>
            </a:r>
          </a:p>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Isolation: Process-level (namespace)</a:t>
            </a:r>
          </a:p>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Storage: Small image size (MBs)</a:t>
            </a:r>
          </a:p>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Portability: Highly portable across environments</a:t>
            </a:r>
          </a:p>
          <a:p>
            <a:pPr marL="0" lvl="0" indent="0" algn="l">
              <a:lnSpc>
                <a:spcPts val="1679"/>
              </a:lnSpc>
            </a:pPr>
            <a:r>
              <a:rPr lang="en-US" sz="1200" spc="-12" dirty="0">
                <a:solidFill>
                  <a:srgbClr val="FFFFFF"/>
                </a:solidFill>
                <a:latin typeface="Montserrat Extra-Light"/>
                <a:ea typeface="Montserrat Extra-Light"/>
                <a:cs typeface="Montserrat Extra-Light"/>
                <a:sym typeface="Montserrat Extra-Light"/>
              </a:rPr>
              <a:t>Scalability: Fast, lightweight scaling</a:t>
            </a:r>
          </a:p>
        </p:txBody>
      </p:sp>
      <p:sp>
        <p:nvSpPr>
          <p:cNvPr id="10" name="TextBox 10"/>
          <p:cNvSpPr txBox="1"/>
          <p:nvPr/>
        </p:nvSpPr>
        <p:spPr>
          <a:xfrm>
            <a:off x="1028700" y="3958561"/>
            <a:ext cx="4161264" cy="285750"/>
          </a:xfrm>
          <a:prstGeom prst="rect">
            <a:avLst/>
          </a:prstGeom>
        </p:spPr>
        <p:txBody>
          <a:bodyPr lIns="0" tIns="0" rIns="0" bIns="0" rtlCol="0" anchor="t">
            <a:spAutoFit/>
          </a:bodyPr>
          <a:lstStyle/>
          <a:p>
            <a:pPr marL="0" lvl="0" indent="0" algn="l">
              <a:lnSpc>
                <a:spcPts val="2398"/>
              </a:lnSpc>
            </a:pPr>
            <a:r>
              <a:rPr lang="en-US" sz="1998" b="1" spc="-19" dirty="0">
                <a:solidFill>
                  <a:srgbClr val="FFFFFF"/>
                </a:solidFill>
                <a:latin typeface="Montserrat Medium"/>
                <a:ea typeface="Montserrat Medium"/>
                <a:cs typeface="Montserrat Medium"/>
                <a:sym typeface="Montserrat Medium"/>
              </a:rPr>
              <a:t>Virtual Machine (VM)</a:t>
            </a:r>
          </a:p>
        </p:txBody>
      </p:sp>
      <p:sp>
        <p:nvSpPr>
          <p:cNvPr id="11" name="TextBox 11"/>
          <p:cNvSpPr txBox="1"/>
          <p:nvPr/>
        </p:nvSpPr>
        <p:spPr>
          <a:xfrm>
            <a:off x="1028700" y="6476806"/>
            <a:ext cx="4161264" cy="285750"/>
          </a:xfrm>
          <a:prstGeom prst="rect">
            <a:avLst/>
          </a:prstGeom>
        </p:spPr>
        <p:txBody>
          <a:bodyPr lIns="0" tIns="0" rIns="0" bIns="0" rtlCol="0" anchor="t">
            <a:spAutoFit/>
          </a:bodyPr>
          <a:lstStyle/>
          <a:p>
            <a:pPr marL="0" lvl="0" indent="0" algn="l">
              <a:lnSpc>
                <a:spcPts val="2398"/>
              </a:lnSpc>
            </a:pPr>
            <a:r>
              <a:rPr lang="en-US" sz="1998" b="1" spc="-19">
                <a:solidFill>
                  <a:srgbClr val="FFFFFF"/>
                </a:solidFill>
                <a:latin typeface="Montserrat Medium"/>
                <a:ea typeface="Montserrat Medium"/>
                <a:cs typeface="Montserrat Medium"/>
                <a:sym typeface="Montserrat Medium"/>
              </a:rPr>
              <a:t>Key Takeaway</a:t>
            </a:r>
          </a:p>
        </p:txBody>
      </p:sp>
      <p:sp>
        <p:nvSpPr>
          <p:cNvPr id="12" name="TextBox 12"/>
          <p:cNvSpPr txBox="1"/>
          <p:nvPr/>
        </p:nvSpPr>
        <p:spPr>
          <a:xfrm>
            <a:off x="9144000" y="3958561"/>
            <a:ext cx="4161264" cy="285750"/>
          </a:xfrm>
          <a:prstGeom prst="rect">
            <a:avLst/>
          </a:prstGeom>
        </p:spPr>
        <p:txBody>
          <a:bodyPr lIns="0" tIns="0" rIns="0" bIns="0" rtlCol="0" anchor="t">
            <a:spAutoFit/>
          </a:bodyPr>
          <a:lstStyle/>
          <a:p>
            <a:pPr marL="0" lvl="0" indent="0" algn="l">
              <a:lnSpc>
                <a:spcPts val="2398"/>
              </a:lnSpc>
            </a:pPr>
            <a:r>
              <a:rPr lang="en-US" sz="1998" b="1" spc="-19" dirty="0">
                <a:solidFill>
                  <a:srgbClr val="FFFFFF"/>
                </a:solidFill>
                <a:latin typeface="Montserrat Medium"/>
                <a:ea typeface="Montserrat Medium"/>
                <a:cs typeface="Montserrat Medium"/>
                <a:sym typeface="Montserrat Medium"/>
              </a:rPr>
              <a:t>Container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4181">
                <a:alpha val="100000"/>
              </a:srgbClr>
            </a:gs>
            <a:gs pos="100000">
              <a:srgbClr val="0A254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526314" y="7383994"/>
            <a:ext cx="2416260" cy="1500593"/>
            <a:chOff x="0" y="0"/>
            <a:chExt cx="709705" cy="440755"/>
          </a:xfrm>
        </p:grpSpPr>
        <p:sp>
          <p:nvSpPr>
            <p:cNvPr id="3" name="Freeform 3"/>
            <p:cNvSpPr/>
            <p:nvPr/>
          </p:nvSpPr>
          <p:spPr>
            <a:xfrm>
              <a:off x="0" y="0"/>
              <a:ext cx="709705" cy="440755"/>
            </a:xfrm>
            <a:custGeom>
              <a:avLst/>
              <a:gdLst/>
              <a:ahLst/>
              <a:cxnLst/>
              <a:rect l="l" t="t" r="r" b="b"/>
              <a:pathLst>
                <a:path w="709705" h="440755">
                  <a:moveTo>
                    <a:pt x="0" y="0"/>
                  </a:moveTo>
                  <a:lnTo>
                    <a:pt x="709705" y="0"/>
                  </a:lnTo>
                  <a:lnTo>
                    <a:pt x="709705" y="440755"/>
                  </a:lnTo>
                  <a:lnTo>
                    <a:pt x="0" y="440755"/>
                  </a:lnTo>
                  <a:close/>
                </a:path>
              </a:pathLst>
            </a:custGeom>
            <a:solidFill>
              <a:srgbClr val="CAF0F8"/>
            </a:solidFill>
          </p:spPr>
        </p:sp>
        <p:sp>
          <p:nvSpPr>
            <p:cNvPr id="4" name="TextBox 4"/>
            <p:cNvSpPr txBox="1"/>
            <p:nvPr/>
          </p:nvSpPr>
          <p:spPr>
            <a:xfrm>
              <a:off x="0" y="-38100"/>
              <a:ext cx="709705" cy="47885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7769329" y="2625492"/>
            <a:ext cx="2416260" cy="1500593"/>
            <a:chOff x="0" y="0"/>
            <a:chExt cx="709705" cy="440755"/>
          </a:xfrm>
        </p:grpSpPr>
        <p:sp>
          <p:nvSpPr>
            <p:cNvPr id="6" name="Freeform 6"/>
            <p:cNvSpPr/>
            <p:nvPr/>
          </p:nvSpPr>
          <p:spPr>
            <a:xfrm>
              <a:off x="0" y="0"/>
              <a:ext cx="709705" cy="440755"/>
            </a:xfrm>
            <a:custGeom>
              <a:avLst/>
              <a:gdLst/>
              <a:ahLst/>
              <a:cxnLst/>
              <a:rect l="l" t="t" r="r" b="b"/>
              <a:pathLst>
                <a:path w="709705" h="440755">
                  <a:moveTo>
                    <a:pt x="0" y="0"/>
                  </a:moveTo>
                  <a:lnTo>
                    <a:pt x="709705" y="0"/>
                  </a:lnTo>
                  <a:lnTo>
                    <a:pt x="709705" y="440755"/>
                  </a:lnTo>
                  <a:lnTo>
                    <a:pt x="0" y="440755"/>
                  </a:lnTo>
                  <a:close/>
                </a:path>
              </a:pathLst>
            </a:custGeom>
            <a:solidFill>
              <a:srgbClr val="CAF0F8"/>
            </a:solidFill>
          </p:spPr>
        </p:sp>
        <p:sp>
          <p:nvSpPr>
            <p:cNvPr id="7" name="TextBox 7"/>
            <p:cNvSpPr txBox="1"/>
            <p:nvPr/>
          </p:nvSpPr>
          <p:spPr>
            <a:xfrm>
              <a:off x="0" y="-38100"/>
              <a:ext cx="709705" cy="47885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8" name="Freeform 8"/>
          <p:cNvSpPr/>
          <p:nvPr/>
        </p:nvSpPr>
        <p:spPr>
          <a:xfrm>
            <a:off x="10104549" y="910236"/>
            <a:ext cx="7170504" cy="5478222"/>
          </a:xfrm>
          <a:custGeom>
            <a:avLst/>
            <a:gdLst/>
            <a:ahLst/>
            <a:cxnLst/>
            <a:rect l="l" t="t" r="r" b="b"/>
            <a:pathLst>
              <a:path w="7170504" h="5478222">
                <a:moveTo>
                  <a:pt x="0" y="0"/>
                </a:moveTo>
                <a:lnTo>
                  <a:pt x="7170505" y="0"/>
                </a:lnTo>
                <a:lnTo>
                  <a:pt x="7170505" y="5478222"/>
                </a:lnTo>
                <a:lnTo>
                  <a:pt x="0" y="5478222"/>
                </a:lnTo>
                <a:lnTo>
                  <a:pt x="0" y="0"/>
                </a:lnTo>
                <a:close/>
              </a:path>
            </a:pathLst>
          </a:custGeom>
          <a:blipFill>
            <a:blip r:embed="rId2"/>
            <a:stretch>
              <a:fillRect/>
            </a:stretch>
          </a:blipFill>
        </p:spPr>
      </p:sp>
      <p:sp>
        <p:nvSpPr>
          <p:cNvPr id="9" name="TextBox 9"/>
          <p:cNvSpPr txBox="1"/>
          <p:nvPr/>
        </p:nvSpPr>
        <p:spPr>
          <a:xfrm>
            <a:off x="1882074" y="2684626"/>
            <a:ext cx="5861474" cy="1905018"/>
          </a:xfrm>
          <a:prstGeom prst="rect">
            <a:avLst/>
          </a:prstGeom>
        </p:spPr>
        <p:txBody>
          <a:bodyPr lIns="0" tIns="0" rIns="0" bIns="0" rtlCol="0" anchor="t">
            <a:spAutoFit/>
          </a:bodyPr>
          <a:lstStyle/>
          <a:p>
            <a:pPr marL="0" lvl="0" indent="0" algn="l">
              <a:lnSpc>
                <a:spcPts val="7200"/>
              </a:lnSpc>
            </a:pPr>
            <a:r>
              <a:rPr lang="en-US" sz="8000" b="1" spc="-640">
                <a:solidFill>
                  <a:srgbClr val="FFFFFF"/>
                </a:solidFill>
                <a:latin typeface="Montserrat Medium"/>
                <a:ea typeface="Montserrat Medium"/>
                <a:cs typeface="Montserrat Medium"/>
                <a:sym typeface="Montserrat Medium"/>
              </a:rPr>
              <a:t>Introduction to Docker</a:t>
            </a:r>
          </a:p>
        </p:txBody>
      </p:sp>
      <p:sp>
        <p:nvSpPr>
          <p:cNvPr id="10" name="TextBox 10"/>
          <p:cNvSpPr txBox="1"/>
          <p:nvPr/>
        </p:nvSpPr>
        <p:spPr>
          <a:xfrm>
            <a:off x="1882074" y="7827610"/>
            <a:ext cx="6339175" cy="1276951"/>
          </a:xfrm>
          <a:prstGeom prst="rect">
            <a:avLst/>
          </a:prstGeom>
        </p:spPr>
        <p:txBody>
          <a:bodyPr lIns="0" tIns="0" rIns="0" bIns="0" rtlCol="0" anchor="t">
            <a:spAutoFit/>
          </a:bodyPr>
          <a:lstStyle/>
          <a:p>
            <a:pPr marL="0" lvl="0" indent="0" algn="l">
              <a:lnSpc>
                <a:spcPts val="2066"/>
              </a:lnSpc>
            </a:pPr>
            <a:r>
              <a:rPr lang="en-US" sz="1476" spc="-14" dirty="0">
                <a:solidFill>
                  <a:srgbClr val="FFFFFF"/>
                </a:solidFill>
                <a:latin typeface="Montserrat Extra-Light"/>
                <a:ea typeface="Montserrat Extra-Light"/>
                <a:cs typeface="Montserrat Extra-Light"/>
                <a:sym typeface="Montserrat Extra-Light"/>
              </a:rPr>
              <a:t>Docker was launched in 2013 by Solomon </a:t>
            </a:r>
            <a:r>
              <a:rPr lang="en-US" sz="1476" spc="-14" dirty="0" err="1">
                <a:solidFill>
                  <a:srgbClr val="FFFFFF"/>
                </a:solidFill>
                <a:latin typeface="Montserrat Extra-Light"/>
                <a:ea typeface="Montserrat Extra-Light"/>
                <a:cs typeface="Montserrat Extra-Light"/>
                <a:sym typeface="Montserrat Extra-Light"/>
              </a:rPr>
              <a:t>Hykes</a:t>
            </a:r>
            <a:r>
              <a:rPr lang="en-US" sz="1476" spc="-14" dirty="0">
                <a:solidFill>
                  <a:srgbClr val="FFFFFF"/>
                </a:solidFill>
                <a:latin typeface="Montserrat Extra-Light"/>
                <a:ea typeface="Montserrat Extra-Light"/>
                <a:cs typeface="Montserrat Extra-Light"/>
                <a:sym typeface="Montserrat Extra-Light"/>
              </a:rPr>
              <a:t> at </a:t>
            </a:r>
            <a:r>
              <a:rPr lang="en-US" sz="1476" spc="-14" dirty="0" err="1">
                <a:solidFill>
                  <a:srgbClr val="FFFFFF"/>
                </a:solidFill>
                <a:latin typeface="Montserrat Extra-Light"/>
                <a:ea typeface="Montserrat Extra-Light"/>
                <a:cs typeface="Montserrat Extra-Light"/>
                <a:sym typeface="Montserrat Extra-Light"/>
              </a:rPr>
              <a:t>dotCloud</a:t>
            </a:r>
            <a:r>
              <a:rPr lang="en-US" sz="1476" spc="-14" dirty="0">
                <a:solidFill>
                  <a:srgbClr val="FFFFFF"/>
                </a:solidFill>
                <a:latin typeface="Montserrat Extra-Light"/>
                <a:ea typeface="Montserrat Extra-Light"/>
                <a:cs typeface="Montserrat Extra-Light"/>
                <a:sym typeface="Montserrat Extra-Light"/>
              </a:rPr>
              <a:t>. It revolutionized software deployment by packaging applications with all dependencies into portable containers. Key features include: lightweight containerization, image-based deployment, Docker Hub registry, cross-platform portability, and rapid application startup times.</a:t>
            </a:r>
          </a:p>
        </p:txBody>
      </p:sp>
      <p:sp>
        <p:nvSpPr>
          <p:cNvPr id="11" name="TextBox 11"/>
          <p:cNvSpPr txBox="1"/>
          <p:nvPr/>
        </p:nvSpPr>
        <p:spPr>
          <a:xfrm>
            <a:off x="10066751" y="7827610"/>
            <a:ext cx="6339175" cy="1276951"/>
          </a:xfrm>
          <a:prstGeom prst="rect">
            <a:avLst/>
          </a:prstGeom>
        </p:spPr>
        <p:txBody>
          <a:bodyPr lIns="0" tIns="0" rIns="0" bIns="0" rtlCol="0" anchor="t">
            <a:spAutoFit/>
          </a:bodyPr>
          <a:lstStyle/>
          <a:p>
            <a:pPr marL="0" lvl="0" indent="0" algn="l">
              <a:lnSpc>
                <a:spcPts val="2066"/>
              </a:lnSpc>
            </a:pPr>
            <a:r>
              <a:rPr lang="en-US" sz="1476" spc="-14" dirty="0">
                <a:solidFill>
                  <a:srgbClr val="FFFFFF"/>
                </a:solidFill>
                <a:latin typeface="Montserrat Extra-Light"/>
                <a:ea typeface="Montserrat Extra-Light"/>
                <a:cs typeface="Montserrat Extra-Light"/>
                <a:sym typeface="Montserrat Extra-Light"/>
              </a:rPr>
              <a:t>Docker eliminates the "works on my machine" problem by ensuring consistent environments across development, testing, and production. Developers can build, ship, and run applications faster, streamline CI/CD pipelines, reduce infrastructure costs, and collaborate efficiently using shared container images from registries.</a:t>
            </a:r>
          </a:p>
        </p:txBody>
      </p:sp>
      <p:sp>
        <p:nvSpPr>
          <p:cNvPr id="12" name="TextBox 12"/>
          <p:cNvSpPr txBox="1"/>
          <p:nvPr/>
        </p:nvSpPr>
        <p:spPr>
          <a:xfrm>
            <a:off x="1882074" y="7393519"/>
            <a:ext cx="6205294" cy="285750"/>
          </a:xfrm>
          <a:prstGeom prst="rect">
            <a:avLst/>
          </a:prstGeom>
        </p:spPr>
        <p:txBody>
          <a:bodyPr lIns="0" tIns="0" rIns="0" bIns="0" rtlCol="0" anchor="t">
            <a:spAutoFit/>
          </a:bodyPr>
          <a:lstStyle/>
          <a:p>
            <a:pPr marL="0" lvl="0" indent="0" algn="l">
              <a:lnSpc>
                <a:spcPts val="2398"/>
              </a:lnSpc>
            </a:pPr>
            <a:r>
              <a:rPr lang="en-US" sz="1998" b="1" spc="-19" dirty="0">
                <a:solidFill>
                  <a:srgbClr val="FFFFFF"/>
                </a:solidFill>
                <a:latin typeface="Montserrat Medium"/>
                <a:ea typeface="Montserrat Medium"/>
                <a:cs typeface="Montserrat Medium"/>
                <a:sym typeface="Montserrat Medium"/>
              </a:rPr>
              <a:t>History &amp; Key Features</a:t>
            </a:r>
          </a:p>
        </p:txBody>
      </p:sp>
      <p:sp>
        <p:nvSpPr>
          <p:cNvPr id="13" name="TextBox 13"/>
          <p:cNvSpPr txBox="1"/>
          <p:nvPr/>
        </p:nvSpPr>
        <p:spPr>
          <a:xfrm>
            <a:off x="10066751" y="7393519"/>
            <a:ext cx="4582725" cy="285750"/>
          </a:xfrm>
          <a:prstGeom prst="rect">
            <a:avLst/>
          </a:prstGeom>
        </p:spPr>
        <p:txBody>
          <a:bodyPr lIns="0" tIns="0" rIns="0" bIns="0" rtlCol="0" anchor="t">
            <a:spAutoFit/>
          </a:bodyPr>
          <a:lstStyle/>
          <a:p>
            <a:pPr marL="0" lvl="0" indent="0" algn="l">
              <a:lnSpc>
                <a:spcPts val="2398"/>
              </a:lnSpc>
            </a:pPr>
            <a:r>
              <a:rPr lang="en-US" sz="1998" b="1" spc="-19" dirty="0">
                <a:solidFill>
                  <a:srgbClr val="FFFFFF"/>
                </a:solidFill>
                <a:latin typeface="Montserrat Medium"/>
                <a:ea typeface="Montserrat Medium"/>
                <a:cs typeface="Montserrat Medium"/>
                <a:sym typeface="Montserrat Medium"/>
              </a:rPr>
              <a:t>Impact on Developer Productivity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4181">
                <a:alpha val="100000"/>
              </a:srgbClr>
            </a:gs>
            <a:gs pos="100000">
              <a:srgbClr val="0A2540">
                <a:alpha val="100000"/>
              </a:srgbClr>
            </a:gs>
          </a:gsLst>
          <a:path path="circle">
            <a:fillToRect l="50000" t="50000" r="50000" b="50000"/>
          </a:path>
        </a:gra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5936083" cy="8229600"/>
            <a:chOff x="0" y="0"/>
            <a:chExt cx="2856069" cy="3959565"/>
          </a:xfrm>
        </p:grpSpPr>
        <p:sp>
          <p:nvSpPr>
            <p:cNvPr id="3" name="Freeform 3"/>
            <p:cNvSpPr/>
            <p:nvPr/>
          </p:nvSpPr>
          <p:spPr>
            <a:xfrm>
              <a:off x="0" y="0"/>
              <a:ext cx="2856073" cy="3959565"/>
            </a:xfrm>
            <a:custGeom>
              <a:avLst/>
              <a:gdLst/>
              <a:ahLst/>
              <a:cxnLst/>
              <a:rect l="l" t="t" r="r" b="b"/>
              <a:pathLst>
                <a:path w="2856073" h="3959565">
                  <a:moveTo>
                    <a:pt x="2856073" y="3343967"/>
                  </a:moveTo>
                  <a:lnTo>
                    <a:pt x="2856073" y="561989"/>
                  </a:lnTo>
                  <a:cubicBezTo>
                    <a:pt x="2856075" y="522853"/>
                    <a:pt x="2841651" y="485089"/>
                    <a:pt x="2815560" y="455919"/>
                  </a:cubicBezTo>
                  <a:lnTo>
                    <a:pt x="2441808" y="38122"/>
                  </a:lnTo>
                  <a:cubicBezTo>
                    <a:pt x="2420108" y="13865"/>
                    <a:pt x="2389103" y="0"/>
                    <a:pt x="2356557" y="0"/>
                  </a:cubicBezTo>
                  <a:lnTo>
                    <a:pt x="114384" y="0"/>
                  </a:lnTo>
                  <a:cubicBezTo>
                    <a:pt x="51211" y="0"/>
                    <a:pt x="0" y="51211"/>
                    <a:pt x="0" y="114384"/>
                  </a:cubicBezTo>
                  <a:lnTo>
                    <a:pt x="0" y="501214"/>
                  </a:lnTo>
                  <a:lnTo>
                    <a:pt x="0" y="3389310"/>
                  </a:lnTo>
                  <a:cubicBezTo>
                    <a:pt x="0" y="3433775"/>
                    <a:pt x="16390" y="3476680"/>
                    <a:pt x="46036" y="3509820"/>
                  </a:cubicBezTo>
                  <a:lnTo>
                    <a:pt x="414263" y="3921444"/>
                  </a:lnTo>
                  <a:cubicBezTo>
                    <a:pt x="435962" y="3945701"/>
                    <a:pt x="466967" y="3959565"/>
                    <a:pt x="499514" y="3959565"/>
                  </a:cubicBezTo>
                  <a:lnTo>
                    <a:pt x="2340185" y="3959565"/>
                  </a:lnTo>
                  <a:cubicBezTo>
                    <a:pt x="2370522" y="3959566"/>
                    <a:pt x="2399616" y="3947514"/>
                    <a:pt x="2421067" y="3926063"/>
                  </a:cubicBezTo>
                  <a:cubicBezTo>
                    <a:pt x="2442519" y="3904612"/>
                    <a:pt x="2454570" y="3875518"/>
                    <a:pt x="2454570" y="3845182"/>
                  </a:cubicBezTo>
                  <a:lnTo>
                    <a:pt x="2454570" y="3572736"/>
                  </a:lnTo>
                  <a:cubicBezTo>
                    <a:pt x="2454570" y="3509563"/>
                    <a:pt x="2505782" y="3458351"/>
                    <a:pt x="2568955" y="3458351"/>
                  </a:cubicBezTo>
                  <a:lnTo>
                    <a:pt x="2741687" y="3458351"/>
                  </a:lnTo>
                  <a:cubicBezTo>
                    <a:pt x="2772024" y="3458352"/>
                    <a:pt x="2801118" y="3446301"/>
                    <a:pt x="2822570" y="3424849"/>
                  </a:cubicBezTo>
                  <a:cubicBezTo>
                    <a:pt x="2844022" y="3403398"/>
                    <a:pt x="2856073" y="3374304"/>
                    <a:pt x="2856073" y="3343967"/>
                  </a:cubicBezTo>
                  <a:close/>
                </a:path>
              </a:pathLst>
            </a:custGeom>
            <a:blipFill>
              <a:blip r:embed="rId2"/>
              <a:stretch>
                <a:fillRect t="-90" b="-90"/>
              </a:stretch>
            </a:blipFill>
            <a:ln cap="sq">
              <a:noFill/>
              <a:prstDash val="solid"/>
              <a:miter/>
            </a:ln>
          </p:spPr>
        </p:sp>
      </p:grpSp>
      <p:grpSp>
        <p:nvGrpSpPr>
          <p:cNvPr id="4" name="Group 4"/>
          <p:cNvGrpSpPr/>
          <p:nvPr/>
        </p:nvGrpSpPr>
        <p:grpSpPr>
          <a:xfrm>
            <a:off x="8228275" y="4549258"/>
            <a:ext cx="10628249" cy="4351127"/>
            <a:chOff x="0" y="0"/>
            <a:chExt cx="3121732" cy="1278014"/>
          </a:xfrm>
        </p:grpSpPr>
        <p:sp>
          <p:nvSpPr>
            <p:cNvPr id="5" name="Freeform 5"/>
            <p:cNvSpPr/>
            <p:nvPr/>
          </p:nvSpPr>
          <p:spPr>
            <a:xfrm>
              <a:off x="0" y="0"/>
              <a:ext cx="3121732" cy="1278014"/>
            </a:xfrm>
            <a:custGeom>
              <a:avLst/>
              <a:gdLst/>
              <a:ahLst/>
              <a:cxnLst/>
              <a:rect l="l" t="t" r="r" b="b"/>
              <a:pathLst>
                <a:path w="3121732" h="1278014">
                  <a:moveTo>
                    <a:pt x="0" y="0"/>
                  </a:moveTo>
                  <a:lnTo>
                    <a:pt x="3121732" y="0"/>
                  </a:lnTo>
                  <a:lnTo>
                    <a:pt x="3121732" y="1278014"/>
                  </a:lnTo>
                  <a:lnTo>
                    <a:pt x="0" y="1278014"/>
                  </a:lnTo>
                  <a:close/>
                </a:path>
              </a:pathLst>
            </a:custGeom>
            <a:gradFill rotWithShape="1">
              <a:gsLst>
                <a:gs pos="0">
                  <a:srgbClr val="004181">
                    <a:alpha val="100000"/>
                  </a:srgbClr>
                </a:gs>
                <a:gs pos="100000">
                  <a:srgbClr val="004181">
                    <a:alpha val="0"/>
                  </a:srgbClr>
                </a:gs>
              </a:gsLst>
              <a:lin ang="0"/>
            </a:gradFill>
          </p:spPr>
        </p:sp>
        <p:sp>
          <p:nvSpPr>
            <p:cNvPr id="6" name="TextBox 6"/>
            <p:cNvSpPr txBox="1"/>
            <p:nvPr/>
          </p:nvSpPr>
          <p:spPr>
            <a:xfrm>
              <a:off x="0" y="-38100"/>
              <a:ext cx="3121732" cy="131611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7" name="TextBox 7"/>
          <p:cNvSpPr txBox="1"/>
          <p:nvPr/>
        </p:nvSpPr>
        <p:spPr>
          <a:xfrm>
            <a:off x="8455674" y="1123950"/>
            <a:ext cx="6853242" cy="636270"/>
          </a:xfrm>
          <a:prstGeom prst="rect">
            <a:avLst/>
          </a:prstGeom>
        </p:spPr>
        <p:txBody>
          <a:bodyPr lIns="0" tIns="0" rIns="0" bIns="0" rtlCol="0" anchor="t">
            <a:spAutoFit/>
          </a:bodyPr>
          <a:lstStyle/>
          <a:p>
            <a:pPr marL="0" lvl="0" indent="0" algn="l">
              <a:lnSpc>
                <a:spcPts val="4800"/>
              </a:lnSpc>
            </a:pPr>
            <a:r>
              <a:rPr lang="en-US" sz="4800" b="1" spc="-384">
                <a:solidFill>
                  <a:srgbClr val="FFFFFF"/>
                </a:solidFill>
                <a:latin typeface="Montserrat Medium"/>
                <a:ea typeface="Montserrat Medium"/>
                <a:cs typeface="Montserrat Medium"/>
                <a:sym typeface="Montserrat Medium"/>
              </a:rPr>
              <a:t>Docker Architecture</a:t>
            </a:r>
          </a:p>
        </p:txBody>
      </p:sp>
      <p:grpSp>
        <p:nvGrpSpPr>
          <p:cNvPr id="8" name="Group 8"/>
          <p:cNvGrpSpPr/>
          <p:nvPr/>
        </p:nvGrpSpPr>
        <p:grpSpPr>
          <a:xfrm>
            <a:off x="8686931" y="5159463"/>
            <a:ext cx="432498" cy="264799"/>
            <a:chOff x="0" y="0"/>
            <a:chExt cx="576664" cy="353065"/>
          </a:xfrm>
        </p:grpSpPr>
        <p:grpSp>
          <p:nvGrpSpPr>
            <p:cNvPr id="9" name="Group 9"/>
            <p:cNvGrpSpPr/>
            <p:nvPr/>
          </p:nvGrpSpPr>
          <p:grpSpPr>
            <a:xfrm>
              <a:off x="0" y="0"/>
              <a:ext cx="576664" cy="353065"/>
              <a:chOff x="0" y="0"/>
              <a:chExt cx="127033" cy="77777"/>
            </a:xfrm>
          </p:grpSpPr>
          <p:sp>
            <p:nvSpPr>
              <p:cNvPr id="10" name="Freeform 10"/>
              <p:cNvSpPr/>
              <p:nvPr/>
            </p:nvSpPr>
            <p:spPr>
              <a:xfrm>
                <a:off x="0" y="0"/>
                <a:ext cx="127034" cy="77777"/>
              </a:xfrm>
              <a:custGeom>
                <a:avLst/>
                <a:gdLst/>
                <a:ahLst/>
                <a:cxnLst/>
                <a:rect l="l" t="t" r="r" b="b"/>
                <a:pathLst>
                  <a:path w="127034" h="77777">
                    <a:moveTo>
                      <a:pt x="0" y="0"/>
                    </a:moveTo>
                    <a:lnTo>
                      <a:pt x="127034" y="0"/>
                    </a:lnTo>
                    <a:lnTo>
                      <a:pt x="127034" y="77777"/>
                    </a:lnTo>
                    <a:lnTo>
                      <a:pt x="0" y="77777"/>
                    </a:lnTo>
                    <a:close/>
                  </a:path>
                </a:pathLst>
              </a:custGeom>
              <a:solidFill>
                <a:srgbClr val="CAF0F8"/>
              </a:solidFill>
            </p:spPr>
          </p:sp>
          <p:sp>
            <p:nvSpPr>
              <p:cNvPr id="11" name="TextBox 11"/>
              <p:cNvSpPr txBox="1"/>
              <p:nvPr/>
            </p:nvSpPr>
            <p:spPr>
              <a:xfrm>
                <a:off x="0" y="-38100"/>
                <a:ext cx="127033" cy="11587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TextBox 12"/>
            <p:cNvSpPr txBox="1"/>
            <p:nvPr/>
          </p:nvSpPr>
          <p:spPr>
            <a:xfrm>
              <a:off x="58306" y="73662"/>
              <a:ext cx="460052" cy="224790"/>
            </a:xfrm>
            <a:prstGeom prst="rect">
              <a:avLst/>
            </a:prstGeom>
          </p:spPr>
          <p:txBody>
            <a:bodyPr lIns="0" tIns="0" rIns="0" bIns="0" rtlCol="0" anchor="t">
              <a:spAutoFit/>
            </a:bodyPr>
            <a:lstStyle/>
            <a:p>
              <a:pPr marL="0" lvl="0" indent="0" algn="ctr">
                <a:lnSpc>
                  <a:spcPts val="1200"/>
                </a:lnSpc>
              </a:pPr>
              <a:r>
                <a:rPr lang="en-US" sz="1200" b="1" spc="-96">
                  <a:solidFill>
                    <a:srgbClr val="000000"/>
                  </a:solidFill>
                  <a:latin typeface="Montserrat Semi-Bold"/>
                  <a:ea typeface="Montserrat Semi-Bold"/>
                  <a:cs typeface="Montserrat Semi-Bold"/>
                  <a:sym typeface="Montserrat Semi-Bold"/>
                </a:rPr>
                <a:t>01</a:t>
              </a:r>
            </a:p>
          </p:txBody>
        </p:sp>
      </p:grpSp>
      <p:grpSp>
        <p:nvGrpSpPr>
          <p:cNvPr id="13" name="Group 13"/>
          <p:cNvGrpSpPr/>
          <p:nvPr/>
        </p:nvGrpSpPr>
        <p:grpSpPr>
          <a:xfrm>
            <a:off x="8686931" y="7055766"/>
            <a:ext cx="432498" cy="380332"/>
            <a:chOff x="0" y="0"/>
            <a:chExt cx="127033" cy="111711"/>
          </a:xfrm>
        </p:grpSpPr>
        <p:sp>
          <p:nvSpPr>
            <p:cNvPr id="14" name="Freeform 14"/>
            <p:cNvSpPr/>
            <p:nvPr/>
          </p:nvSpPr>
          <p:spPr>
            <a:xfrm>
              <a:off x="0" y="0"/>
              <a:ext cx="127034" cy="111711"/>
            </a:xfrm>
            <a:custGeom>
              <a:avLst/>
              <a:gdLst/>
              <a:ahLst/>
              <a:cxnLst/>
              <a:rect l="l" t="t" r="r" b="b"/>
              <a:pathLst>
                <a:path w="127034" h="111711">
                  <a:moveTo>
                    <a:pt x="0" y="0"/>
                  </a:moveTo>
                  <a:lnTo>
                    <a:pt x="127034" y="0"/>
                  </a:lnTo>
                  <a:lnTo>
                    <a:pt x="127034" y="111711"/>
                  </a:lnTo>
                  <a:lnTo>
                    <a:pt x="0" y="111711"/>
                  </a:lnTo>
                  <a:close/>
                </a:path>
              </a:pathLst>
            </a:custGeom>
            <a:solidFill>
              <a:srgbClr val="4EA8DE"/>
            </a:solidFill>
          </p:spPr>
        </p:sp>
        <p:sp>
          <p:nvSpPr>
            <p:cNvPr id="15" name="TextBox 15"/>
            <p:cNvSpPr txBox="1"/>
            <p:nvPr/>
          </p:nvSpPr>
          <p:spPr>
            <a:xfrm>
              <a:off x="0" y="-38100"/>
              <a:ext cx="127033" cy="14981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6" name="TextBox 16"/>
          <p:cNvSpPr txBox="1"/>
          <p:nvPr/>
        </p:nvSpPr>
        <p:spPr>
          <a:xfrm>
            <a:off x="8730661" y="7115775"/>
            <a:ext cx="345039" cy="163830"/>
          </a:xfrm>
          <a:prstGeom prst="rect">
            <a:avLst/>
          </a:prstGeom>
        </p:spPr>
        <p:txBody>
          <a:bodyPr lIns="0" tIns="0" rIns="0" bIns="0" rtlCol="0" anchor="t">
            <a:spAutoFit/>
          </a:bodyPr>
          <a:lstStyle/>
          <a:p>
            <a:pPr marL="0" lvl="0" indent="0" algn="ctr">
              <a:lnSpc>
                <a:spcPts val="1200"/>
              </a:lnSpc>
            </a:pPr>
            <a:r>
              <a:rPr lang="en-US" sz="1200" b="1" spc="-96">
                <a:solidFill>
                  <a:srgbClr val="000000"/>
                </a:solidFill>
                <a:latin typeface="Montserrat Semi-Bold"/>
                <a:ea typeface="Montserrat Semi-Bold"/>
                <a:cs typeface="Montserrat Semi-Bold"/>
                <a:sym typeface="Montserrat Semi-Bold"/>
              </a:rPr>
              <a:t>02</a:t>
            </a:r>
          </a:p>
        </p:txBody>
      </p:sp>
      <p:grpSp>
        <p:nvGrpSpPr>
          <p:cNvPr id="17" name="Group 17"/>
          <p:cNvGrpSpPr/>
          <p:nvPr/>
        </p:nvGrpSpPr>
        <p:grpSpPr>
          <a:xfrm>
            <a:off x="13426771" y="5159463"/>
            <a:ext cx="432498" cy="380332"/>
            <a:chOff x="0" y="0"/>
            <a:chExt cx="127033" cy="111711"/>
          </a:xfrm>
        </p:grpSpPr>
        <p:sp>
          <p:nvSpPr>
            <p:cNvPr id="18" name="Freeform 18"/>
            <p:cNvSpPr/>
            <p:nvPr/>
          </p:nvSpPr>
          <p:spPr>
            <a:xfrm>
              <a:off x="0" y="0"/>
              <a:ext cx="127034" cy="111711"/>
            </a:xfrm>
            <a:custGeom>
              <a:avLst/>
              <a:gdLst/>
              <a:ahLst/>
              <a:cxnLst/>
              <a:rect l="l" t="t" r="r" b="b"/>
              <a:pathLst>
                <a:path w="127034" h="111711">
                  <a:moveTo>
                    <a:pt x="0" y="0"/>
                  </a:moveTo>
                  <a:lnTo>
                    <a:pt x="127034" y="0"/>
                  </a:lnTo>
                  <a:lnTo>
                    <a:pt x="127034" y="111711"/>
                  </a:lnTo>
                  <a:lnTo>
                    <a:pt x="0" y="111711"/>
                  </a:lnTo>
                  <a:close/>
                </a:path>
              </a:pathLst>
            </a:custGeom>
            <a:solidFill>
              <a:srgbClr val="4EA8DE"/>
            </a:solidFill>
          </p:spPr>
        </p:sp>
        <p:sp>
          <p:nvSpPr>
            <p:cNvPr id="19" name="TextBox 19"/>
            <p:cNvSpPr txBox="1"/>
            <p:nvPr/>
          </p:nvSpPr>
          <p:spPr>
            <a:xfrm>
              <a:off x="0" y="-38100"/>
              <a:ext cx="127033" cy="14981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0" name="TextBox 20"/>
          <p:cNvSpPr txBox="1"/>
          <p:nvPr/>
        </p:nvSpPr>
        <p:spPr>
          <a:xfrm>
            <a:off x="13470501" y="5219473"/>
            <a:ext cx="345039" cy="163830"/>
          </a:xfrm>
          <a:prstGeom prst="rect">
            <a:avLst/>
          </a:prstGeom>
        </p:spPr>
        <p:txBody>
          <a:bodyPr lIns="0" tIns="0" rIns="0" bIns="0" rtlCol="0" anchor="t">
            <a:spAutoFit/>
          </a:bodyPr>
          <a:lstStyle/>
          <a:p>
            <a:pPr marL="0" lvl="0" indent="0" algn="ctr">
              <a:lnSpc>
                <a:spcPts val="1200"/>
              </a:lnSpc>
            </a:pPr>
            <a:r>
              <a:rPr lang="en-US" sz="1200" b="1" spc="-96">
                <a:solidFill>
                  <a:srgbClr val="000000"/>
                </a:solidFill>
                <a:latin typeface="Montserrat Semi-Bold"/>
                <a:ea typeface="Montserrat Semi-Bold"/>
                <a:cs typeface="Montserrat Semi-Bold"/>
                <a:sym typeface="Montserrat Semi-Bold"/>
              </a:rPr>
              <a:t>03</a:t>
            </a:r>
          </a:p>
        </p:txBody>
      </p:sp>
      <p:grpSp>
        <p:nvGrpSpPr>
          <p:cNvPr id="21" name="Group 21"/>
          <p:cNvGrpSpPr/>
          <p:nvPr/>
        </p:nvGrpSpPr>
        <p:grpSpPr>
          <a:xfrm>
            <a:off x="13426771" y="7055766"/>
            <a:ext cx="432498" cy="380332"/>
            <a:chOff x="0" y="0"/>
            <a:chExt cx="127033" cy="111711"/>
          </a:xfrm>
        </p:grpSpPr>
        <p:sp>
          <p:nvSpPr>
            <p:cNvPr id="22" name="Freeform 22"/>
            <p:cNvSpPr/>
            <p:nvPr/>
          </p:nvSpPr>
          <p:spPr>
            <a:xfrm>
              <a:off x="0" y="0"/>
              <a:ext cx="127034" cy="111711"/>
            </a:xfrm>
            <a:custGeom>
              <a:avLst/>
              <a:gdLst/>
              <a:ahLst/>
              <a:cxnLst/>
              <a:rect l="l" t="t" r="r" b="b"/>
              <a:pathLst>
                <a:path w="127034" h="111711">
                  <a:moveTo>
                    <a:pt x="0" y="0"/>
                  </a:moveTo>
                  <a:lnTo>
                    <a:pt x="127034" y="0"/>
                  </a:lnTo>
                  <a:lnTo>
                    <a:pt x="127034" y="111711"/>
                  </a:lnTo>
                  <a:lnTo>
                    <a:pt x="0" y="111711"/>
                  </a:lnTo>
                  <a:close/>
                </a:path>
              </a:pathLst>
            </a:custGeom>
            <a:solidFill>
              <a:srgbClr val="CAF0F8"/>
            </a:solidFill>
          </p:spPr>
        </p:sp>
        <p:sp>
          <p:nvSpPr>
            <p:cNvPr id="23" name="TextBox 23"/>
            <p:cNvSpPr txBox="1"/>
            <p:nvPr/>
          </p:nvSpPr>
          <p:spPr>
            <a:xfrm>
              <a:off x="0" y="-38100"/>
              <a:ext cx="127033" cy="14981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4" name="TextBox 24"/>
          <p:cNvSpPr txBox="1"/>
          <p:nvPr/>
        </p:nvSpPr>
        <p:spPr>
          <a:xfrm>
            <a:off x="13470501" y="7115775"/>
            <a:ext cx="345039" cy="163830"/>
          </a:xfrm>
          <a:prstGeom prst="rect">
            <a:avLst/>
          </a:prstGeom>
        </p:spPr>
        <p:txBody>
          <a:bodyPr lIns="0" tIns="0" rIns="0" bIns="0" rtlCol="0" anchor="t">
            <a:spAutoFit/>
          </a:bodyPr>
          <a:lstStyle/>
          <a:p>
            <a:pPr marL="0" lvl="0" indent="0" algn="ctr">
              <a:lnSpc>
                <a:spcPts val="1200"/>
              </a:lnSpc>
            </a:pPr>
            <a:r>
              <a:rPr lang="en-US" sz="1200" b="1" spc="-96">
                <a:solidFill>
                  <a:srgbClr val="000000"/>
                </a:solidFill>
                <a:latin typeface="Montserrat Semi-Bold"/>
                <a:ea typeface="Montserrat Semi-Bold"/>
                <a:cs typeface="Montserrat Semi-Bold"/>
                <a:sym typeface="Montserrat Semi-Bold"/>
              </a:rPr>
              <a:t>04</a:t>
            </a:r>
          </a:p>
        </p:txBody>
      </p:sp>
      <p:sp>
        <p:nvSpPr>
          <p:cNvPr id="25" name="TextBox 25"/>
          <p:cNvSpPr txBox="1"/>
          <p:nvPr/>
        </p:nvSpPr>
        <p:spPr>
          <a:xfrm>
            <a:off x="9261041" y="5596641"/>
            <a:ext cx="3885633" cy="82677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The Developer writes Dockerfiles and issues commands via the Docker Client (CLI or API). The client communicates with the Docker Daemon by sending build, pull, and run instructions.</a:t>
            </a:r>
          </a:p>
        </p:txBody>
      </p:sp>
      <p:sp>
        <p:nvSpPr>
          <p:cNvPr id="26" name="TextBox 26"/>
          <p:cNvSpPr txBox="1"/>
          <p:nvPr/>
        </p:nvSpPr>
        <p:spPr>
          <a:xfrm>
            <a:off x="9261041" y="7508907"/>
            <a:ext cx="3885633" cy="82677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The Docker Daemon (dockerd) listens for API requests and manages Docker objects. The Docker Engine combines the daemon, REST API, and CLI to build and run containers on the host OS.</a:t>
            </a:r>
          </a:p>
        </p:txBody>
      </p:sp>
      <p:sp>
        <p:nvSpPr>
          <p:cNvPr id="27" name="TextBox 27"/>
          <p:cNvSpPr txBox="1"/>
          <p:nvPr/>
        </p:nvSpPr>
        <p:spPr>
          <a:xfrm>
            <a:off x="14002144" y="5596641"/>
            <a:ext cx="3816256" cy="82677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Docker Images are read-only layered templates used to create containers. Docker Containers are running instances of images — isolated, lightweight processes sharing the host OS kernel.</a:t>
            </a:r>
          </a:p>
        </p:txBody>
      </p:sp>
      <p:sp>
        <p:nvSpPr>
          <p:cNvPr id="28" name="TextBox 28"/>
          <p:cNvSpPr txBox="1"/>
          <p:nvPr/>
        </p:nvSpPr>
        <p:spPr>
          <a:xfrm>
            <a:off x="14002144" y="7508907"/>
            <a:ext cx="3816256" cy="82677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The Docker Registry stores and distributes Docker images. Docker Hub is the default public registry. Teams can also use private registries such as Azure ACR, Amazon ECR, or Google Artifact Registry.</a:t>
            </a:r>
          </a:p>
        </p:txBody>
      </p:sp>
      <p:sp>
        <p:nvSpPr>
          <p:cNvPr id="29" name="TextBox 29"/>
          <p:cNvSpPr txBox="1"/>
          <p:nvPr/>
        </p:nvSpPr>
        <p:spPr>
          <a:xfrm>
            <a:off x="9261041" y="5143500"/>
            <a:ext cx="1799859" cy="361950"/>
          </a:xfrm>
          <a:prstGeom prst="rect">
            <a:avLst/>
          </a:prstGeom>
        </p:spPr>
        <p:txBody>
          <a:bodyPr lIns="0" tIns="0" rIns="0" bIns="0" rtlCol="0" anchor="t">
            <a:spAutoFit/>
          </a:bodyPr>
          <a:lstStyle/>
          <a:p>
            <a:pPr marL="0" lvl="0" indent="0" algn="l">
              <a:lnSpc>
                <a:spcPts val="1439"/>
              </a:lnSpc>
            </a:pPr>
            <a:r>
              <a:rPr lang="en-US" sz="1200" b="1" spc="-12">
                <a:solidFill>
                  <a:srgbClr val="FFFFFF"/>
                </a:solidFill>
                <a:latin typeface="Montserrat Medium"/>
                <a:ea typeface="Montserrat Medium"/>
                <a:cs typeface="Montserrat Medium"/>
                <a:sym typeface="Montserrat Medium"/>
              </a:rPr>
              <a:t>Developer &amp; Docker Client</a:t>
            </a:r>
          </a:p>
        </p:txBody>
      </p:sp>
      <p:sp>
        <p:nvSpPr>
          <p:cNvPr id="30" name="TextBox 30"/>
          <p:cNvSpPr txBox="1"/>
          <p:nvPr/>
        </p:nvSpPr>
        <p:spPr>
          <a:xfrm>
            <a:off x="9261041" y="7055766"/>
            <a:ext cx="1799859" cy="361950"/>
          </a:xfrm>
          <a:prstGeom prst="rect">
            <a:avLst/>
          </a:prstGeom>
        </p:spPr>
        <p:txBody>
          <a:bodyPr lIns="0" tIns="0" rIns="0" bIns="0" rtlCol="0" anchor="t">
            <a:spAutoFit/>
          </a:bodyPr>
          <a:lstStyle/>
          <a:p>
            <a:pPr marL="0" lvl="0" indent="0" algn="l">
              <a:lnSpc>
                <a:spcPts val="1439"/>
              </a:lnSpc>
            </a:pPr>
            <a:r>
              <a:rPr lang="en-US" sz="1200" b="1" spc="-12">
                <a:solidFill>
                  <a:srgbClr val="FFFFFF"/>
                </a:solidFill>
                <a:latin typeface="Montserrat Medium"/>
                <a:ea typeface="Montserrat Medium"/>
                <a:cs typeface="Montserrat Medium"/>
                <a:sym typeface="Montserrat Medium"/>
              </a:rPr>
              <a:t>Docker Daemon &amp; Engine</a:t>
            </a:r>
          </a:p>
        </p:txBody>
      </p:sp>
      <p:sp>
        <p:nvSpPr>
          <p:cNvPr id="31" name="TextBox 31"/>
          <p:cNvSpPr txBox="1"/>
          <p:nvPr/>
        </p:nvSpPr>
        <p:spPr>
          <a:xfrm>
            <a:off x="14002144" y="5143500"/>
            <a:ext cx="2402692" cy="180975"/>
          </a:xfrm>
          <a:prstGeom prst="rect">
            <a:avLst/>
          </a:prstGeom>
        </p:spPr>
        <p:txBody>
          <a:bodyPr lIns="0" tIns="0" rIns="0" bIns="0" rtlCol="0" anchor="t">
            <a:spAutoFit/>
          </a:bodyPr>
          <a:lstStyle/>
          <a:p>
            <a:pPr marL="0" lvl="0" indent="0" algn="l">
              <a:lnSpc>
                <a:spcPts val="1439"/>
              </a:lnSpc>
            </a:pPr>
            <a:r>
              <a:rPr lang="en-US" sz="1200" b="1" spc="-12">
                <a:solidFill>
                  <a:srgbClr val="FFFFFF"/>
                </a:solidFill>
                <a:latin typeface="Montserrat Medium"/>
                <a:ea typeface="Montserrat Medium"/>
                <a:cs typeface="Montserrat Medium"/>
                <a:sym typeface="Montserrat Medium"/>
              </a:rPr>
              <a:t>Docker Images &amp; Containers</a:t>
            </a:r>
          </a:p>
        </p:txBody>
      </p:sp>
      <p:sp>
        <p:nvSpPr>
          <p:cNvPr id="32" name="TextBox 32"/>
          <p:cNvSpPr txBox="1"/>
          <p:nvPr/>
        </p:nvSpPr>
        <p:spPr>
          <a:xfrm>
            <a:off x="14002144" y="7055766"/>
            <a:ext cx="2402692" cy="180975"/>
          </a:xfrm>
          <a:prstGeom prst="rect">
            <a:avLst/>
          </a:prstGeom>
        </p:spPr>
        <p:txBody>
          <a:bodyPr lIns="0" tIns="0" rIns="0" bIns="0" rtlCol="0" anchor="t">
            <a:spAutoFit/>
          </a:bodyPr>
          <a:lstStyle/>
          <a:p>
            <a:pPr marL="0" lvl="0" indent="0" algn="l">
              <a:lnSpc>
                <a:spcPts val="1439"/>
              </a:lnSpc>
            </a:pPr>
            <a:r>
              <a:rPr lang="en-US" sz="1200" b="1" spc="-12">
                <a:solidFill>
                  <a:srgbClr val="FFFFFF"/>
                </a:solidFill>
                <a:latin typeface="Montserrat Medium"/>
                <a:ea typeface="Montserrat Medium"/>
                <a:cs typeface="Montserrat Medium"/>
                <a:sym typeface="Montserrat Medium"/>
              </a:rPr>
              <a:t>Docker Registry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4181">
                <a:alpha val="100000"/>
              </a:srgbClr>
            </a:gs>
            <a:gs pos="100000">
              <a:srgbClr val="0A254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028700" y="3926038"/>
            <a:ext cx="16230600" cy="4974747"/>
            <a:chOff x="0" y="0"/>
            <a:chExt cx="4767256" cy="1461184"/>
          </a:xfrm>
        </p:grpSpPr>
        <p:sp>
          <p:nvSpPr>
            <p:cNvPr id="3" name="Freeform 3"/>
            <p:cNvSpPr/>
            <p:nvPr/>
          </p:nvSpPr>
          <p:spPr>
            <a:xfrm>
              <a:off x="0" y="0"/>
              <a:ext cx="4767256" cy="1461184"/>
            </a:xfrm>
            <a:custGeom>
              <a:avLst/>
              <a:gdLst/>
              <a:ahLst/>
              <a:cxnLst/>
              <a:rect l="l" t="t" r="r" b="b"/>
              <a:pathLst>
                <a:path w="4767256" h="1461184">
                  <a:moveTo>
                    <a:pt x="0" y="0"/>
                  </a:moveTo>
                  <a:lnTo>
                    <a:pt x="4767256" y="0"/>
                  </a:lnTo>
                  <a:lnTo>
                    <a:pt x="4767256" y="1461184"/>
                  </a:lnTo>
                  <a:lnTo>
                    <a:pt x="0" y="1461184"/>
                  </a:lnTo>
                  <a:close/>
                </a:path>
              </a:pathLst>
            </a:custGeom>
            <a:gradFill rotWithShape="1">
              <a:gsLst>
                <a:gs pos="0">
                  <a:srgbClr val="004181">
                    <a:alpha val="0"/>
                  </a:srgbClr>
                </a:gs>
                <a:gs pos="100000">
                  <a:srgbClr val="004181">
                    <a:alpha val="100000"/>
                  </a:srgbClr>
                </a:gs>
              </a:gsLst>
              <a:lin ang="5400000"/>
            </a:gradFill>
          </p:spPr>
        </p:sp>
        <p:sp>
          <p:nvSpPr>
            <p:cNvPr id="4" name="TextBox 4"/>
            <p:cNvSpPr txBox="1"/>
            <p:nvPr/>
          </p:nvSpPr>
          <p:spPr>
            <a:xfrm>
              <a:off x="0" y="-38100"/>
              <a:ext cx="4767256" cy="149928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2430881" y="1905420"/>
            <a:ext cx="4091275" cy="2899691"/>
          </a:xfrm>
          <a:custGeom>
            <a:avLst/>
            <a:gdLst/>
            <a:ahLst/>
            <a:cxnLst/>
            <a:rect l="l" t="t" r="r" b="b"/>
            <a:pathLst>
              <a:path w="4091275" h="2899691">
                <a:moveTo>
                  <a:pt x="0" y="0"/>
                </a:moveTo>
                <a:lnTo>
                  <a:pt x="4091276" y="0"/>
                </a:lnTo>
                <a:lnTo>
                  <a:pt x="4091276" y="2899691"/>
                </a:lnTo>
                <a:lnTo>
                  <a:pt x="0" y="2899691"/>
                </a:lnTo>
                <a:lnTo>
                  <a:pt x="0" y="0"/>
                </a:lnTo>
                <a:close/>
              </a:path>
            </a:pathLst>
          </a:custGeom>
          <a:blipFill>
            <a:blip r:embed="rId2"/>
            <a:stretch>
              <a:fillRect/>
            </a:stretch>
          </a:blipFill>
        </p:spPr>
      </p:sp>
      <p:sp>
        <p:nvSpPr>
          <p:cNvPr id="6" name="TextBox 6"/>
          <p:cNvSpPr txBox="1"/>
          <p:nvPr/>
        </p:nvSpPr>
        <p:spPr>
          <a:xfrm>
            <a:off x="7682784" y="2126455"/>
            <a:ext cx="8211554" cy="1060451"/>
          </a:xfrm>
          <a:prstGeom prst="rect">
            <a:avLst/>
          </a:prstGeom>
        </p:spPr>
        <p:txBody>
          <a:bodyPr lIns="0" tIns="0" rIns="0" bIns="0" rtlCol="0" anchor="t">
            <a:spAutoFit/>
          </a:bodyPr>
          <a:lstStyle/>
          <a:p>
            <a:pPr marL="0" lvl="0" indent="0" algn="l">
              <a:lnSpc>
                <a:spcPts val="8000"/>
              </a:lnSpc>
            </a:pPr>
            <a:r>
              <a:rPr lang="en-US" sz="8000" b="1" spc="-640">
                <a:solidFill>
                  <a:srgbClr val="FFFFFF"/>
                </a:solidFill>
                <a:latin typeface="Montserrat Medium"/>
                <a:ea typeface="Montserrat Medium"/>
                <a:cs typeface="Montserrat Medium"/>
                <a:sym typeface="Montserrat Medium"/>
              </a:rPr>
              <a:t>Docker Images</a:t>
            </a:r>
          </a:p>
        </p:txBody>
      </p:sp>
      <p:grpSp>
        <p:nvGrpSpPr>
          <p:cNvPr id="7" name="Group 7"/>
          <p:cNvGrpSpPr/>
          <p:nvPr/>
        </p:nvGrpSpPr>
        <p:grpSpPr>
          <a:xfrm>
            <a:off x="1864676" y="6149534"/>
            <a:ext cx="4161264" cy="2060602"/>
            <a:chOff x="0" y="0"/>
            <a:chExt cx="5548351" cy="2747470"/>
          </a:xfrm>
        </p:grpSpPr>
        <p:sp>
          <p:nvSpPr>
            <p:cNvPr id="8" name="TextBox 8"/>
            <p:cNvSpPr txBox="1"/>
            <p:nvPr/>
          </p:nvSpPr>
          <p:spPr>
            <a:xfrm>
              <a:off x="0" y="553487"/>
              <a:ext cx="5268634" cy="2193983"/>
            </a:xfrm>
            <a:prstGeom prst="rect">
              <a:avLst/>
            </a:prstGeom>
          </p:spPr>
          <p:txBody>
            <a:bodyPr lIns="0" tIns="0" rIns="0" bIns="0" rtlCol="0" anchor="t">
              <a:spAutoFit/>
            </a:bodyPr>
            <a:lstStyle/>
            <a:p>
              <a:pPr marL="0" lvl="0" indent="0" algn="l">
                <a:lnSpc>
                  <a:spcPts val="2228"/>
                </a:lnSpc>
              </a:pPr>
              <a:r>
                <a:rPr lang="en-US" sz="1592" spc="-15">
                  <a:solidFill>
                    <a:srgbClr val="FFFFFF"/>
                  </a:solidFill>
                  <a:latin typeface="Montserrat Extra-Light"/>
                  <a:ea typeface="Montserrat Extra-Light"/>
                  <a:cs typeface="Montserrat Extra-Light"/>
                  <a:sym typeface="Montserrat Extra-Light"/>
                </a:rPr>
                <a:t>A Docker image is a lightweight, standalone, read-only template used to create containers. It packages application code, libraries, dependencies, and runtime into a single portable unit.</a:t>
              </a:r>
            </a:p>
          </p:txBody>
        </p:sp>
        <p:sp>
          <p:nvSpPr>
            <p:cNvPr id="9" name="TextBox 9"/>
            <p:cNvSpPr txBox="1"/>
            <p:nvPr/>
          </p:nvSpPr>
          <p:spPr>
            <a:xfrm>
              <a:off x="0" y="-9525"/>
              <a:ext cx="5548351" cy="377825"/>
            </a:xfrm>
            <a:prstGeom prst="rect">
              <a:avLst/>
            </a:prstGeom>
          </p:spPr>
          <p:txBody>
            <a:bodyPr lIns="0" tIns="0" rIns="0" bIns="0" rtlCol="0" anchor="t">
              <a:spAutoFit/>
            </a:bodyPr>
            <a:lstStyle/>
            <a:p>
              <a:pPr marL="0" lvl="0" indent="0" algn="l">
                <a:lnSpc>
                  <a:spcPts val="2209"/>
                </a:lnSpc>
              </a:pPr>
              <a:r>
                <a:rPr lang="en-US" sz="1841" b="1" spc="-18">
                  <a:solidFill>
                    <a:srgbClr val="FFFFFF"/>
                  </a:solidFill>
                  <a:latin typeface="Montserrat Medium"/>
                  <a:ea typeface="Montserrat Medium"/>
                  <a:cs typeface="Montserrat Medium"/>
                  <a:sym typeface="Montserrat Medium"/>
                </a:rPr>
                <a:t>Definition &amp; Characteristics</a:t>
              </a:r>
            </a:p>
          </p:txBody>
        </p:sp>
      </p:grpSp>
      <p:grpSp>
        <p:nvGrpSpPr>
          <p:cNvPr id="10" name="Group 10"/>
          <p:cNvGrpSpPr/>
          <p:nvPr/>
        </p:nvGrpSpPr>
        <p:grpSpPr>
          <a:xfrm>
            <a:off x="7319662" y="6149534"/>
            <a:ext cx="3939913" cy="1784377"/>
            <a:chOff x="0" y="0"/>
            <a:chExt cx="5253217" cy="2379170"/>
          </a:xfrm>
        </p:grpSpPr>
        <p:sp>
          <p:nvSpPr>
            <p:cNvPr id="11" name="TextBox 11"/>
            <p:cNvSpPr txBox="1"/>
            <p:nvPr/>
          </p:nvSpPr>
          <p:spPr>
            <a:xfrm>
              <a:off x="0" y="553487"/>
              <a:ext cx="5253217" cy="1825683"/>
            </a:xfrm>
            <a:prstGeom prst="rect">
              <a:avLst/>
            </a:prstGeom>
          </p:spPr>
          <p:txBody>
            <a:bodyPr lIns="0" tIns="0" rIns="0" bIns="0" rtlCol="0" anchor="t">
              <a:spAutoFit/>
            </a:bodyPr>
            <a:lstStyle/>
            <a:p>
              <a:pPr marL="0" lvl="0" indent="0" algn="l">
                <a:lnSpc>
                  <a:spcPts val="2228"/>
                </a:lnSpc>
              </a:pPr>
              <a:r>
                <a:rPr lang="en-US" sz="1592" spc="-15">
                  <a:solidFill>
                    <a:srgbClr val="FFFFFF"/>
                  </a:solidFill>
                  <a:latin typeface="Montserrat Extra-Light"/>
                  <a:ea typeface="Montserrat Extra-Light"/>
                  <a:cs typeface="Montserrat Extra-Light"/>
                  <a:sym typeface="Montserrat Extra-Light"/>
                </a:rPr>
                <a:t>Images are built in immutable layers stacked on a base image. Each layer represents a change or instruction. Layers are cached and reused, making builds faster and storage efficient.</a:t>
              </a:r>
            </a:p>
          </p:txBody>
        </p:sp>
        <p:sp>
          <p:nvSpPr>
            <p:cNvPr id="12" name="TextBox 12"/>
            <p:cNvSpPr txBox="1"/>
            <p:nvPr/>
          </p:nvSpPr>
          <p:spPr>
            <a:xfrm>
              <a:off x="0" y="-9525"/>
              <a:ext cx="4700411" cy="377825"/>
            </a:xfrm>
            <a:prstGeom prst="rect">
              <a:avLst/>
            </a:prstGeom>
          </p:spPr>
          <p:txBody>
            <a:bodyPr lIns="0" tIns="0" rIns="0" bIns="0" rtlCol="0" anchor="t">
              <a:spAutoFit/>
            </a:bodyPr>
            <a:lstStyle/>
            <a:p>
              <a:pPr marL="0" lvl="0" indent="0" algn="l">
                <a:lnSpc>
                  <a:spcPts val="2209"/>
                </a:lnSpc>
              </a:pPr>
              <a:r>
                <a:rPr lang="en-US" sz="1841" b="1" spc="-18">
                  <a:solidFill>
                    <a:srgbClr val="FFFFFF"/>
                  </a:solidFill>
                  <a:latin typeface="Montserrat Medium"/>
                  <a:ea typeface="Montserrat Medium"/>
                  <a:cs typeface="Montserrat Medium"/>
                  <a:sym typeface="Montserrat Medium"/>
                </a:rPr>
                <a:t>Layered Read-Only Structure</a:t>
              </a:r>
            </a:p>
          </p:txBody>
        </p:sp>
      </p:grpSp>
      <p:grpSp>
        <p:nvGrpSpPr>
          <p:cNvPr id="13" name="Group 13"/>
          <p:cNvGrpSpPr/>
          <p:nvPr/>
        </p:nvGrpSpPr>
        <p:grpSpPr>
          <a:xfrm>
            <a:off x="12553297" y="6149534"/>
            <a:ext cx="3939913" cy="1784377"/>
            <a:chOff x="0" y="0"/>
            <a:chExt cx="5253217" cy="2379170"/>
          </a:xfrm>
        </p:grpSpPr>
        <p:sp>
          <p:nvSpPr>
            <p:cNvPr id="14" name="TextBox 14"/>
            <p:cNvSpPr txBox="1"/>
            <p:nvPr/>
          </p:nvSpPr>
          <p:spPr>
            <a:xfrm>
              <a:off x="0" y="553487"/>
              <a:ext cx="5253217" cy="1825683"/>
            </a:xfrm>
            <a:prstGeom prst="rect">
              <a:avLst/>
            </a:prstGeom>
          </p:spPr>
          <p:txBody>
            <a:bodyPr lIns="0" tIns="0" rIns="0" bIns="0" rtlCol="0" anchor="t">
              <a:spAutoFit/>
            </a:bodyPr>
            <a:lstStyle/>
            <a:p>
              <a:pPr marL="0" lvl="0" indent="0" algn="l">
                <a:lnSpc>
                  <a:spcPts val="2228"/>
                </a:lnSpc>
              </a:pPr>
              <a:r>
                <a:rPr lang="en-US" sz="1592" spc="-15">
                  <a:solidFill>
                    <a:srgbClr val="FFFFFF"/>
                  </a:solidFill>
                  <a:latin typeface="Montserrat Extra-Light"/>
                  <a:ea typeface="Montserrat Extra-Light"/>
                  <a:cs typeface="Montserrat Extra-Light"/>
                  <a:sym typeface="Montserrat Extra-Light"/>
                </a:rPr>
                <a:t>Images are created using a Dockerfile with build instructions. Once built, images are tagged and pushed to registries such as Docker Hub or private repositories for sharing and deployment.</a:t>
              </a:r>
            </a:p>
          </p:txBody>
        </p:sp>
        <p:sp>
          <p:nvSpPr>
            <p:cNvPr id="15" name="TextBox 15"/>
            <p:cNvSpPr txBox="1"/>
            <p:nvPr/>
          </p:nvSpPr>
          <p:spPr>
            <a:xfrm>
              <a:off x="0" y="-9525"/>
              <a:ext cx="4700411" cy="377825"/>
            </a:xfrm>
            <a:prstGeom prst="rect">
              <a:avLst/>
            </a:prstGeom>
          </p:spPr>
          <p:txBody>
            <a:bodyPr lIns="0" tIns="0" rIns="0" bIns="0" rtlCol="0" anchor="t">
              <a:spAutoFit/>
            </a:bodyPr>
            <a:lstStyle/>
            <a:p>
              <a:pPr marL="0" lvl="0" indent="0" algn="l">
                <a:lnSpc>
                  <a:spcPts val="2209"/>
                </a:lnSpc>
              </a:pPr>
              <a:r>
                <a:rPr lang="en-US" sz="1841" b="1" spc="-18">
                  <a:solidFill>
                    <a:srgbClr val="FFFFFF"/>
                  </a:solidFill>
                  <a:latin typeface="Montserrat Medium"/>
                  <a:ea typeface="Montserrat Medium"/>
                  <a:cs typeface="Montserrat Medium"/>
                  <a:sym typeface="Montserrat Medium"/>
                </a:rPr>
                <a:t>Creation &amp; Repository Storage</a:t>
              </a:r>
            </a:p>
          </p:txBody>
        </p:sp>
      </p:grpSp>
      <p:grpSp>
        <p:nvGrpSpPr>
          <p:cNvPr id="16" name="Group 16"/>
          <p:cNvGrpSpPr/>
          <p:nvPr/>
        </p:nvGrpSpPr>
        <p:grpSpPr>
          <a:xfrm>
            <a:off x="-425100" y="7079291"/>
            <a:ext cx="850199" cy="1072772"/>
            <a:chOff x="0" y="0"/>
            <a:chExt cx="249721" cy="315095"/>
          </a:xfrm>
        </p:grpSpPr>
        <p:sp>
          <p:nvSpPr>
            <p:cNvPr id="17" name="Freeform 17"/>
            <p:cNvSpPr/>
            <p:nvPr/>
          </p:nvSpPr>
          <p:spPr>
            <a:xfrm>
              <a:off x="0" y="0"/>
              <a:ext cx="249721" cy="315095"/>
            </a:xfrm>
            <a:custGeom>
              <a:avLst/>
              <a:gdLst/>
              <a:ahLst/>
              <a:cxnLst/>
              <a:rect l="l" t="t" r="r" b="b"/>
              <a:pathLst>
                <a:path w="249721" h="315095">
                  <a:moveTo>
                    <a:pt x="0" y="0"/>
                  </a:moveTo>
                  <a:lnTo>
                    <a:pt x="249721" y="0"/>
                  </a:lnTo>
                  <a:lnTo>
                    <a:pt x="249721" y="315095"/>
                  </a:lnTo>
                  <a:lnTo>
                    <a:pt x="0" y="315095"/>
                  </a:lnTo>
                  <a:close/>
                </a:path>
              </a:pathLst>
            </a:custGeom>
            <a:solidFill>
              <a:srgbClr val="CAF0F8"/>
            </a:solidFill>
          </p:spPr>
        </p:sp>
        <p:sp>
          <p:nvSpPr>
            <p:cNvPr id="18" name="TextBox 18"/>
            <p:cNvSpPr txBox="1"/>
            <p:nvPr/>
          </p:nvSpPr>
          <p:spPr>
            <a:xfrm>
              <a:off x="0" y="-38100"/>
              <a:ext cx="249721" cy="353195"/>
            </a:xfrm>
            <a:prstGeom prst="rect">
              <a:avLst/>
            </a:prstGeom>
          </p:spPr>
          <p:txBody>
            <a:bodyPr lIns="50800" tIns="50800" rIns="50800" bIns="50800" rtlCol="0" anchor="ctr"/>
            <a:lstStyle/>
            <a:p>
              <a:pPr marL="0" lvl="0" indent="0" algn="ctr">
                <a:lnSpc>
                  <a:spcPts val="2659"/>
                </a:lnSpc>
                <a:spcBef>
                  <a:spcPct val="0"/>
                </a:spcBef>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4181">
                <a:alpha val="100000"/>
              </a:srgbClr>
            </a:gs>
            <a:gs pos="100000">
              <a:srgbClr val="0A2540">
                <a:alpha val="100000"/>
              </a:srgbClr>
            </a:gs>
          </a:gsLst>
          <a:path path="circle">
            <a:fillToRect l="50000" t="50000" r="50000" b="50000"/>
          </a:path>
        </a:gradFill>
        <a:effectLst/>
      </p:bgPr>
    </p:bg>
    <p:spTree>
      <p:nvGrpSpPr>
        <p:cNvPr id="1" name=""/>
        <p:cNvGrpSpPr/>
        <p:nvPr/>
      </p:nvGrpSpPr>
      <p:grpSpPr>
        <a:xfrm>
          <a:off x="0" y="0"/>
          <a:ext cx="0" cy="0"/>
          <a:chOff x="0" y="0"/>
          <a:chExt cx="0" cy="0"/>
        </a:xfrm>
      </p:grpSpPr>
      <p:grpSp>
        <p:nvGrpSpPr>
          <p:cNvPr id="2" name="Group 2"/>
          <p:cNvGrpSpPr/>
          <p:nvPr/>
        </p:nvGrpSpPr>
        <p:grpSpPr>
          <a:xfrm>
            <a:off x="4648412" y="5926466"/>
            <a:ext cx="432498" cy="380333"/>
            <a:chOff x="0" y="0"/>
            <a:chExt cx="576664" cy="507111"/>
          </a:xfrm>
        </p:grpSpPr>
        <p:grpSp>
          <p:nvGrpSpPr>
            <p:cNvPr id="3" name="Group 3"/>
            <p:cNvGrpSpPr/>
            <p:nvPr/>
          </p:nvGrpSpPr>
          <p:grpSpPr>
            <a:xfrm>
              <a:off x="0" y="0"/>
              <a:ext cx="576664" cy="507111"/>
              <a:chOff x="0" y="0"/>
              <a:chExt cx="127033" cy="111711"/>
            </a:xfrm>
          </p:grpSpPr>
          <p:sp>
            <p:nvSpPr>
              <p:cNvPr id="4" name="Freeform 4"/>
              <p:cNvSpPr/>
              <p:nvPr/>
            </p:nvSpPr>
            <p:spPr>
              <a:xfrm>
                <a:off x="0" y="0"/>
                <a:ext cx="127034" cy="111711"/>
              </a:xfrm>
              <a:custGeom>
                <a:avLst/>
                <a:gdLst/>
                <a:ahLst/>
                <a:cxnLst/>
                <a:rect l="l" t="t" r="r" b="b"/>
                <a:pathLst>
                  <a:path w="127034" h="111711">
                    <a:moveTo>
                      <a:pt x="0" y="0"/>
                    </a:moveTo>
                    <a:lnTo>
                      <a:pt x="127034" y="0"/>
                    </a:lnTo>
                    <a:lnTo>
                      <a:pt x="127034" y="111711"/>
                    </a:lnTo>
                    <a:lnTo>
                      <a:pt x="0" y="111711"/>
                    </a:lnTo>
                    <a:close/>
                  </a:path>
                </a:pathLst>
              </a:custGeom>
              <a:solidFill>
                <a:srgbClr val="CAF0F8"/>
              </a:solidFill>
            </p:spPr>
          </p:sp>
          <p:sp>
            <p:nvSpPr>
              <p:cNvPr id="5" name="TextBox 5"/>
              <p:cNvSpPr txBox="1"/>
              <p:nvPr/>
            </p:nvSpPr>
            <p:spPr>
              <a:xfrm>
                <a:off x="0" y="-38100"/>
                <a:ext cx="127033" cy="14981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58306" y="102237"/>
              <a:ext cx="460052" cy="350261"/>
            </a:xfrm>
            <a:prstGeom prst="rect">
              <a:avLst/>
            </a:prstGeom>
          </p:spPr>
          <p:txBody>
            <a:bodyPr lIns="0" tIns="0" rIns="0" bIns="0" rtlCol="0" anchor="t">
              <a:spAutoFit/>
            </a:bodyPr>
            <a:lstStyle/>
            <a:p>
              <a:pPr marL="0" lvl="0" indent="0" algn="ctr">
                <a:lnSpc>
                  <a:spcPts val="1998"/>
                </a:lnSpc>
              </a:pPr>
              <a:r>
                <a:rPr lang="en-US" sz="1998" b="1" spc="-159">
                  <a:solidFill>
                    <a:srgbClr val="000000"/>
                  </a:solidFill>
                  <a:latin typeface="Montserrat Semi-Bold"/>
                  <a:ea typeface="Montserrat Semi-Bold"/>
                  <a:cs typeface="Montserrat Semi-Bold"/>
                  <a:sym typeface="Montserrat Semi-Bold"/>
                </a:rPr>
                <a:t>01</a:t>
              </a:r>
            </a:p>
          </p:txBody>
        </p:sp>
      </p:grpSp>
      <p:grpSp>
        <p:nvGrpSpPr>
          <p:cNvPr id="7" name="Group 7"/>
          <p:cNvGrpSpPr/>
          <p:nvPr/>
        </p:nvGrpSpPr>
        <p:grpSpPr>
          <a:xfrm>
            <a:off x="4648412" y="7638019"/>
            <a:ext cx="432498" cy="380333"/>
            <a:chOff x="0" y="0"/>
            <a:chExt cx="576664" cy="507111"/>
          </a:xfrm>
        </p:grpSpPr>
        <p:grpSp>
          <p:nvGrpSpPr>
            <p:cNvPr id="8" name="Group 8"/>
            <p:cNvGrpSpPr/>
            <p:nvPr/>
          </p:nvGrpSpPr>
          <p:grpSpPr>
            <a:xfrm>
              <a:off x="0" y="0"/>
              <a:ext cx="576664" cy="507111"/>
              <a:chOff x="0" y="0"/>
              <a:chExt cx="127033" cy="111711"/>
            </a:xfrm>
          </p:grpSpPr>
          <p:sp>
            <p:nvSpPr>
              <p:cNvPr id="9" name="Freeform 9"/>
              <p:cNvSpPr/>
              <p:nvPr/>
            </p:nvSpPr>
            <p:spPr>
              <a:xfrm>
                <a:off x="0" y="0"/>
                <a:ext cx="127034" cy="111711"/>
              </a:xfrm>
              <a:custGeom>
                <a:avLst/>
                <a:gdLst/>
                <a:ahLst/>
                <a:cxnLst/>
                <a:rect l="l" t="t" r="r" b="b"/>
                <a:pathLst>
                  <a:path w="127034" h="111711">
                    <a:moveTo>
                      <a:pt x="0" y="0"/>
                    </a:moveTo>
                    <a:lnTo>
                      <a:pt x="127034" y="0"/>
                    </a:lnTo>
                    <a:lnTo>
                      <a:pt x="127034" y="111711"/>
                    </a:lnTo>
                    <a:lnTo>
                      <a:pt x="0" y="111711"/>
                    </a:lnTo>
                    <a:close/>
                  </a:path>
                </a:pathLst>
              </a:custGeom>
              <a:solidFill>
                <a:srgbClr val="4EA8DE"/>
              </a:solidFill>
            </p:spPr>
          </p:sp>
          <p:sp>
            <p:nvSpPr>
              <p:cNvPr id="10" name="TextBox 10"/>
              <p:cNvSpPr txBox="1"/>
              <p:nvPr/>
            </p:nvSpPr>
            <p:spPr>
              <a:xfrm>
                <a:off x="0" y="-38100"/>
                <a:ext cx="127033" cy="14981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1" name="TextBox 11"/>
            <p:cNvSpPr txBox="1"/>
            <p:nvPr/>
          </p:nvSpPr>
          <p:spPr>
            <a:xfrm>
              <a:off x="58306" y="102237"/>
              <a:ext cx="460052" cy="350261"/>
            </a:xfrm>
            <a:prstGeom prst="rect">
              <a:avLst/>
            </a:prstGeom>
          </p:spPr>
          <p:txBody>
            <a:bodyPr lIns="0" tIns="0" rIns="0" bIns="0" rtlCol="0" anchor="t">
              <a:spAutoFit/>
            </a:bodyPr>
            <a:lstStyle/>
            <a:p>
              <a:pPr marL="0" lvl="0" indent="0" algn="ctr">
                <a:lnSpc>
                  <a:spcPts val="1998"/>
                </a:lnSpc>
              </a:pPr>
              <a:r>
                <a:rPr lang="en-US" sz="1998" b="1" spc="-159">
                  <a:solidFill>
                    <a:srgbClr val="000000"/>
                  </a:solidFill>
                  <a:latin typeface="Montserrat Semi-Bold"/>
                  <a:ea typeface="Montserrat Semi-Bold"/>
                  <a:cs typeface="Montserrat Semi-Bold"/>
                  <a:sym typeface="Montserrat Semi-Bold"/>
                </a:rPr>
                <a:t>02</a:t>
              </a:r>
            </a:p>
          </p:txBody>
        </p:sp>
      </p:grpSp>
      <p:grpSp>
        <p:nvGrpSpPr>
          <p:cNvPr id="12" name="Group 12"/>
          <p:cNvGrpSpPr/>
          <p:nvPr/>
        </p:nvGrpSpPr>
        <p:grpSpPr>
          <a:xfrm>
            <a:off x="11116118" y="5926466"/>
            <a:ext cx="432498" cy="380333"/>
            <a:chOff x="0" y="0"/>
            <a:chExt cx="576664" cy="507111"/>
          </a:xfrm>
        </p:grpSpPr>
        <p:grpSp>
          <p:nvGrpSpPr>
            <p:cNvPr id="13" name="Group 13"/>
            <p:cNvGrpSpPr/>
            <p:nvPr/>
          </p:nvGrpSpPr>
          <p:grpSpPr>
            <a:xfrm>
              <a:off x="0" y="0"/>
              <a:ext cx="576664" cy="507111"/>
              <a:chOff x="0" y="0"/>
              <a:chExt cx="127033" cy="111711"/>
            </a:xfrm>
          </p:grpSpPr>
          <p:sp>
            <p:nvSpPr>
              <p:cNvPr id="14" name="Freeform 14"/>
              <p:cNvSpPr/>
              <p:nvPr/>
            </p:nvSpPr>
            <p:spPr>
              <a:xfrm>
                <a:off x="0" y="0"/>
                <a:ext cx="127034" cy="111711"/>
              </a:xfrm>
              <a:custGeom>
                <a:avLst/>
                <a:gdLst/>
                <a:ahLst/>
                <a:cxnLst/>
                <a:rect l="l" t="t" r="r" b="b"/>
                <a:pathLst>
                  <a:path w="127034" h="111711">
                    <a:moveTo>
                      <a:pt x="0" y="0"/>
                    </a:moveTo>
                    <a:lnTo>
                      <a:pt x="127034" y="0"/>
                    </a:lnTo>
                    <a:lnTo>
                      <a:pt x="127034" y="111711"/>
                    </a:lnTo>
                    <a:lnTo>
                      <a:pt x="0" y="111711"/>
                    </a:lnTo>
                    <a:close/>
                  </a:path>
                </a:pathLst>
              </a:custGeom>
              <a:solidFill>
                <a:srgbClr val="4EA8DE"/>
              </a:solidFill>
            </p:spPr>
          </p:sp>
          <p:sp>
            <p:nvSpPr>
              <p:cNvPr id="15" name="TextBox 15"/>
              <p:cNvSpPr txBox="1"/>
              <p:nvPr/>
            </p:nvSpPr>
            <p:spPr>
              <a:xfrm>
                <a:off x="0" y="-38100"/>
                <a:ext cx="127033" cy="14981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6" name="TextBox 16"/>
            <p:cNvSpPr txBox="1"/>
            <p:nvPr/>
          </p:nvSpPr>
          <p:spPr>
            <a:xfrm>
              <a:off x="58306" y="102237"/>
              <a:ext cx="460052" cy="350261"/>
            </a:xfrm>
            <a:prstGeom prst="rect">
              <a:avLst/>
            </a:prstGeom>
          </p:spPr>
          <p:txBody>
            <a:bodyPr lIns="0" tIns="0" rIns="0" bIns="0" rtlCol="0" anchor="t">
              <a:spAutoFit/>
            </a:bodyPr>
            <a:lstStyle/>
            <a:p>
              <a:pPr marL="0" lvl="0" indent="0" algn="ctr">
                <a:lnSpc>
                  <a:spcPts val="1998"/>
                </a:lnSpc>
              </a:pPr>
              <a:r>
                <a:rPr lang="en-US" sz="1998" b="1" spc="-159">
                  <a:solidFill>
                    <a:srgbClr val="000000"/>
                  </a:solidFill>
                  <a:latin typeface="Montserrat Semi-Bold"/>
                  <a:ea typeface="Montserrat Semi-Bold"/>
                  <a:cs typeface="Montserrat Semi-Bold"/>
                  <a:sym typeface="Montserrat Semi-Bold"/>
                </a:rPr>
                <a:t>03</a:t>
              </a:r>
            </a:p>
          </p:txBody>
        </p:sp>
      </p:grpSp>
      <p:grpSp>
        <p:nvGrpSpPr>
          <p:cNvPr id="17" name="Group 17"/>
          <p:cNvGrpSpPr/>
          <p:nvPr/>
        </p:nvGrpSpPr>
        <p:grpSpPr>
          <a:xfrm>
            <a:off x="11116118" y="7638019"/>
            <a:ext cx="432498" cy="380333"/>
            <a:chOff x="0" y="0"/>
            <a:chExt cx="576664" cy="507111"/>
          </a:xfrm>
        </p:grpSpPr>
        <p:grpSp>
          <p:nvGrpSpPr>
            <p:cNvPr id="18" name="Group 18"/>
            <p:cNvGrpSpPr/>
            <p:nvPr/>
          </p:nvGrpSpPr>
          <p:grpSpPr>
            <a:xfrm>
              <a:off x="0" y="0"/>
              <a:ext cx="576664" cy="507111"/>
              <a:chOff x="0" y="0"/>
              <a:chExt cx="127033" cy="111711"/>
            </a:xfrm>
          </p:grpSpPr>
          <p:sp>
            <p:nvSpPr>
              <p:cNvPr id="19" name="Freeform 19"/>
              <p:cNvSpPr/>
              <p:nvPr/>
            </p:nvSpPr>
            <p:spPr>
              <a:xfrm>
                <a:off x="0" y="0"/>
                <a:ext cx="127034" cy="111711"/>
              </a:xfrm>
              <a:custGeom>
                <a:avLst/>
                <a:gdLst/>
                <a:ahLst/>
                <a:cxnLst/>
                <a:rect l="l" t="t" r="r" b="b"/>
                <a:pathLst>
                  <a:path w="127034" h="111711">
                    <a:moveTo>
                      <a:pt x="0" y="0"/>
                    </a:moveTo>
                    <a:lnTo>
                      <a:pt x="127034" y="0"/>
                    </a:lnTo>
                    <a:lnTo>
                      <a:pt x="127034" y="111711"/>
                    </a:lnTo>
                    <a:lnTo>
                      <a:pt x="0" y="111711"/>
                    </a:lnTo>
                    <a:close/>
                  </a:path>
                </a:pathLst>
              </a:custGeom>
              <a:solidFill>
                <a:srgbClr val="CAF0F8"/>
              </a:solidFill>
            </p:spPr>
          </p:sp>
          <p:sp>
            <p:nvSpPr>
              <p:cNvPr id="20" name="TextBox 20"/>
              <p:cNvSpPr txBox="1"/>
              <p:nvPr/>
            </p:nvSpPr>
            <p:spPr>
              <a:xfrm>
                <a:off x="0" y="-38100"/>
                <a:ext cx="127033" cy="14981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1" name="TextBox 21"/>
            <p:cNvSpPr txBox="1"/>
            <p:nvPr/>
          </p:nvSpPr>
          <p:spPr>
            <a:xfrm>
              <a:off x="58306" y="102237"/>
              <a:ext cx="460052" cy="350261"/>
            </a:xfrm>
            <a:prstGeom prst="rect">
              <a:avLst/>
            </a:prstGeom>
          </p:spPr>
          <p:txBody>
            <a:bodyPr lIns="0" tIns="0" rIns="0" bIns="0" rtlCol="0" anchor="t">
              <a:spAutoFit/>
            </a:bodyPr>
            <a:lstStyle/>
            <a:p>
              <a:pPr marL="0" lvl="0" indent="0" algn="ctr">
                <a:lnSpc>
                  <a:spcPts val="1998"/>
                </a:lnSpc>
              </a:pPr>
              <a:r>
                <a:rPr lang="en-US" sz="1998" b="1" spc="-159">
                  <a:solidFill>
                    <a:srgbClr val="000000"/>
                  </a:solidFill>
                  <a:latin typeface="Montserrat Semi-Bold"/>
                  <a:ea typeface="Montserrat Semi-Bold"/>
                  <a:cs typeface="Montserrat Semi-Bold"/>
                  <a:sym typeface="Montserrat Semi-Bold"/>
                </a:rPr>
                <a:t>04</a:t>
              </a:r>
            </a:p>
          </p:txBody>
        </p:sp>
      </p:grpSp>
      <p:grpSp>
        <p:nvGrpSpPr>
          <p:cNvPr id="22" name="Group 22"/>
          <p:cNvGrpSpPr/>
          <p:nvPr/>
        </p:nvGrpSpPr>
        <p:grpSpPr>
          <a:xfrm>
            <a:off x="0" y="0"/>
            <a:ext cx="2202711" cy="10287000"/>
            <a:chOff x="0" y="0"/>
            <a:chExt cx="341258" cy="1593725"/>
          </a:xfrm>
        </p:grpSpPr>
        <p:sp>
          <p:nvSpPr>
            <p:cNvPr id="23" name="Freeform 23"/>
            <p:cNvSpPr/>
            <p:nvPr/>
          </p:nvSpPr>
          <p:spPr>
            <a:xfrm>
              <a:off x="0" y="0"/>
              <a:ext cx="341258" cy="1593725"/>
            </a:xfrm>
            <a:custGeom>
              <a:avLst/>
              <a:gdLst/>
              <a:ahLst/>
              <a:cxnLst/>
              <a:rect l="l" t="t" r="r" b="b"/>
              <a:pathLst>
                <a:path w="341258" h="1593725">
                  <a:moveTo>
                    <a:pt x="0" y="0"/>
                  </a:moveTo>
                  <a:lnTo>
                    <a:pt x="341258" y="0"/>
                  </a:lnTo>
                  <a:lnTo>
                    <a:pt x="341258" y="1593725"/>
                  </a:lnTo>
                  <a:lnTo>
                    <a:pt x="0" y="1593725"/>
                  </a:lnTo>
                  <a:close/>
                </a:path>
              </a:pathLst>
            </a:custGeom>
            <a:gradFill rotWithShape="1">
              <a:gsLst>
                <a:gs pos="0">
                  <a:srgbClr val="CAF0F8">
                    <a:alpha val="100000"/>
                  </a:srgbClr>
                </a:gs>
                <a:gs pos="100000">
                  <a:srgbClr val="004181">
                    <a:alpha val="100000"/>
                  </a:srgbClr>
                </a:gs>
              </a:gsLst>
              <a:lin ang="5400000"/>
            </a:gradFill>
          </p:spPr>
        </p:sp>
      </p:grpSp>
      <p:sp>
        <p:nvSpPr>
          <p:cNvPr id="24" name="TextBox 24"/>
          <p:cNvSpPr txBox="1"/>
          <p:nvPr/>
        </p:nvSpPr>
        <p:spPr>
          <a:xfrm>
            <a:off x="4648412" y="1566968"/>
            <a:ext cx="5639765" cy="2070101"/>
          </a:xfrm>
          <a:prstGeom prst="rect">
            <a:avLst/>
          </a:prstGeom>
        </p:spPr>
        <p:txBody>
          <a:bodyPr lIns="0" tIns="0" rIns="0" bIns="0" rtlCol="0" anchor="t">
            <a:spAutoFit/>
          </a:bodyPr>
          <a:lstStyle/>
          <a:p>
            <a:pPr marL="0" lvl="0" indent="0" algn="l">
              <a:lnSpc>
                <a:spcPts val="8000"/>
              </a:lnSpc>
            </a:pPr>
            <a:r>
              <a:rPr lang="en-US" sz="8000" b="1" spc="-640">
                <a:solidFill>
                  <a:srgbClr val="FFFFFF"/>
                </a:solidFill>
                <a:latin typeface="Montserrat Medium"/>
                <a:ea typeface="Montserrat Medium"/>
                <a:cs typeface="Montserrat Medium"/>
                <a:sym typeface="Montserrat Medium"/>
              </a:rPr>
              <a:t>Docker Containers</a:t>
            </a:r>
          </a:p>
        </p:txBody>
      </p:sp>
      <p:sp>
        <p:nvSpPr>
          <p:cNvPr id="25" name="TextBox 25"/>
          <p:cNvSpPr txBox="1"/>
          <p:nvPr/>
        </p:nvSpPr>
        <p:spPr>
          <a:xfrm>
            <a:off x="5222522" y="6379607"/>
            <a:ext cx="4698823" cy="82677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A container is launched from a Docker image using the docker run command. The container process begins executing in an isolated environment with its own filesystem, network, and resources.</a:t>
            </a:r>
          </a:p>
        </p:txBody>
      </p:sp>
      <p:sp>
        <p:nvSpPr>
          <p:cNvPr id="26" name="TextBox 26"/>
          <p:cNvSpPr txBox="1"/>
          <p:nvPr/>
        </p:nvSpPr>
        <p:spPr>
          <a:xfrm>
            <a:off x="5222522" y="8091160"/>
            <a:ext cx="4698823" cy="61722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A running container can be stopped gracefully using docker stop, which sends a termination signal and allows the process to shut down cleanly before the container enters a stopped state.</a:t>
            </a:r>
          </a:p>
        </p:txBody>
      </p:sp>
      <p:sp>
        <p:nvSpPr>
          <p:cNvPr id="27" name="TextBox 27"/>
          <p:cNvSpPr txBox="1"/>
          <p:nvPr/>
        </p:nvSpPr>
        <p:spPr>
          <a:xfrm>
            <a:off x="11690228" y="6379607"/>
            <a:ext cx="4698823" cy="61722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A stopped container can be restarted using docker restart, resuming execution from its last state. This is useful for applying configuration changes or recovering from unexpected failures.</a:t>
            </a:r>
          </a:p>
        </p:txBody>
      </p:sp>
      <p:sp>
        <p:nvSpPr>
          <p:cNvPr id="28" name="TextBox 28"/>
          <p:cNvSpPr txBox="1"/>
          <p:nvPr/>
        </p:nvSpPr>
        <p:spPr>
          <a:xfrm>
            <a:off x="11690228" y="8091160"/>
            <a:ext cx="4698823" cy="82677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A stopped container can be permanently removed using docker rm, freeing up system resources. Once deleted, the container instance is gone, though its source image remains available for new instances.</a:t>
            </a:r>
          </a:p>
        </p:txBody>
      </p:sp>
      <p:sp>
        <p:nvSpPr>
          <p:cNvPr id="29" name="TextBox 29"/>
          <p:cNvSpPr txBox="1"/>
          <p:nvPr/>
        </p:nvSpPr>
        <p:spPr>
          <a:xfrm>
            <a:off x="5222522" y="5935991"/>
            <a:ext cx="2919049" cy="285750"/>
          </a:xfrm>
          <a:prstGeom prst="rect">
            <a:avLst/>
          </a:prstGeom>
        </p:spPr>
        <p:txBody>
          <a:bodyPr lIns="0" tIns="0" rIns="0" bIns="0" rtlCol="0" anchor="t">
            <a:spAutoFit/>
          </a:bodyPr>
          <a:lstStyle/>
          <a:p>
            <a:pPr marL="0" lvl="0" indent="0" algn="l">
              <a:lnSpc>
                <a:spcPts val="2398"/>
              </a:lnSpc>
            </a:pPr>
            <a:r>
              <a:rPr lang="en-US" sz="1998" b="1" spc="-19">
                <a:solidFill>
                  <a:srgbClr val="FFFFFF"/>
                </a:solidFill>
                <a:latin typeface="Montserrat Medium"/>
                <a:ea typeface="Montserrat Medium"/>
                <a:cs typeface="Montserrat Medium"/>
                <a:sym typeface="Montserrat Medium"/>
              </a:rPr>
              <a:t>Start</a:t>
            </a:r>
          </a:p>
        </p:txBody>
      </p:sp>
      <p:sp>
        <p:nvSpPr>
          <p:cNvPr id="30" name="TextBox 30"/>
          <p:cNvSpPr txBox="1"/>
          <p:nvPr/>
        </p:nvSpPr>
        <p:spPr>
          <a:xfrm>
            <a:off x="5222522" y="7647544"/>
            <a:ext cx="2919049" cy="285750"/>
          </a:xfrm>
          <a:prstGeom prst="rect">
            <a:avLst/>
          </a:prstGeom>
        </p:spPr>
        <p:txBody>
          <a:bodyPr lIns="0" tIns="0" rIns="0" bIns="0" rtlCol="0" anchor="t">
            <a:spAutoFit/>
          </a:bodyPr>
          <a:lstStyle/>
          <a:p>
            <a:pPr marL="0" lvl="0" indent="0" algn="l">
              <a:lnSpc>
                <a:spcPts val="2398"/>
              </a:lnSpc>
            </a:pPr>
            <a:r>
              <a:rPr lang="en-US" sz="1998" b="1" spc="-19">
                <a:solidFill>
                  <a:srgbClr val="FFFFFF"/>
                </a:solidFill>
                <a:latin typeface="Montserrat Medium"/>
                <a:ea typeface="Montserrat Medium"/>
                <a:cs typeface="Montserrat Medium"/>
                <a:sym typeface="Montserrat Medium"/>
              </a:rPr>
              <a:t>Stop</a:t>
            </a:r>
          </a:p>
        </p:txBody>
      </p:sp>
      <p:sp>
        <p:nvSpPr>
          <p:cNvPr id="31" name="TextBox 31"/>
          <p:cNvSpPr txBox="1"/>
          <p:nvPr/>
        </p:nvSpPr>
        <p:spPr>
          <a:xfrm>
            <a:off x="11690228" y="5935991"/>
            <a:ext cx="2919049" cy="285750"/>
          </a:xfrm>
          <a:prstGeom prst="rect">
            <a:avLst/>
          </a:prstGeom>
        </p:spPr>
        <p:txBody>
          <a:bodyPr lIns="0" tIns="0" rIns="0" bIns="0" rtlCol="0" anchor="t">
            <a:spAutoFit/>
          </a:bodyPr>
          <a:lstStyle/>
          <a:p>
            <a:pPr marL="0" lvl="0" indent="0" algn="l">
              <a:lnSpc>
                <a:spcPts val="2398"/>
              </a:lnSpc>
            </a:pPr>
            <a:r>
              <a:rPr lang="en-US" sz="1998" b="1" spc="-19">
                <a:solidFill>
                  <a:srgbClr val="FFFFFF"/>
                </a:solidFill>
                <a:latin typeface="Montserrat Medium"/>
                <a:ea typeface="Montserrat Medium"/>
                <a:cs typeface="Montserrat Medium"/>
                <a:sym typeface="Montserrat Medium"/>
              </a:rPr>
              <a:t>Restart</a:t>
            </a:r>
          </a:p>
        </p:txBody>
      </p:sp>
      <p:sp>
        <p:nvSpPr>
          <p:cNvPr id="32" name="TextBox 32"/>
          <p:cNvSpPr txBox="1"/>
          <p:nvPr/>
        </p:nvSpPr>
        <p:spPr>
          <a:xfrm>
            <a:off x="11690228" y="7647544"/>
            <a:ext cx="2488537" cy="285750"/>
          </a:xfrm>
          <a:prstGeom prst="rect">
            <a:avLst/>
          </a:prstGeom>
        </p:spPr>
        <p:txBody>
          <a:bodyPr lIns="0" tIns="0" rIns="0" bIns="0" rtlCol="0" anchor="t">
            <a:spAutoFit/>
          </a:bodyPr>
          <a:lstStyle/>
          <a:p>
            <a:pPr marL="0" lvl="0" indent="0" algn="l">
              <a:lnSpc>
                <a:spcPts val="2398"/>
              </a:lnSpc>
            </a:pPr>
            <a:r>
              <a:rPr lang="en-US" sz="1998" b="1" spc="-19">
                <a:solidFill>
                  <a:srgbClr val="FFFFFF"/>
                </a:solidFill>
                <a:latin typeface="Montserrat Medium"/>
                <a:ea typeface="Montserrat Medium"/>
                <a:cs typeface="Montserrat Medium"/>
                <a:sym typeface="Montserrat Medium"/>
              </a:rPr>
              <a:t>Delete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TextBox 3"/>
          <p:cNvSpPr txBox="1"/>
          <p:nvPr/>
        </p:nvSpPr>
        <p:spPr>
          <a:xfrm>
            <a:off x="1028700" y="1733738"/>
            <a:ext cx="8739647" cy="1060451"/>
          </a:xfrm>
          <a:prstGeom prst="rect">
            <a:avLst/>
          </a:prstGeom>
        </p:spPr>
        <p:txBody>
          <a:bodyPr lIns="0" tIns="0" rIns="0" bIns="0" rtlCol="0" anchor="t">
            <a:spAutoFit/>
          </a:bodyPr>
          <a:lstStyle/>
          <a:p>
            <a:pPr marL="0" lvl="0" indent="0" algn="l">
              <a:lnSpc>
                <a:spcPts val="8000"/>
              </a:lnSpc>
            </a:pPr>
            <a:r>
              <a:rPr lang="en-US" sz="8000" b="1" spc="-640" dirty="0">
                <a:solidFill>
                  <a:srgbClr val="FFFFFF"/>
                </a:solidFill>
                <a:latin typeface="Montserrat Medium"/>
                <a:ea typeface="Montserrat Medium"/>
                <a:cs typeface="Montserrat Medium"/>
                <a:sym typeface="Montserrat Medium"/>
              </a:rPr>
              <a:t>Docker Registries</a:t>
            </a:r>
          </a:p>
        </p:txBody>
      </p:sp>
      <p:sp>
        <p:nvSpPr>
          <p:cNvPr id="4" name="TextBox 4"/>
          <p:cNvSpPr txBox="1"/>
          <p:nvPr/>
        </p:nvSpPr>
        <p:spPr>
          <a:xfrm>
            <a:off x="1028700" y="5328491"/>
            <a:ext cx="4530746" cy="2325440"/>
          </a:xfrm>
          <a:prstGeom prst="rect">
            <a:avLst/>
          </a:prstGeom>
        </p:spPr>
        <p:txBody>
          <a:bodyPr lIns="0" tIns="0" rIns="0" bIns="0" rtlCol="0" anchor="t">
            <a:spAutoFit/>
          </a:bodyPr>
          <a:lstStyle/>
          <a:p>
            <a:pPr marL="0" lvl="0" indent="0" algn="l">
              <a:lnSpc>
                <a:spcPts val="3076"/>
              </a:lnSpc>
            </a:pPr>
            <a:r>
              <a:rPr lang="en-US" sz="2197" spc="-21">
                <a:solidFill>
                  <a:srgbClr val="FFFFFF"/>
                </a:solidFill>
                <a:latin typeface="Montserrat"/>
                <a:ea typeface="Montserrat"/>
                <a:cs typeface="Montserrat"/>
                <a:sym typeface="Montserrat"/>
              </a:rPr>
              <a:t>Docker Hub</a:t>
            </a:r>
          </a:p>
          <a:p>
            <a:pPr marL="0" lvl="0" indent="0" algn="l">
              <a:lnSpc>
                <a:spcPts val="3076"/>
              </a:lnSpc>
            </a:pPr>
            <a:r>
              <a:rPr lang="en-US" sz="2197" spc="-21">
                <a:solidFill>
                  <a:srgbClr val="FFFFFF"/>
                </a:solidFill>
                <a:latin typeface="Montserrat"/>
                <a:ea typeface="Montserrat"/>
                <a:cs typeface="Montserrat"/>
                <a:sym typeface="Montserrat"/>
              </a:rPr>
              <a:t>Azure Container Registry</a:t>
            </a:r>
          </a:p>
          <a:p>
            <a:pPr marL="0" lvl="0" indent="0" algn="l">
              <a:lnSpc>
                <a:spcPts val="3076"/>
              </a:lnSpc>
            </a:pPr>
            <a:r>
              <a:rPr lang="en-US" sz="2197" spc="-21">
                <a:solidFill>
                  <a:srgbClr val="FFFFFF"/>
                </a:solidFill>
                <a:latin typeface="Montserrat"/>
                <a:ea typeface="Montserrat"/>
                <a:cs typeface="Montserrat"/>
                <a:sym typeface="Montserrat"/>
              </a:rPr>
              <a:t>Amazon Elastic Container Registry</a:t>
            </a:r>
          </a:p>
          <a:p>
            <a:pPr marL="0" lvl="0" indent="0" algn="l">
              <a:lnSpc>
                <a:spcPts val="3076"/>
              </a:lnSpc>
            </a:pPr>
            <a:r>
              <a:rPr lang="en-US" sz="2197" spc="-21">
                <a:solidFill>
                  <a:srgbClr val="FFFFFF"/>
                </a:solidFill>
                <a:latin typeface="Montserrat"/>
                <a:ea typeface="Montserrat"/>
                <a:cs typeface="Montserrat"/>
                <a:sym typeface="Montserrat"/>
              </a:rPr>
              <a:t>Google Artifact Registry</a:t>
            </a:r>
          </a:p>
          <a:p>
            <a:pPr marL="0" lvl="0" indent="0" algn="l">
              <a:lnSpc>
                <a:spcPts val="3076"/>
              </a:lnSpc>
            </a:pPr>
            <a:r>
              <a:rPr lang="en-US" sz="2197" spc="-21">
                <a:solidFill>
                  <a:srgbClr val="FFFFFF"/>
                </a:solidFill>
                <a:latin typeface="Montserrat"/>
                <a:ea typeface="Montserrat"/>
                <a:cs typeface="Montserrat"/>
                <a:sym typeface="Montserrat"/>
              </a:rPr>
              <a:t>Private Registries</a:t>
            </a:r>
          </a:p>
        </p:txBody>
      </p:sp>
      <p:sp>
        <p:nvSpPr>
          <p:cNvPr id="5" name="TextBox 5"/>
          <p:cNvSpPr txBox="1"/>
          <p:nvPr/>
        </p:nvSpPr>
        <p:spPr>
          <a:xfrm>
            <a:off x="1028700" y="8129792"/>
            <a:ext cx="7152633" cy="871250"/>
          </a:xfrm>
          <a:prstGeom prst="rect">
            <a:avLst/>
          </a:prstGeom>
        </p:spPr>
        <p:txBody>
          <a:bodyPr lIns="0" tIns="0" rIns="0" bIns="0" rtlCol="0" anchor="t">
            <a:spAutoFit/>
          </a:bodyPr>
          <a:lstStyle/>
          <a:p>
            <a:pPr marL="0" lvl="0" indent="0" algn="l">
              <a:lnSpc>
                <a:spcPts val="2378"/>
              </a:lnSpc>
            </a:pPr>
            <a:r>
              <a:rPr lang="en-US" sz="1698" spc="-16" dirty="0">
                <a:solidFill>
                  <a:srgbClr val="FFFFFF"/>
                </a:solidFill>
                <a:latin typeface="Montserrat Light"/>
                <a:ea typeface="Montserrat Light"/>
                <a:cs typeface="Montserrat Light"/>
                <a:sym typeface="Montserrat Light"/>
              </a:rPr>
              <a:t>Registries store and distribute Docker images. Developers push images to a registry and pull them to any container host for deployment.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TextBox 3"/>
          <p:cNvSpPr txBox="1"/>
          <p:nvPr/>
        </p:nvSpPr>
        <p:spPr>
          <a:xfrm>
            <a:off x="1028700" y="1662300"/>
            <a:ext cx="5495918" cy="2070101"/>
          </a:xfrm>
          <a:prstGeom prst="rect">
            <a:avLst/>
          </a:prstGeom>
        </p:spPr>
        <p:txBody>
          <a:bodyPr lIns="0" tIns="0" rIns="0" bIns="0" rtlCol="0" anchor="t">
            <a:spAutoFit/>
          </a:bodyPr>
          <a:lstStyle/>
          <a:p>
            <a:pPr marL="0" lvl="0" indent="0" algn="l">
              <a:lnSpc>
                <a:spcPts val="8000"/>
              </a:lnSpc>
            </a:pPr>
            <a:r>
              <a:rPr lang="en-US" sz="8000" b="1" spc="-640">
                <a:solidFill>
                  <a:srgbClr val="FFFFFF"/>
                </a:solidFill>
                <a:latin typeface="Montserrat Medium"/>
                <a:ea typeface="Montserrat Medium"/>
                <a:cs typeface="Montserrat Medium"/>
                <a:sym typeface="Montserrat Medium"/>
              </a:rPr>
              <a:t>Docker Workflow</a:t>
            </a:r>
          </a:p>
        </p:txBody>
      </p:sp>
      <p:sp>
        <p:nvSpPr>
          <p:cNvPr id="4" name="TextBox 4"/>
          <p:cNvSpPr txBox="1"/>
          <p:nvPr/>
        </p:nvSpPr>
        <p:spPr>
          <a:xfrm>
            <a:off x="1028700" y="5247528"/>
            <a:ext cx="7643835" cy="2055198"/>
          </a:xfrm>
          <a:prstGeom prst="rect">
            <a:avLst/>
          </a:prstGeom>
        </p:spPr>
        <p:txBody>
          <a:bodyPr lIns="0" tIns="0" rIns="0" bIns="0" rtlCol="0" anchor="t">
            <a:spAutoFit/>
          </a:bodyPr>
          <a:lstStyle/>
          <a:p>
            <a:pPr marL="0" lvl="0" indent="0" algn="l">
              <a:lnSpc>
                <a:spcPts val="2746"/>
              </a:lnSpc>
            </a:pPr>
            <a:r>
              <a:rPr lang="en-US" sz="1961" spc="-19">
                <a:solidFill>
                  <a:srgbClr val="FFFFFF"/>
                </a:solidFill>
                <a:latin typeface="Montserrat"/>
                <a:ea typeface="Montserrat"/>
                <a:cs typeface="Montserrat"/>
                <a:sym typeface="Montserrat"/>
              </a:rPr>
              <a:t>Write Dockerfile — define app environment and dependencies</a:t>
            </a:r>
          </a:p>
          <a:p>
            <a:pPr marL="0" lvl="0" indent="0" algn="l">
              <a:lnSpc>
                <a:spcPts val="2746"/>
              </a:lnSpc>
            </a:pPr>
            <a:r>
              <a:rPr lang="en-US" sz="1961" spc="-19">
                <a:solidFill>
                  <a:srgbClr val="FFFFFF"/>
                </a:solidFill>
                <a:latin typeface="Montserrat"/>
                <a:ea typeface="Montserrat"/>
                <a:cs typeface="Montserrat"/>
                <a:sym typeface="Montserrat"/>
              </a:rPr>
              <a:t>Docker Build — create a Docker image from the Dockerfile</a:t>
            </a:r>
          </a:p>
          <a:p>
            <a:pPr marL="0" lvl="0" indent="0" algn="l">
              <a:lnSpc>
                <a:spcPts val="2746"/>
              </a:lnSpc>
            </a:pPr>
            <a:r>
              <a:rPr lang="en-US" sz="1961" spc="-19">
                <a:solidFill>
                  <a:srgbClr val="FFFFFF"/>
                </a:solidFill>
                <a:latin typeface="Montserrat"/>
                <a:ea typeface="Montserrat"/>
                <a:cs typeface="Montserrat"/>
                <a:sym typeface="Montserrat"/>
              </a:rPr>
              <a:t>Docker Push — upload the image to a Docker registry</a:t>
            </a:r>
          </a:p>
          <a:p>
            <a:pPr marL="0" lvl="0" indent="0" algn="l">
              <a:lnSpc>
                <a:spcPts val="2746"/>
              </a:lnSpc>
            </a:pPr>
            <a:r>
              <a:rPr lang="en-US" sz="1961" spc="-19">
                <a:solidFill>
                  <a:srgbClr val="FFFFFF"/>
                </a:solidFill>
                <a:latin typeface="Montserrat"/>
                <a:ea typeface="Montserrat"/>
                <a:cs typeface="Montserrat"/>
                <a:sym typeface="Montserrat"/>
              </a:rPr>
              <a:t>Docker Pull — download the image from the registry</a:t>
            </a:r>
          </a:p>
          <a:p>
            <a:pPr marL="0" lvl="0" indent="0" algn="l">
              <a:lnSpc>
                <a:spcPts val="2746"/>
              </a:lnSpc>
            </a:pPr>
            <a:r>
              <a:rPr lang="en-US" sz="1961" spc="-19">
                <a:solidFill>
                  <a:srgbClr val="FFFFFF"/>
                </a:solidFill>
                <a:latin typeface="Montserrat"/>
                <a:ea typeface="Montserrat"/>
                <a:cs typeface="Montserrat"/>
                <a:sym typeface="Montserrat"/>
              </a:rPr>
              <a:t>Docker Run — instantiate a running container from the image</a:t>
            </a:r>
          </a:p>
        </p:txBody>
      </p:sp>
      <p:sp>
        <p:nvSpPr>
          <p:cNvPr id="5" name="TextBox 5"/>
          <p:cNvSpPr txBox="1"/>
          <p:nvPr/>
        </p:nvSpPr>
        <p:spPr>
          <a:xfrm>
            <a:off x="1028700" y="7946093"/>
            <a:ext cx="6382626" cy="871250"/>
          </a:xfrm>
          <a:prstGeom prst="rect">
            <a:avLst/>
          </a:prstGeom>
        </p:spPr>
        <p:txBody>
          <a:bodyPr lIns="0" tIns="0" rIns="0" bIns="0" rtlCol="0" anchor="t">
            <a:spAutoFit/>
          </a:bodyPr>
          <a:lstStyle/>
          <a:p>
            <a:pPr marL="0" lvl="0" indent="0" algn="l">
              <a:lnSpc>
                <a:spcPts val="2378"/>
              </a:lnSpc>
            </a:pPr>
            <a:r>
              <a:rPr lang="en-US" sz="1698" spc="-16">
                <a:solidFill>
                  <a:srgbClr val="FFFFFF"/>
                </a:solidFill>
                <a:latin typeface="Montserrat"/>
                <a:ea typeface="Montserrat"/>
                <a:cs typeface="Montserrat"/>
                <a:sym typeface="Montserrat"/>
              </a:rPr>
              <a:t>Each step in the Docker workflow transforms source code into a portable, running container — enabling consistent deployment across any environment.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TextBox 3"/>
          <p:cNvSpPr txBox="1"/>
          <p:nvPr/>
        </p:nvSpPr>
        <p:spPr>
          <a:xfrm>
            <a:off x="1028700" y="1667063"/>
            <a:ext cx="8739647" cy="544418"/>
          </a:xfrm>
          <a:prstGeom prst="rect">
            <a:avLst/>
          </a:prstGeom>
        </p:spPr>
        <p:txBody>
          <a:bodyPr lIns="0" tIns="0" rIns="0" bIns="0" rtlCol="0" anchor="t">
            <a:spAutoFit/>
          </a:bodyPr>
          <a:lstStyle/>
          <a:p>
            <a:pPr marL="0" lvl="0" indent="0" algn="l">
              <a:lnSpc>
                <a:spcPts val="4183"/>
              </a:lnSpc>
            </a:pPr>
            <a:r>
              <a:rPr lang="en-US" sz="4183" b="1" spc="-334">
                <a:solidFill>
                  <a:srgbClr val="FFFFFF"/>
                </a:solidFill>
                <a:latin typeface="Montserrat Medium"/>
                <a:ea typeface="Montserrat Medium"/>
                <a:cs typeface="Montserrat Medium"/>
                <a:sym typeface="Montserrat Medium"/>
              </a:rPr>
              <a:t>Important Docker Commands</a:t>
            </a:r>
          </a:p>
        </p:txBody>
      </p:sp>
      <p:sp>
        <p:nvSpPr>
          <p:cNvPr id="4" name="TextBox 4"/>
          <p:cNvSpPr txBox="1"/>
          <p:nvPr/>
        </p:nvSpPr>
        <p:spPr>
          <a:xfrm>
            <a:off x="898257" y="3543300"/>
            <a:ext cx="4530746" cy="3963777"/>
          </a:xfrm>
          <a:prstGeom prst="rect">
            <a:avLst/>
          </a:prstGeom>
        </p:spPr>
        <p:txBody>
          <a:bodyPr lIns="0" tIns="0" rIns="0" bIns="0" rtlCol="0" anchor="t">
            <a:spAutoFit/>
          </a:bodyPr>
          <a:lstStyle/>
          <a:p>
            <a:pPr marL="0" lvl="0" indent="0" algn="l">
              <a:lnSpc>
                <a:spcPct val="200000"/>
              </a:lnSpc>
            </a:pPr>
            <a:r>
              <a:rPr lang="en-US" sz="1307" spc="-13" dirty="0">
                <a:solidFill>
                  <a:srgbClr val="FFFFFF"/>
                </a:solidFill>
                <a:latin typeface="Montserrat"/>
                <a:ea typeface="Montserrat"/>
                <a:cs typeface="Montserrat"/>
                <a:sym typeface="Montserrat"/>
              </a:rPr>
              <a:t>docker build</a:t>
            </a:r>
          </a:p>
          <a:p>
            <a:pPr marL="0" lvl="0" indent="0" algn="l">
              <a:lnSpc>
                <a:spcPct val="200000"/>
              </a:lnSpc>
            </a:pPr>
            <a:r>
              <a:rPr lang="en-US" sz="1307" spc="-13" dirty="0">
                <a:solidFill>
                  <a:srgbClr val="FFFFFF"/>
                </a:solidFill>
                <a:latin typeface="Montserrat"/>
                <a:ea typeface="Montserrat"/>
                <a:cs typeface="Montserrat"/>
                <a:sym typeface="Montserrat"/>
              </a:rPr>
              <a:t>docker images</a:t>
            </a:r>
          </a:p>
          <a:p>
            <a:pPr marL="0" lvl="0" indent="0" algn="l">
              <a:lnSpc>
                <a:spcPct val="200000"/>
              </a:lnSpc>
            </a:pPr>
            <a:r>
              <a:rPr lang="en-US" sz="1307" spc="-13" dirty="0">
                <a:solidFill>
                  <a:srgbClr val="FFFFFF"/>
                </a:solidFill>
                <a:latin typeface="Montserrat"/>
                <a:ea typeface="Montserrat"/>
                <a:cs typeface="Montserrat"/>
                <a:sym typeface="Montserrat"/>
              </a:rPr>
              <a:t>docker run</a:t>
            </a:r>
          </a:p>
          <a:p>
            <a:pPr marL="0" lvl="0" indent="0" algn="l">
              <a:lnSpc>
                <a:spcPct val="200000"/>
              </a:lnSpc>
            </a:pPr>
            <a:r>
              <a:rPr lang="en-US" sz="1307" spc="-13" dirty="0">
                <a:solidFill>
                  <a:srgbClr val="FFFFFF"/>
                </a:solidFill>
                <a:latin typeface="Montserrat"/>
                <a:ea typeface="Montserrat"/>
                <a:cs typeface="Montserrat"/>
                <a:sym typeface="Montserrat"/>
              </a:rPr>
              <a:t>docker </a:t>
            </a:r>
            <a:r>
              <a:rPr lang="en-US" sz="1307" spc="-13" dirty="0" err="1">
                <a:solidFill>
                  <a:srgbClr val="FFFFFF"/>
                </a:solidFill>
                <a:latin typeface="Montserrat"/>
                <a:ea typeface="Montserrat"/>
                <a:cs typeface="Montserrat"/>
                <a:sym typeface="Montserrat"/>
              </a:rPr>
              <a:t>ps</a:t>
            </a:r>
            <a:endParaRPr lang="en-US" sz="1307" spc="-13" dirty="0">
              <a:solidFill>
                <a:srgbClr val="FFFFFF"/>
              </a:solidFill>
              <a:latin typeface="Montserrat"/>
              <a:ea typeface="Montserrat"/>
              <a:cs typeface="Montserrat"/>
              <a:sym typeface="Montserrat"/>
            </a:endParaRPr>
          </a:p>
          <a:p>
            <a:pPr marL="0" lvl="0" indent="0" algn="l">
              <a:lnSpc>
                <a:spcPct val="200000"/>
              </a:lnSpc>
            </a:pPr>
            <a:r>
              <a:rPr lang="en-US" sz="1307" spc="-13" dirty="0">
                <a:solidFill>
                  <a:srgbClr val="FFFFFF"/>
                </a:solidFill>
                <a:latin typeface="Montserrat"/>
                <a:ea typeface="Montserrat"/>
                <a:cs typeface="Montserrat"/>
                <a:sym typeface="Montserrat"/>
              </a:rPr>
              <a:t>docker stop</a:t>
            </a:r>
          </a:p>
          <a:p>
            <a:pPr marL="0" lvl="0" indent="0" algn="l">
              <a:lnSpc>
                <a:spcPct val="200000"/>
              </a:lnSpc>
            </a:pPr>
            <a:r>
              <a:rPr lang="en-US" sz="1307" spc="-13" dirty="0">
                <a:solidFill>
                  <a:srgbClr val="FFFFFF"/>
                </a:solidFill>
                <a:latin typeface="Montserrat"/>
                <a:ea typeface="Montserrat"/>
                <a:cs typeface="Montserrat"/>
                <a:sym typeface="Montserrat"/>
              </a:rPr>
              <a:t>docker rm</a:t>
            </a:r>
          </a:p>
          <a:p>
            <a:pPr marL="0" lvl="0" indent="0" algn="l">
              <a:lnSpc>
                <a:spcPct val="200000"/>
              </a:lnSpc>
            </a:pPr>
            <a:r>
              <a:rPr lang="en-US" sz="1307" spc="-13" dirty="0">
                <a:solidFill>
                  <a:srgbClr val="FFFFFF"/>
                </a:solidFill>
                <a:latin typeface="Montserrat"/>
                <a:ea typeface="Montserrat"/>
                <a:cs typeface="Montserrat"/>
                <a:sym typeface="Montserrat"/>
              </a:rPr>
              <a:t>docker pull</a:t>
            </a:r>
          </a:p>
          <a:p>
            <a:pPr marL="0" lvl="0" indent="0" algn="l">
              <a:lnSpc>
                <a:spcPct val="200000"/>
              </a:lnSpc>
            </a:pPr>
            <a:r>
              <a:rPr lang="en-US" sz="1307" spc="-13" dirty="0">
                <a:solidFill>
                  <a:srgbClr val="FFFFFF"/>
                </a:solidFill>
                <a:latin typeface="Montserrat"/>
                <a:ea typeface="Montserrat"/>
                <a:cs typeface="Montserrat"/>
                <a:sym typeface="Montserrat"/>
              </a:rPr>
              <a:t>docker push</a:t>
            </a:r>
          </a:p>
          <a:p>
            <a:pPr marL="0" lvl="0" indent="0" algn="l">
              <a:lnSpc>
                <a:spcPct val="200000"/>
              </a:lnSpc>
            </a:pPr>
            <a:r>
              <a:rPr lang="en-US" sz="1307" spc="-13" dirty="0">
                <a:solidFill>
                  <a:srgbClr val="FFFFFF"/>
                </a:solidFill>
                <a:latin typeface="Montserrat"/>
                <a:ea typeface="Montserrat"/>
                <a:cs typeface="Montserrat"/>
                <a:sym typeface="Montserrat"/>
              </a:rPr>
              <a:t>docker exec</a:t>
            </a:r>
          </a:p>
          <a:p>
            <a:pPr marL="0" lvl="0" indent="0" algn="l">
              <a:lnSpc>
                <a:spcPct val="200000"/>
              </a:lnSpc>
            </a:pPr>
            <a:r>
              <a:rPr lang="en-US" sz="1307" spc="-13" dirty="0">
                <a:solidFill>
                  <a:srgbClr val="FFFFFF"/>
                </a:solidFill>
                <a:latin typeface="Montserrat"/>
                <a:ea typeface="Montserrat"/>
                <a:cs typeface="Montserrat"/>
                <a:sym typeface="Montserrat"/>
              </a:rPr>
              <a:t>docker logs</a:t>
            </a:r>
          </a:p>
        </p:txBody>
      </p:sp>
      <p:sp>
        <p:nvSpPr>
          <p:cNvPr id="5" name="TextBox 5"/>
          <p:cNvSpPr txBox="1"/>
          <p:nvPr/>
        </p:nvSpPr>
        <p:spPr>
          <a:xfrm>
            <a:off x="1028700" y="8139317"/>
            <a:ext cx="7152633" cy="40767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Light"/>
                <a:ea typeface="Montserrat Light"/>
                <a:cs typeface="Montserrat Light"/>
                <a:sym typeface="Montserrat Light"/>
              </a:rPr>
              <a:t>Key Docker CLI commands for building images, managing containers, interacting with registries, and monitoring running processes.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4181">
                <a:alpha val="100000"/>
              </a:srgbClr>
            </a:gs>
            <a:gs pos="100000">
              <a:srgbClr val="0A254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028700" y="3926038"/>
            <a:ext cx="16230600" cy="4974747"/>
            <a:chOff x="0" y="0"/>
            <a:chExt cx="4767256" cy="1461184"/>
          </a:xfrm>
        </p:grpSpPr>
        <p:sp>
          <p:nvSpPr>
            <p:cNvPr id="3" name="Freeform 3"/>
            <p:cNvSpPr/>
            <p:nvPr/>
          </p:nvSpPr>
          <p:spPr>
            <a:xfrm>
              <a:off x="0" y="0"/>
              <a:ext cx="4767256" cy="1461184"/>
            </a:xfrm>
            <a:custGeom>
              <a:avLst/>
              <a:gdLst/>
              <a:ahLst/>
              <a:cxnLst/>
              <a:rect l="l" t="t" r="r" b="b"/>
              <a:pathLst>
                <a:path w="4767256" h="1461184">
                  <a:moveTo>
                    <a:pt x="0" y="0"/>
                  </a:moveTo>
                  <a:lnTo>
                    <a:pt x="4767256" y="0"/>
                  </a:lnTo>
                  <a:lnTo>
                    <a:pt x="4767256" y="1461184"/>
                  </a:lnTo>
                  <a:lnTo>
                    <a:pt x="0" y="1461184"/>
                  </a:lnTo>
                  <a:close/>
                </a:path>
              </a:pathLst>
            </a:custGeom>
            <a:gradFill rotWithShape="1">
              <a:gsLst>
                <a:gs pos="0">
                  <a:srgbClr val="004181">
                    <a:alpha val="0"/>
                  </a:srgbClr>
                </a:gs>
                <a:gs pos="100000">
                  <a:srgbClr val="004181">
                    <a:alpha val="100000"/>
                  </a:srgbClr>
                </a:gs>
              </a:gsLst>
              <a:lin ang="5400000"/>
            </a:gradFill>
          </p:spPr>
        </p:sp>
        <p:sp>
          <p:nvSpPr>
            <p:cNvPr id="4" name="TextBox 4"/>
            <p:cNvSpPr txBox="1"/>
            <p:nvPr/>
          </p:nvSpPr>
          <p:spPr>
            <a:xfrm>
              <a:off x="0" y="-38100"/>
              <a:ext cx="4767256" cy="149928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2288161" y="1605176"/>
            <a:ext cx="4890154" cy="3274546"/>
          </a:xfrm>
          <a:custGeom>
            <a:avLst/>
            <a:gdLst/>
            <a:ahLst/>
            <a:cxnLst/>
            <a:rect l="l" t="t" r="r" b="b"/>
            <a:pathLst>
              <a:path w="4890154" h="3274546">
                <a:moveTo>
                  <a:pt x="0" y="0"/>
                </a:moveTo>
                <a:lnTo>
                  <a:pt x="4890154" y="0"/>
                </a:lnTo>
                <a:lnTo>
                  <a:pt x="4890154" y="3274546"/>
                </a:lnTo>
                <a:lnTo>
                  <a:pt x="0" y="3274546"/>
                </a:lnTo>
                <a:lnTo>
                  <a:pt x="0" y="0"/>
                </a:lnTo>
                <a:close/>
              </a:path>
            </a:pathLst>
          </a:custGeom>
          <a:blipFill>
            <a:blip r:embed="rId2"/>
            <a:stretch>
              <a:fillRect/>
            </a:stretch>
          </a:blipFill>
        </p:spPr>
      </p:sp>
      <p:sp>
        <p:nvSpPr>
          <p:cNvPr id="6" name="TextBox 6"/>
          <p:cNvSpPr txBox="1"/>
          <p:nvPr/>
        </p:nvSpPr>
        <p:spPr>
          <a:xfrm>
            <a:off x="7682784" y="2135980"/>
            <a:ext cx="8211554" cy="2060433"/>
          </a:xfrm>
          <a:prstGeom prst="rect">
            <a:avLst/>
          </a:prstGeom>
        </p:spPr>
        <p:txBody>
          <a:bodyPr lIns="0" tIns="0" rIns="0" bIns="0" rtlCol="0" anchor="t">
            <a:spAutoFit/>
          </a:bodyPr>
          <a:lstStyle/>
          <a:p>
            <a:pPr marL="0" lvl="0" indent="0" algn="l">
              <a:lnSpc>
                <a:spcPts val="7994"/>
              </a:lnSpc>
            </a:pPr>
            <a:r>
              <a:rPr lang="en-US" sz="7994" b="1" spc="-639">
                <a:solidFill>
                  <a:srgbClr val="FFFFFF"/>
                </a:solidFill>
                <a:latin typeface="Montserrat Medium"/>
                <a:ea typeface="Montserrat Medium"/>
                <a:cs typeface="Montserrat Medium"/>
                <a:sym typeface="Montserrat Medium"/>
              </a:rPr>
              <a:t>Benefits of</a:t>
            </a:r>
          </a:p>
          <a:p>
            <a:pPr marL="0" lvl="0" indent="0" algn="l">
              <a:lnSpc>
                <a:spcPts val="7994"/>
              </a:lnSpc>
            </a:pPr>
            <a:r>
              <a:rPr lang="en-US" sz="7994" b="1" spc="-639">
                <a:solidFill>
                  <a:srgbClr val="FFFFFF"/>
                </a:solidFill>
                <a:latin typeface="Montserrat Medium"/>
                <a:ea typeface="Montserrat Medium"/>
                <a:cs typeface="Montserrat Medium"/>
                <a:sym typeface="Montserrat Medium"/>
              </a:rPr>
              <a:t>Docker</a:t>
            </a:r>
          </a:p>
        </p:txBody>
      </p:sp>
      <p:grpSp>
        <p:nvGrpSpPr>
          <p:cNvPr id="7" name="Group 7"/>
          <p:cNvGrpSpPr/>
          <p:nvPr/>
        </p:nvGrpSpPr>
        <p:grpSpPr>
          <a:xfrm>
            <a:off x="1864676" y="6149534"/>
            <a:ext cx="4161264" cy="1986211"/>
            <a:chOff x="0" y="0"/>
            <a:chExt cx="5548351" cy="2648281"/>
          </a:xfrm>
        </p:grpSpPr>
        <p:sp>
          <p:nvSpPr>
            <p:cNvPr id="8" name="TextBox 8"/>
            <p:cNvSpPr txBox="1"/>
            <p:nvPr/>
          </p:nvSpPr>
          <p:spPr>
            <a:xfrm>
              <a:off x="0" y="528087"/>
              <a:ext cx="5268634" cy="2120194"/>
            </a:xfrm>
            <a:prstGeom prst="rect">
              <a:avLst/>
            </a:prstGeom>
          </p:spPr>
          <p:txBody>
            <a:bodyPr lIns="0" tIns="0" rIns="0" bIns="0" rtlCol="0" anchor="t">
              <a:spAutoFit/>
            </a:bodyPr>
            <a:lstStyle/>
            <a:p>
              <a:pPr marL="0" lvl="0" indent="0" algn="l">
                <a:lnSpc>
                  <a:spcPts val="2129"/>
                </a:lnSpc>
              </a:pPr>
              <a:r>
                <a:rPr lang="en-US" sz="1520" spc="-15">
                  <a:solidFill>
                    <a:srgbClr val="FFFFFF"/>
                  </a:solidFill>
                  <a:latin typeface="Montserrat Extra-Light"/>
                  <a:ea typeface="Montserrat Extra-Light"/>
                  <a:cs typeface="Montserrat Extra-Light"/>
                  <a:sym typeface="Montserrat Extra-Light"/>
                </a:rPr>
                <a:t>Docker containers launch in seconds, enabling rapid deployment cycles. Containers run consistently across development, testing, and production environments, eliminating environment-specific issues.</a:t>
              </a:r>
            </a:p>
          </p:txBody>
        </p:sp>
        <p:sp>
          <p:nvSpPr>
            <p:cNvPr id="9" name="TextBox 9"/>
            <p:cNvSpPr txBox="1"/>
            <p:nvPr/>
          </p:nvSpPr>
          <p:spPr>
            <a:xfrm>
              <a:off x="0" y="0"/>
              <a:ext cx="5548351" cy="342900"/>
            </a:xfrm>
            <a:prstGeom prst="rect">
              <a:avLst/>
            </a:prstGeom>
          </p:spPr>
          <p:txBody>
            <a:bodyPr lIns="0" tIns="0" rIns="0" bIns="0" rtlCol="0" anchor="t">
              <a:spAutoFit/>
            </a:bodyPr>
            <a:lstStyle/>
            <a:p>
              <a:pPr marL="0" lvl="0" indent="0" algn="l">
                <a:lnSpc>
                  <a:spcPts val="2034"/>
                </a:lnSpc>
              </a:pPr>
              <a:r>
                <a:rPr lang="en-US" sz="1695" b="1" spc="-16">
                  <a:solidFill>
                    <a:srgbClr val="FFFFFF"/>
                  </a:solidFill>
                  <a:latin typeface="Montserrat Medium"/>
                  <a:ea typeface="Montserrat Medium"/>
                  <a:cs typeface="Montserrat Medium"/>
                  <a:sym typeface="Montserrat Medium"/>
                </a:rPr>
                <a:t>Fast Deployment &amp; Portability</a:t>
              </a:r>
            </a:p>
          </p:txBody>
        </p:sp>
      </p:grpSp>
      <p:grpSp>
        <p:nvGrpSpPr>
          <p:cNvPr id="10" name="Group 10"/>
          <p:cNvGrpSpPr/>
          <p:nvPr/>
        </p:nvGrpSpPr>
        <p:grpSpPr>
          <a:xfrm>
            <a:off x="7319662" y="6149534"/>
            <a:ext cx="3939913" cy="1986211"/>
            <a:chOff x="0" y="0"/>
            <a:chExt cx="5253217" cy="2648281"/>
          </a:xfrm>
        </p:grpSpPr>
        <p:sp>
          <p:nvSpPr>
            <p:cNvPr id="11" name="TextBox 11"/>
            <p:cNvSpPr txBox="1"/>
            <p:nvPr/>
          </p:nvSpPr>
          <p:spPr>
            <a:xfrm>
              <a:off x="0" y="528087"/>
              <a:ext cx="5253217" cy="2120194"/>
            </a:xfrm>
            <a:prstGeom prst="rect">
              <a:avLst/>
            </a:prstGeom>
          </p:spPr>
          <p:txBody>
            <a:bodyPr lIns="0" tIns="0" rIns="0" bIns="0" rtlCol="0" anchor="t">
              <a:spAutoFit/>
            </a:bodyPr>
            <a:lstStyle/>
            <a:p>
              <a:pPr marL="0" lvl="0" indent="0" algn="l">
                <a:lnSpc>
                  <a:spcPts val="2129"/>
                </a:lnSpc>
              </a:pPr>
              <a:r>
                <a:rPr lang="en-US" sz="1520" spc="-15">
                  <a:solidFill>
                    <a:srgbClr val="FFFFFF"/>
                  </a:solidFill>
                  <a:latin typeface="Montserrat Extra-Light"/>
                  <a:ea typeface="Montserrat Extra-Light"/>
                  <a:cs typeface="Montserrat Extra-Light"/>
                  <a:sym typeface="Montserrat Extra-Light"/>
                </a:rPr>
                <a:t>Applications scale horizontally with ease by spinning up additional containers. Each container runs in isolation, preventing dependency conflicts and improving overall system stability and security.</a:t>
              </a:r>
            </a:p>
          </p:txBody>
        </p:sp>
        <p:sp>
          <p:nvSpPr>
            <p:cNvPr id="12" name="TextBox 12"/>
            <p:cNvSpPr txBox="1"/>
            <p:nvPr/>
          </p:nvSpPr>
          <p:spPr>
            <a:xfrm>
              <a:off x="0" y="0"/>
              <a:ext cx="4700411" cy="342900"/>
            </a:xfrm>
            <a:prstGeom prst="rect">
              <a:avLst/>
            </a:prstGeom>
          </p:spPr>
          <p:txBody>
            <a:bodyPr lIns="0" tIns="0" rIns="0" bIns="0" rtlCol="0" anchor="t">
              <a:spAutoFit/>
            </a:bodyPr>
            <a:lstStyle/>
            <a:p>
              <a:pPr marL="0" lvl="0" indent="0" algn="l">
                <a:lnSpc>
                  <a:spcPts val="2034"/>
                </a:lnSpc>
              </a:pPr>
              <a:r>
                <a:rPr lang="en-US" sz="1695" b="1" spc="-16">
                  <a:solidFill>
                    <a:srgbClr val="FFFFFF"/>
                  </a:solidFill>
                  <a:latin typeface="Montserrat Medium"/>
                  <a:ea typeface="Montserrat Medium"/>
                  <a:cs typeface="Montserrat Medium"/>
                  <a:sym typeface="Montserrat Medium"/>
                </a:rPr>
                <a:t>Scalability &amp; Process Isolation</a:t>
              </a:r>
            </a:p>
          </p:txBody>
        </p:sp>
      </p:grpSp>
      <p:grpSp>
        <p:nvGrpSpPr>
          <p:cNvPr id="13" name="Group 13"/>
          <p:cNvGrpSpPr/>
          <p:nvPr/>
        </p:nvGrpSpPr>
        <p:grpSpPr>
          <a:xfrm>
            <a:off x="12553297" y="6149534"/>
            <a:ext cx="3939913" cy="1976686"/>
            <a:chOff x="0" y="0"/>
            <a:chExt cx="5253217" cy="2635581"/>
          </a:xfrm>
        </p:grpSpPr>
        <p:sp>
          <p:nvSpPr>
            <p:cNvPr id="14" name="TextBox 14"/>
            <p:cNvSpPr txBox="1"/>
            <p:nvPr/>
          </p:nvSpPr>
          <p:spPr>
            <a:xfrm>
              <a:off x="0" y="870987"/>
              <a:ext cx="5253217" cy="1764594"/>
            </a:xfrm>
            <a:prstGeom prst="rect">
              <a:avLst/>
            </a:prstGeom>
          </p:spPr>
          <p:txBody>
            <a:bodyPr lIns="0" tIns="0" rIns="0" bIns="0" rtlCol="0" anchor="t">
              <a:spAutoFit/>
            </a:bodyPr>
            <a:lstStyle/>
            <a:p>
              <a:pPr marL="0" lvl="0" indent="0" algn="l">
                <a:lnSpc>
                  <a:spcPts val="2129"/>
                </a:lnSpc>
              </a:pPr>
              <a:r>
                <a:rPr lang="en-US" sz="1520" spc="-15">
                  <a:solidFill>
                    <a:srgbClr val="FFFFFF"/>
                  </a:solidFill>
                  <a:latin typeface="Montserrat Extra-Light"/>
                  <a:ea typeface="Montserrat Extra-Light"/>
                  <a:cs typeface="Montserrat Extra-Light"/>
                  <a:sym typeface="Montserrat Extra-Light"/>
                </a:rPr>
                <a:t>Docker shares the host OS kernel, using far fewer resources than virtual machines. Seamlessly integrates with CI/CD pipelines, enabling consistent and automated software delivery workflows.</a:t>
              </a:r>
            </a:p>
          </p:txBody>
        </p:sp>
        <p:sp>
          <p:nvSpPr>
            <p:cNvPr id="15" name="TextBox 15"/>
            <p:cNvSpPr txBox="1"/>
            <p:nvPr/>
          </p:nvSpPr>
          <p:spPr>
            <a:xfrm>
              <a:off x="0" y="0"/>
              <a:ext cx="4700411" cy="685800"/>
            </a:xfrm>
            <a:prstGeom prst="rect">
              <a:avLst/>
            </a:prstGeom>
          </p:spPr>
          <p:txBody>
            <a:bodyPr lIns="0" tIns="0" rIns="0" bIns="0" rtlCol="0" anchor="t">
              <a:spAutoFit/>
            </a:bodyPr>
            <a:lstStyle/>
            <a:p>
              <a:pPr marL="0" lvl="0" indent="0" algn="l">
                <a:lnSpc>
                  <a:spcPts val="2034"/>
                </a:lnSpc>
              </a:pPr>
              <a:r>
                <a:rPr lang="en-US" sz="1695" b="1" spc="-16">
                  <a:solidFill>
                    <a:srgbClr val="FFFFFF"/>
                  </a:solidFill>
                  <a:latin typeface="Montserrat Medium"/>
                  <a:ea typeface="Montserrat Medium"/>
                  <a:cs typeface="Montserrat Medium"/>
                  <a:sym typeface="Montserrat Medium"/>
                </a:rPr>
                <a:t>Efficient Resources &amp; Continuous Delivery</a:t>
              </a:r>
            </a:p>
          </p:txBody>
        </p:sp>
      </p:grpSp>
      <p:grpSp>
        <p:nvGrpSpPr>
          <p:cNvPr id="16" name="Group 16"/>
          <p:cNvGrpSpPr/>
          <p:nvPr/>
        </p:nvGrpSpPr>
        <p:grpSpPr>
          <a:xfrm>
            <a:off x="-425100" y="7079291"/>
            <a:ext cx="850199" cy="1072772"/>
            <a:chOff x="0" y="0"/>
            <a:chExt cx="249721" cy="315095"/>
          </a:xfrm>
        </p:grpSpPr>
        <p:sp>
          <p:nvSpPr>
            <p:cNvPr id="17" name="Freeform 17"/>
            <p:cNvSpPr/>
            <p:nvPr/>
          </p:nvSpPr>
          <p:spPr>
            <a:xfrm>
              <a:off x="0" y="0"/>
              <a:ext cx="249721" cy="315095"/>
            </a:xfrm>
            <a:custGeom>
              <a:avLst/>
              <a:gdLst/>
              <a:ahLst/>
              <a:cxnLst/>
              <a:rect l="l" t="t" r="r" b="b"/>
              <a:pathLst>
                <a:path w="249721" h="315095">
                  <a:moveTo>
                    <a:pt x="0" y="0"/>
                  </a:moveTo>
                  <a:lnTo>
                    <a:pt x="249721" y="0"/>
                  </a:lnTo>
                  <a:lnTo>
                    <a:pt x="249721" y="315095"/>
                  </a:lnTo>
                  <a:lnTo>
                    <a:pt x="0" y="315095"/>
                  </a:lnTo>
                  <a:close/>
                </a:path>
              </a:pathLst>
            </a:custGeom>
            <a:solidFill>
              <a:srgbClr val="CAF0F8"/>
            </a:solidFill>
          </p:spPr>
        </p:sp>
        <p:sp>
          <p:nvSpPr>
            <p:cNvPr id="18" name="TextBox 18"/>
            <p:cNvSpPr txBox="1"/>
            <p:nvPr/>
          </p:nvSpPr>
          <p:spPr>
            <a:xfrm>
              <a:off x="0" y="-38100"/>
              <a:ext cx="249721" cy="353195"/>
            </a:xfrm>
            <a:prstGeom prst="rect">
              <a:avLst/>
            </a:prstGeom>
          </p:spPr>
          <p:txBody>
            <a:bodyPr lIns="50800" tIns="50800" rIns="50800" bIns="50800" rtlCol="0" anchor="ctr"/>
            <a:lstStyle/>
            <a:p>
              <a:pPr marL="0" lvl="0" indent="0" algn="ctr">
                <a:lnSpc>
                  <a:spcPts val="2659"/>
                </a:lnSpc>
                <a:spcBef>
                  <a:spcPct val="0"/>
                </a:spcBef>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4181">
                <a:alpha val="100000"/>
              </a:srgbClr>
            </a:gs>
            <a:gs pos="100000">
              <a:srgbClr val="0A254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526314" y="7383994"/>
            <a:ext cx="2416260" cy="1500593"/>
            <a:chOff x="0" y="0"/>
            <a:chExt cx="709705" cy="440755"/>
          </a:xfrm>
        </p:grpSpPr>
        <p:sp>
          <p:nvSpPr>
            <p:cNvPr id="3" name="Freeform 3"/>
            <p:cNvSpPr/>
            <p:nvPr/>
          </p:nvSpPr>
          <p:spPr>
            <a:xfrm>
              <a:off x="0" y="0"/>
              <a:ext cx="709705" cy="440755"/>
            </a:xfrm>
            <a:custGeom>
              <a:avLst/>
              <a:gdLst/>
              <a:ahLst/>
              <a:cxnLst/>
              <a:rect l="l" t="t" r="r" b="b"/>
              <a:pathLst>
                <a:path w="709705" h="440755">
                  <a:moveTo>
                    <a:pt x="0" y="0"/>
                  </a:moveTo>
                  <a:lnTo>
                    <a:pt x="709705" y="0"/>
                  </a:lnTo>
                  <a:lnTo>
                    <a:pt x="709705" y="440755"/>
                  </a:lnTo>
                  <a:lnTo>
                    <a:pt x="0" y="440755"/>
                  </a:lnTo>
                  <a:close/>
                </a:path>
              </a:pathLst>
            </a:custGeom>
            <a:solidFill>
              <a:srgbClr val="CAF0F8"/>
            </a:solidFill>
          </p:spPr>
        </p:sp>
        <p:sp>
          <p:nvSpPr>
            <p:cNvPr id="4" name="TextBox 4"/>
            <p:cNvSpPr txBox="1"/>
            <p:nvPr/>
          </p:nvSpPr>
          <p:spPr>
            <a:xfrm>
              <a:off x="0" y="-38100"/>
              <a:ext cx="709705" cy="47885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7769329" y="2625492"/>
            <a:ext cx="2416260" cy="1500593"/>
            <a:chOff x="0" y="0"/>
            <a:chExt cx="709705" cy="440755"/>
          </a:xfrm>
        </p:grpSpPr>
        <p:sp>
          <p:nvSpPr>
            <p:cNvPr id="6" name="Freeform 6"/>
            <p:cNvSpPr/>
            <p:nvPr/>
          </p:nvSpPr>
          <p:spPr>
            <a:xfrm>
              <a:off x="0" y="0"/>
              <a:ext cx="709705" cy="440755"/>
            </a:xfrm>
            <a:custGeom>
              <a:avLst/>
              <a:gdLst/>
              <a:ahLst/>
              <a:cxnLst/>
              <a:rect l="l" t="t" r="r" b="b"/>
              <a:pathLst>
                <a:path w="709705" h="440755">
                  <a:moveTo>
                    <a:pt x="0" y="0"/>
                  </a:moveTo>
                  <a:lnTo>
                    <a:pt x="709705" y="0"/>
                  </a:lnTo>
                  <a:lnTo>
                    <a:pt x="709705" y="440755"/>
                  </a:lnTo>
                  <a:lnTo>
                    <a:pt x="0" y="440755"/>
                  </a:lnTo>
                  <a:close/>
                </a:path>
              </a:pathLst>
            </a:custGeom>
            <a:solidFill>
              <a:srgbClr val="CAF0F8"/>
            </a:solidFill>
          </p:spPr>
        </p:sp>
        <p:sp>
          <p:nvSpPr>
            <p:cNvPr id="7" name="TextBox 7"/>
            <p:cNvSpPr txBox="1"/>
            <p:nvPr/>
          </p:nvSpPr>
          <p:spPr>
            <a:xfrm>
              <a:off x="0" y="-38100"/>
              <a:ext cx="709705" cy="47885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8" name="Freeform 8"/>
          <p:cNvSpPr/>
          <p:nvPr/>
        </p:nvSpPr>
        <p:spPr>
          <a:xfrm>
            <a:off x="10426191" y="986346"/>
            <a:ext cx="5720807" cy="5701480"/>
          </a:xfrm>
          <a:custGeom>
            <a:avLst/>
            <a:gdLst/>
            <a:ahLst/>
            <a:cxnLst/>
            <a:rect l="l" t="t" r="r" b="b"/>
            <a:pathLst>
              <a:path w="5720807" h="5701480">
                <a:moveTo>
                  <a:pt x="0" y="0"/>
                </a:moveTo>
                <a:lnTo>
                  <a:pt x="5720808" y="0"/>
                </a:lnTo>
                <a:lnTo>
                  <a:pt x="5720808" y="5701480"/>
                </a:lnTo>
                <a:lnTo>
                  <a:pt x="0" y="5701480"/>
                </a:lnTo>
                <a:lnTo>
                  <a:pt x="0" y="0"/>
                </a:lnTo>
                <a:close/>
              </a:path>
            </a:pathLst>
          </a:custGeom>
          <a:blipFill>
            <a:blip r:embed="rId2"/>
            <a:stretch>
              <a:fillRect/>
            </a:stretch>
          </a:blipFill>
        </p:spPr>
      </p:sp>
      <p:sp>
        <p:nvSpPr>
          <p:cNvPr id="9" name="TextBox 9"/>
          <p:cNvSpPr txBox="1"/>
          <p:nvPr/>
        </p:nvSpPr>
        <p:spPr>
          <a:xfrm>
            <a:off x="1882074" y="2694151"/>
            <a:ext cx="5861474" cy="2781104"/>
          </a:xfrm>
          <a:prstGeom prst="rect">
            <a:avLst/>
          </a:prstGeom>
        </p:spPr>
        <p:txBody>
          <a:bodyPr lIns="0" tIns="0" rIns="0" bIns="0" rtlCol="0" anchor="t">
            <a:spAutoFit/>
          </a:bodyPr>
          <a:lstStyle/>
          <a:p>
            <a:pPr marL="0" lvl="0" indent="0" algn="l">
              <a:lnSpc>
                <a:spcPts val="7195"/>
              </a:lnSpc>
            </a:pPr>
            <a:r>
              <a:rPr lang="en-US" sz="7994" b="1" spc="-639">
                <a:solidFill>
                  <a:srgbClr val="FFFFFF"/>
                </a:solidFill>
                <a:latin typeface="Montserrat Medium"/>
                <a:ea typeface="Montserrat Medium"/>
                <a:cs typeface="Montserrat Medium"/>
                <a:sym typeface="Montserrat Medium"/>
              </a:rPr>
              <a:t>Introduction to Kubernetes</a:t>
            </a:r>
          </a:p>
        </p:txBody>
      </p:sp>
      <p:sp>
        <p:nvSpPr>
          <p:cNvPr id="10" name="TextBox 10"/>
          <p:cNvSpPr txBox="1"/>
          <p:nvPr/>
        </p:nvSpPr>
        <p:spPr>
          <a:xfrm>
            <a:off x="1882074" y="7818085"/>
            <a:ext cx="6339175" cy="1378787"/>
          </a:xfrm>
          <a:prstGeom prst="rect">
            <a:avLst/>
          </a:prstGeom>
        </p:spPr>
        <p:txBody>
          <a:bodyPr lIns="0" tIns="0" rIns="0" bIns="0" rtlCol="0" anchor="t">
            <a:spAutoFit/>
          </a:bodyPr>
          <a:lstStyle/>
          <a:p>
            <a:pPr marL="0" lvl="0" indent="0" algn="l">
              <a:lnSpc>
                <a:spcPts val="2228"/>
              </a:lnSpc>
            </a:pPr>
            <a:r>
              <a:rPr lang="en-US" sz="1592" spc="-15">
                <a:solidFill>
                  <a:srgbClr val="FFFFFF"/>
                </a:solidFill>
                <a:latin typeface="Montserrat Extra-Light"/>
                <a:ea typeface="Montserrat Extra-Light"/>
                <a:cs typeface="Montserrat Extra-Light"/>
                <a:sym typeface="Montserrat Extra-Light"/>
              </a:rPr>
              <a:t>Kubernetes (K8s) is an open-source container orchestration platform that automates deployment, scaling, and management of containerized applications. Key features include: automatic scheduling, self-healing, horizontal scaling, service discovery, load balancing, and rolling updates with zero downtime.</a:t>
            </a:r>
          </a:p>
        </p:txBody>
      </p:sp>
      <p:sp>
        <p:nvSpPr>
          <p:cNvPr id="11" name="TextBox 11"/>
          <p:cNvSpPr txBox="1"/>
          <p:nvPr/>
        </p:nvSpPr>
        <p:spPr>
          <a:xfrm>
            <a:off x="10066751" y="7818085"/>
            <a:ext cx="6339175" cy="1378787"/>
          </a:xfrm>
          <a:prstGeom prst="rect">
            <a:avLst/>
          </a:prstGeom>
        </p:spPr>
        <p:txBody>
          <a:bodyPr lIns="0" tIns="0" rIns="0" bIns="0" rtlCol="0" anchor="t">
            <a:spAutoFit/>
          </a:bodyPr>
          <a:lstStyle/>
          <a:p>
            <a:pPr marL="0" lvl="0" indent="0" algn="l">
              <a:lnSpc>
                <a:spcPts val="2228"/>
              </a:lnSpc>
            </a:pPr>
            <a:r>
              <a:rPr lang="en-US" sz="1592" spc="-15">
                <a:solidFill>
                  <a:srgbClr val="FFFFFF"/>
                </a:solidFill>
                <a:latin typeface="Montserrat Extra-Light"/>
                <a:ea typeface="Montserrat Extra-Light"/>
                <a:cs typeface="Montserrat Extra-Light"/>
                <a:sym typeface="Montserrat Extra-Light"/>
              </a:rPr>
              <a:t>Advantages over manual management: eliminates human error, ensures high availability, and automates repetitive tasks. Kubernetes works seamlessly with Docker — Docker packages and runs containers, while Kubernetes orchestrates and manages them at scale across clusters of machines.</a:t>
            </a:r>
          </a:p>
        </p:txBody>
      </p:sp>
      <p:sp>
        <p:nvSpPr>
          <p:cNvPr id="12" name="TextBox 12"/>
          <p:cNvSpPr txBox="1"/>
          <p:nvPr/>
        </p:nvSpPr>
        <p:spPr>
          <a:xfrm>
            <a:off x="1882074" y="7393519"/>
            <a:ext cx="6205294" cy="285750"/>
          </a:xfrm>
          <a:prstGeom prst="rect">
            <a:avLst/>
          </a:prstGeom>
        </p:spPr>
        <p:txBody>
          <a:bodyPr lIns="0" tIns="0" rIns="0" bIns="0" rtlCol="0" anchor="t">
            <a:spAutoFit/>
          </a:bodyPr>
          <a:lstStyle/>
          <a:p>
            <a:pPr marL="0" lvl="0" indent="0" algn="l">
              <a:lnSpc>
                <a:spcPts val="2398"/>
              </a:lnSpc>
            </a:pPr>
            <a:r>
              <a:rPr lang="en-US" sz="1998" b="1" spc="-19">
                <a:solidFill>
                  <a:srgbClr val="FFFFFF"/>
                </a:solidFill>
                <a:latin typeface="Montserrat Medium"/>
                <a:ea typeface="Montserrat Medium"/>
                <a:cs typeface="Montserrat Medium"/>
                <a:sym typeface="Montserrat Medium"/>
              </a:rPr>
              <a:t>What is Kubernetes &amp; Key Features</a:t>
            </a:r>
          </a:p>
        </p:txBody>
      </p:sp>
      <p:sp>
        <p:nvSpPr>
          <p:cNvPr id="13" name="TextBox 13"/>
          <p:cNvSpPr txBox="1"/>
          <p:nvPr/>
        </p:nvSpPr>
        <p:spPr>
          <a:xfrm>
            <a:off x="10066751" y="7393519"/>
            <a:ext cx="4582725" cy="285750"/>
          </a:xfrm>
          <a:prstGeom prst="rect">
            <a:avLst/>
          </a:prstGeom>
        </p:spPr>
        <p:txBody>
          <a:bodyPr lIns="0" tIns="0" rIns="0" bIns="0" rtlCol="0" anchor="t">
            <a:spAutoFit/>
          </a:bodyPr>
          <a:lstStyle/>
          <a:p>
            <a:pPr marL="0" lvl="0" indent="0" algn="l">
              <a:lnSpc>
                <a:spcPts val="2398"/>
              </a:lnSpc>
            </a:pPr>
            <a:r>
              <a:rPr lang="en-US" sz="1998" b="1" spc="-19">
                <a:solidFill>
                  <a:srgbClr val="FFFFFF"/>
                </a:solidFill>
                <a:latin typeface="Montserrat Medium"/>
                <a:ea typeface="Montserrat Medium"/>
                <a:cs typeface="Montserrat Medium"/>
                <a:sym typeface="Montserrat Medium"/>
              </a:rPr>
              <a:t>Advantages &amp; Docker Integration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4181">
                <a:alpha val="100000"/>
              </a:srgbClr>
            </a:gs>
            <a:gs pos="100000">
              <a:srgbClr val="0A2540">
                <a:alpha val="100000"/>
              </a:srgbClr>
            </a:gs>
          </a:gsLst>
          <a:path path="circle">
            <a:fillToRect l="50000" t="50000" r="50000" b="50000"/>
          </a:path>
        </a:gra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5936083" cy="8229600"/>
            <a:chOff x="0" y="0"/>
            <a:chExt cx="2856069" cy="3959565"/>
          </a:xfrm>
        </p:grpSpPr>
        <p:sp>
          <p:nvSpPr>
            <p:cNvPr id="3" name="Freeform 3"/>
            <p:cNvSpPr/>
            <p:nvPr/>
          </p:nvSpPr>
          <p:spPr>
            <a:xfrm>
              <a:off x="0" y="0"/>
              <a:ext cx="2856073" cy="3959565"/>
            </a:xfrm>
            <a:custGeom>
              <a:avLst/>
              <a:gdLst/>
              <a:ahLst/>
              <a:cxnLst/>
              <a:rect l="l" t="t" r="r" b="b"/>
              <a:pathLst>
                <a:path w="2856073" h="3959565">
                  <a:moveTo>
                    <a:pt x="2856073" y="3343967"/>
                  </a:moveTo>
                  <a:lnTo>
                    <a:pt x="2856073" y="561989"/>
                  </a:lnTo>
                  <a:cubicBezTo>
                    <a:pt x="2856075" y="522853"/>
                    <a:pt x="2841651" y="485089"/>
                    <a:pt x="2815560" y="455919"/>
                  </a:cubicBezTo>
                  <a:lnTo>
                    <a:pt x="2441808" y="38122"/>
                  </a:lnTo>
                  <a:cubicBezTo>
                    <a:pt x="2420108" y="13865"/>
                    <a:pt x="2389103" y="0"/>
                    <a:pt x="2356557" y="0"/>
                  </a:cubicBezTo>
                  <a:lnTo>
                    <a:pt x="114384" y="0"/>
                  </a:lnTo>
                  <a:cubicBezTo>
                    <a:pt x="51211" y="0"/>
                    <a:pt x="0" y="51211"/>
                    <a:pt x="0" y="114384"/>
                  </a:cubicBezTo>
                  <a:lnTo>
                    <a:pt x="0" y="501214"/>
                  </a:lnTo>
                  <a:lnTo>
                    <a:pt x="0" y="3389310"/>
                  </a:lnTo>
                  <a:cubicBezTo>
                    <a:pt x="0" y="3433775"/>
                    <a:pt x="16390" y="3476680"/>
                    <a:pt x="46036" y="3509820"/>
                  </a:cubicBezTo>
                  <a:lnTo>
                    <a:pt x="414263" y="3921444"/>
                  </a:lnTo>
                  <a:cubicBezTo>
                    <a:pt x="435962" y="3945701"/>
                    <a:pt x="466967" y="3959565"/>
                    <a:pt x="499514" y="3959565"/>
                  </a:cubicBezTo>
                  <a:lnTo>
                    <a:pt x="2340185" y="3959565"/>
                  </a:lnTo>
                  <a:cubicBezTo>
                    <a:pt x="2370522" y="3959566"/>
                    <a:pt x="2399616" y="3947514"/>
                    <a:pt x="2421067" y="3926063"/>
                  </a:cubicBezTo>
                  <a:cubicBezTo>
                    <a:pt x="2442519" y="3904612"/>
                    <a:pt x="2454570" y="3875518"/>
                    <a:pt x="2454570" y="3845182"/>
                  </a:cubicBezTo>
                  <a:lnTo>
                    <a:pt x="2454570" y="3572736"/>
                  </a:lnTo>
                  <a:cubicBezTo>
                    <a:pt x="2454570" y="3509563"/>
                    <a:pt x="2505782" y="3458351"/>
                    <a:pt x="2568955" y="3458351"/>
                  </a:cubicBezTo>
                  <a:lnTo>
                    <a:pt x="2741687" y="3458351"/>
                  </a:lnTo>
                  <a:cubicBezTo>
                    <a:pt x="2772024" y="3458352"/>
                    <a:pt x="2801118" y="3446301"/>
                    <a:pt x="2822570" y="3424849"/>
                  </a:cubicBezTo>
                  <a:cubicBezTo>
                    <a:pt x="2844022" y="3403398"/>
                    <a:pt x="2856073" y="3374304"/>
                    <a:pt x="2856073" y="3343967"/>
                  </a:cubicBezTo>
                  <a:close/>
                </a:path>
              </a:pathLst>
            </a:custGeom>
            <a:blipFill>
              <a:blip r:embed="rId2"/>
              <a:stretch>
                <a:fillRect t="-90" b="-90"/>
              </a:stretch>
            </a:blipFill>
            <a:ln cap="sq">
              <a:noFill/>
              <a:prstDash val="solid"/>
              <a:miter/>
            </a:ln>
          </p:spPr>
        </p:sp>
      </p:grpSp>
      <p:grpSp>
        <p:nvGrpSpPr>
          <p:cNvPr id="4" name="Group 4"/>
          <p:cNvGrpSpPr/>
          <p:nvPr/>
        </p:nvGrpSpPr>
        <p:grpSpPr>
          <a:xfrm>
            <a:off x="8228275" y="4549258"/>
            <a:ext cx="10628249" cy="4351127"/>
            <a:chOff x="0" y="0"/>
            <a:chExt cx="3121732" cy="1278014"/>
          </a:xfrm>
        </p:grpSpPr>
        <p:sp>
          <p:nvSpPr>
            <p:cNvPr id="5" name="Freeform 5"/>
            <p:cNvSpPr/>
            <p:nvPr/>
          </p:nvSpPr>
          <p:spPr>
            <a:xfrm>
              <a:off x="0" y="0"/>
              <a:ext cx="3121732" cy="1278014"/>
            </a:xfrm>
            <a:custGeom>
              <a:avLst/>
              <a:gdLst/>
              <a:ahLst/>
              <a:cxnLst/>
              <a:rect l="l" t="t" r="r" b="b"/>
              <a:pathLst>
                <a:path w="3121732" h="1278014">
                  <a:moveTo>
                    <a:pt x="0" y="0"/>
                  </a:moveTo>
                  <a:lnTo>
                    <a:pt x="3121732" y="0"/>
                  </a:lnTo>
                  <a:lnTo>
                    <a:pt x="3121732" y="1278014"/>
                  </a:lnTo>
                  <a:lnTo>
                    <a:pt x="0" y="1278014"/>
                  </a:lnTo>
                  <a:close/>
                </a:path>
              </a:pathLst>
            </a:custGeom>
            <a:gradFill rotWithShape="1">
              <a:gsLst>
                <a:gs pos="0">
                  <a:srgbClr val="004181">
                    <a:alpha val="100000"/>
                  </a:srgbClr>
                </a:gs>
                <a:gs pos="100000">
                  <a:srgbClr val="004181">
                    <a:alpha val="0"/>
                  </a:srgbClr>
                </a:gs>
              </a:gsLst>
              <a:lin ang="0"/>
            </a:gradFill>
          </p:spPr>
        </p:sp>
        <p:sp>
          <p:nvSpPr>
            <p:cNvPr id="6" name="TextBox 6"/>
            <p:cNvSpPr txBox="1"/>
            <p:nvPr/>
          </p:nvSpPr>
          <p:spPr>
            <a:xfrm>
              <a:off x="0" y="-38100"/>
              <a:ext cx="3121732" cy="131611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7" name="TextBox 7"/>
          <p:cNvSpPr txBox="1"/>
          <p:nvPr/>
        </p:nvSpPr>
        <p:spPr>
          <a:xfrm>
            <a:off x="8455674" y="1181100"/>
            <a:ext cx="6853242" cy="2070101"/>
          </a:xfrm>
          <a:prstGeom prst="rect">
            <a:avLst/>
          </a:prstGeom>
        </p:spPr>
        <p:txBody>
          <a:bodyPr lIns="0" tIns="0" rIns="0" bIns="0" rtlCol="0" anchor="t">
            <a:spAutoFit/>
          </a:bodyPr>
          <a:lstStyle/>
          <a:p>
            <a:pPr marL="0" lvl="0" indent="0" algn="l">
              <a:lnSpc>
                <a:spcPts val="8000"/>
              </a:lnSpc>
            </a:pPr>
            <a:r>
              <a:rPr lang="en-US" sz="8000" b="1" spc="-640">
                <a:solidFill>
                  <a:srgbClr val="FFFFFF"/>
                </a:solidFill>
                <a:latin typeface="Montserrat Medium"/>
                <a:ea typeface="Montserrat Medium"/>
                <a:cs typeface="Montserrat Medium"/>
                <a:sym typeface="Montserrat Medium"/>
              </a:rPr>
              <a:t>Kubernetes Architecture</a:t>
            </a:r>
          </a:p>
        </p:txBody>
      </p:sp>
      <p:grpSp>
        <p:nvGrpSpPr>
          <p:cNvPr id="8" name="Group 8"/>
          <p:cNvGrpSpPr/>
          <p:nvPr/>
        </p:nvGrpSpPr>
        <p:grpSpPr>
          <a:xfrm>
            <a:off x="8686931" y="5159463"/>
            <a:ext cx="432498" cy="369478"/>
            <a:chOff x="0" y="0"/>
            <a:chExt cx="576664" cy="492638"/>
          </a:xfrm>
        </p:grpSpPr>
        <p:grpSp>
          <p:nvGrpSpPr>
            <p:cNvPr id="9" name="Group 9"/>
            <p:cNvGrpSpPr/>
            <p:nvPr/>
          </p:nvGrpSpPr>
          <p:grpSpPr>
            <a:xfrm>
              <a:off x="0" y="0"/>
              <a:ext cx="576664" cy="492638"/>
              <a:chOff x="0" y="0"/>
              <a:chExt cx="127033" cy="108523"/>
            </a:xfrm>
          </p:grpSpPr>
          <p:sp>
            <p:nvSpPr>
              <p:cNvPr id="10" name="Freeform 10"/>
              <p:cNvSpPr/>
              <p:nvPr/>
            </p:nvSpPr>
            <p:spPr>
              <a:xfrm>
                <a:off x="0" y="0"/>
                <a:ext cx="127034" cy="108523"/>
              </a:xfrm>
              <a:custGeom>
                <a:avLst/>
                <a:gdLst/>
                <a:ahLst/>
                <a:cxnLst/>
                <a:rect l="l" t="t" r="r" b="b"/>
                <a:pathLst>
                  <a:path w="127034" h="108523">
                    <a:moveTo>
                      <a:pt x="0" y="0"/>
                    </a:moveTo>
                    <a:lnTo>
                      <a:pt x="127034" y="0"/>
                    </a:lnTo>
                    <a:lnTo>
                      <a:pt x="127034" y="108523"/>
                    </a:lnTo>
                    <a:lnTo>
                      <a:pt x="0" y="108523"/>
                    </a:lnTo>
                    <a:close/>
                  </a:path>
                </a:pathLst>
              </a:custGeom>
              <a:solidFill>
                <a:srgbClr val="CAF0F8"/>
              </a:solidFill>
            </p:spPr>
          </p:sp>
          <p:sp>
            <p:nvSpPr>
              <p:cNvPr id="11" name="TextBox 11"/>
              <p:cNvSpPr txBox="1"/>
              <p:nvPr/>
            </p:nvSpPr>
            <p:spPr>
              <a:xfrm>
                <a:off x="0" y="-38100"/>
                <a:ext cx="127033" cy="14662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TextBox 12"/>
            <p:cNvSpPr txBox="1"/>
            <p:nvPr/>
          </p:nvSpPr>
          <p:spPr>
            <a:xfrm>
              <a:off x="58306" y="83187"/>
              <a:ext cx="460052" cy="354838"/>
            </a:xfrm>
            <a:prstGeom prst="rect">
              <a:avLst/>
            </a:prstGeom>
          </p:spPr>
          <p:txBody>
            <a:bodyPr lIns="0" tIns="0" rIns="0" bIns="0" rtlCol="0" anchor="t">
              <a:spAutoFit/>
            </a:bodyPr>
            <a:lstStyle/>
            <a:p>
              <a:pPr marL="0" lvl="0" indent="0" algn="ctr">
                <a:lnSpc>
                  <a:spcPts val="1946"/>
                </a:lnSpc>
              </a:pPr>
              <a:r>
                <a:rPr lang="en-US" sz="1946" b="1" spc="-155">
                  <a:solidFill>
                    <a:srgbClr val="000000"/>
                  </a:solidFill>
                  <a:latin typeface="Montserrat Semi-Bold"/>
                  <a:ea typeface="Montserrat Semi-Bold"/>
                  <a:cs typeface="Montserrat Semi-Bold"/>
                  <a:sym typeface="Montserrat Semi-Bold"/>
                </a:rPr>
                <a:t>01</a:t>
              </a:r>
            </a:p>
          </p:txBody>
        </p:sp>
      </p:grpSp>
      <p:grpSp>
        <p:nvGrpSpPr>
          <p:cNvPr id="13" name="Group 13"/>
          <p:cNvGrpSpPr/>
          <p:nvPr/>
        </p:nvGrpSpPr>
        <p:grpSpPr>
          <a:xfrm>
            <a:off x="8686931" y="7055766"/>
            <a:ext cx="432498" cy="380332"/>
            <a:chOff x="0" y="0"/>
            <a:chExt cx="127033" cy="111711"/>
          </a:xfrm>
        </p:grpSpPr>
        <p:sp>
          <p:nvSpPr>
            <p:cNvPr id="14" name="Freeform 14"/>
            <p:cNvSpPr/>
            <p:nvPr/>
          </p:nvSpPr>
          <p:spPr>
            <a:xfrm>
              <a:off x="0" y="0"/>
              <a:ext cx="127034" cy="111711"/>
            </a:xfrm>
            <a:custGeom>
              <a:avLst/>
              <a:gdLst/>
              <a:ahLst/>
              <a:cxnLst/>
              <a:rect l="l" t="t" r="r" b="b"/>
              <a:pathLst>
                <a:path w="127034" h="111711">
                  <a:moveTo>
                    <a:pt x="0" y="0"/>
                  </a:moveTo>
                  <a:lnTo>
                    <a:pt x="127034" y="0"/>
                  </a:lnTo>
                  <a:lnTo>
                    <a:pt x="127034" y="111711"/>
                  </a:lnTo>
                  <a:lnTo>
                    <a:pt x="0" y="111711"/>
                  </a:lnTo>
                  <a:close/>
                </a:path>
              </a:pathLst>
            </a:custGeom>
            <a:solidFill>
              <a:srgbClr val="4EA8DE"/>
            </a:solidFill>
          </p:spPr>
        </p:sp>
        <p:sp>
          <p:nvSpPr>
            <p:cNvPr id="15" name="TextBox 15"/>
            <p:cNvSpPr txBox="1"/>
            <p:nvPr/>
          </p:nvSpPr>
          <p:spPr>
            <a:xfrm>
              <a:off x="0" y="-38100"/>
              <a:ext cx="127033" cy="14981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6" name="TextBox 16"/>
          <p:cNvSpPr txBox="1"/>
          <p:nvPr/>
        </p:nvSpPr>
        <p:spPr>
          <a:xfrm>
            <a:off x="8730661" y="7125300"/>
            <a:ext cx="345039" cy="258985"/>
          </a:xfrm>
          <a:prstGeom prst="rect">
            <a:avLst/>
          </a:prstGeom>
        </p:spPr>
        <p:txBody>
          <a:bodyPr lIns="0" tIns="0" rIns="0" bIns="0" rtlCol="0" anchor="t">
            <a:spAutoFit/>
          </a:bodyPr>
          <a:lstStyle/>
          <a:p>
            <a:pPr marL="0" lvl="0" indent="0" algn="ctr">
              <a:lnSpc>
                <a:spcPts val="1946"/>
              </a:lnSpc>
            </a:pPr>
            <a:r>
              <a:rPr lang="en-US" sz="1946" b="1" spc="-155">
                <a:solidFill>
                  <a:srgbClr val="000000"/>
                </a:solidFill>
                <a:latin typeface="Montserrat Semi-Bold"/>
                <a:ea typeface="Montserrat Semi-Bold"/>
                <a:cs typeface="Montserrat Semi-Bold"/>
                <a:sym typeface="Montserrat Semi-Bold"/>
              </a:rPr>
              <a:t>02</a:t>
            </a:r>
          </a:p>
        </p:txBody>
      </p:sp>
      <p:grpSp>
        <p:nvGrpSpPr>
          <p:cNvPr id="17" name="Group 17"/>
          <p:cNvGrpSpPr/>
          <p:nvPr/>
        </p:nvGrpSpPr>
        <p:grpSpPr>
          <a:xfrm>
            <a:off x="13426771" y="5159463"/>
            <a:ext cx="432498" cy="380332"/>
            <a:chOff x="0" y="0"/>
            <a:chExt cx="127033" cy="111711"/>
          </a:xfrm>
        </p:grpSpPr>
        <p:sp>
          <p:nvSpPr>
            <p:cNvPr id="18" name="Freeform 18"/>
            <p:cNvSpPr/>
            <p:nvPr/>
          </p:nvSpPr>
          <p:spPr>
            <a:xfrm>
              <a:off x="0" y="0"/>
              <a:ext cx="127034" cy="111711"/>
            </a:xfrm>
            <a:custGeom>
              <a:avLst/>
              <a:gdLst/>
              <a:ahLst/>
              <a:cxnLst/>
              <a:rect l="l" t="t" r="r" b="b"/>
              <a:pathLst>
                <a:path w="127034" h="111711">
                  <a:moveTo>
                    <a:pt x="0" y="0"/>
                  </a:moveTo>
                  <a:lnTo>
                    <a:pt x="127034" y="0"/>
                  </a:lnTo>
                  <a:lnTo>
                    <a:pt x="127034" y="111711"/>
                  </a:lnTo>
                  <a:lnTo>
                    <a:pt x="0" y="111711"/>
                  </a:lnTo>
                  <a:close/>
                </a:path>
              </a:pathLst>
            </a:custGeom>
            <a:solidFill>
              <a:srgbClr val="4EA8DE"/>
            </a:solidFill>
          </p:spPr>
        </p:sp>
        <p:sp>
          <p:nvSpPr>
            <p:cNvPr id="19" name="TextBox 19"/>
            <p:cNvSpPr txBox="1"/>
            <p:nvPr/>
          </p:nvSpPr>
          <p:spPr>
            <a:xfrm>
              <a:off x="0" y="-38100"/>
              <a:ext cx="127033" cy="14981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0" name="TextBox 20"/>
          <p:cNvSpPr txBox="1"/>
          <p:nvPr/>
        </p:nvSpPr>
        <p:spPr>
          <a:xfrm>
            <a:off x="13470501" y="5228998"/>
            <a:ext cx="345039" cy="258985"/>
          </a:xfrm>
          <a:prstGeom prst="rect">
            <a:avLst/>
          </a:prstGeom>
        </p:spPr>
        <p:txBody>
          <a:bodyPr lIns="0" tIns="0" rIns="0" bIns="0" rtlCol="0" anchor="t">
            <a:spAutoFit/>
          </a:bodyPr>
          <a:lstStyle/>
          <a:p>
            <a:pPr marL="0" lvl="0" indent="0" algn="ctr">
              <a:lnSpc>
                <a:spcPts val="1946"/>
              </a:lnSpc>
            </a:pPr>
            <a:r>
              <a:rPr lang="en-US" sz="1946" b="1" spc="-155">
                <a:solidFill>
                  <a:srgbClr val="000000"/>
                </a:solidFill>
                <a:latin typeface="Montserrat Semi-Bold"/>
                <a:ea typeface="Montserrat Semi-Bold"/>
                <a:cs typeface="Montserrat Semi-Bold"/>
                <a:sym typeface="Montserrat Semi-Bold"/>
              </a:rPr>
              <a:t>03</a:t>
            </a:r>
          </a:p>
        </p:txBody>
      </p:sp>
      <p:grpSp>
        <p:nvGrpSpPr>
          <p:cNvPr id="21" name="Group 21"/>
          <p:cNvGrpSpPr/>
          <p:nvPr/>
        </p:nvGrpSpPr>
        <p:grpSpPr>
          <a:xfrm>
            <a:off x="13426771" y="7055766"/>
            <a:ext cx="432498" cy="380332"/>
            <a:chOff x="0" y="0"/>
            <a:chExt cx="127033" cy="111711"/>
          </a:xfrm>
        </p:grpSpPr>
        <p:sp>
          <p:nvSpPr>
            <p:cNvPr id="22" name="Freeform 22"/>
            <p:cNvSpPr/>
            <p:nvPr/>
          </p:nvSpPr>
          <p:spPr>
            <a:xfrm>
              <a:off x="0" y="0"/>
              <a:ext cx="127034" cy="111711"/>
            </a:xfrm>
            <a:custGeom>
              <a:avLst/>
              <a:gdLst/>
              <a:ahLst/>
              <a:cxnLst/>
              <a:rect l="l" t="t" r="r" b="b"/>
              <a:pathLst>
                <a:path w="127034" h="111711">
                  <a:moveTo>
                    <a:pt x="0" y="0"/>
                  </a:moveTo>
                  <a:lnTo>
                    <a:pt x="127034" y="0"/>
                  </a:lnTo>
                  <a:lnTo>
                    <a:pt x="127034" y="111711"/>
                  </a:lnTo>
                  <a:lnTo>
                    <a:pt x="0" y="111711"/>
                  </a:lnTo>
                  <a:close/>
                </a:path>
              </a:pathLst>
            </a:custGeom>
            <a:solidFill>
              <a:srgbClr val="CAF0F8"/>
            </a:solidFill>
          </p:spPr>
        </p:sp>
        <p:sp>
          <p:nvSpPr>
            <p:cNvPr id="23" name="TextBox 23"/>
            <p:cNvSpPr txBox="1"/>
            <p:nvPr/>
          </p:nvSpPr>
          <p:spPr>
            <a:xfrm>
              <a:off x="0" y="-38100"/>
              <a:ext cx="127033" cy="14981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4" name="TextBox 24"/>
          <p:cNvSpPr txBox="1"/>
          <p:nvPr/>
        </p:nvSpPr>
        <p:spPr>
          <a:xfrm>
            <a:off x="13470501" y="7125300"/>
            <a:ext cx="345039" cy="258985"/>
          </a:xfrm>
          <a:prstGeom prst="rect">
            <a:avLst/>
          </a:prstGeom>
        </p:spPr>
        <p:txBody>
          <a:bodyPr lIns="0" tIns="0" rIns="0" bIns="0" rtlCol="0" anchor="t">
            <a:spAutoFit/>
          </a:bodyPr>
          <a:lstStyle/>
          <a:p>
            <a:pPr marL="0" lvl="0" indent="0" algn="ctr">
              <a:lnSpc>
                <a:spcPts val="1946"/>
              </a:lnSpc>
            </a:pPr>
            <a:r>
              <a:rPr lang="en-US" sz="1946" b="1" spc="-155">
                <a:solidFill>
                  <a:srgbClr val="000000"/>
                </a:solidFill>
                <a:latin typeface="Montserrat Semi-Bold"/>
                <a:ea typeface="Montserrat Semi-Bold"/>
                <a:cs typeface="Montserrat Semi-Bold"/>
                <a:sym typeface="Montserrat Semi-Bold"/>
              </a:rPr>
              <a:t>17</a:t>
            </a:r>
          </a:p>
        </p:txBody>
      </p:sp>
      <p:sp>
        <p:nvSpPr>
          <p:cNvPr id="25" name="TextBox 25"/>
          <p:cNvSpPr txBox="1"/>
          <p:nvPr/>
        </p:nvSpPr>
        <p:spPr>
          <a:xfrm>
            <a:off x="9261041" y="5596641"/>
            <a:ext cx="3885633" cy="82677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The central management component of the Master Node. Exposes the Kubernetes API, handles all REST requests, and serves as the front-end for the control plane.</a:t>
            </a:r>
          </a:p>
        </p:txBody>
      </p:sp>
      <p:sp>
        <p:nvSpPr>
          <p:cNvPr id="26" name="TextBox 26"/>
          <p:cNvSpPr txBox="1"/>
          <p:nvPr/>
        </p:nvSpPr>
        <p:spPr>
          <a:xfrm>
            <a:off x="9261041" y="7508907"/>
            <a:ext cx="3885633" cy="61722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Assigns newly created Pods to available Worker Nodes based on resource availability, affinity rules, and scheduling policies defined in the cluster.</a:t>
            </a:r>
          </a:p>
        </p:txBody>
      </p:sp>
      <p:sp>
        <p:nvSpPr>
          <p:cNvPr id="27" name="TextBox 27"/>
          <p:cNvSpPr txBox="1"/>
          <p:nvPr/>
        </p:nvSpPr>
        <p:spPr>
          <a:xfrm>
            <a:off x="14002144" y="5596641"/>
            <a:ext cx="3816256" cy="82677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Host the actual workloads. Each node runs a Kubelet agent, a container runtime (Docker), and Kube-Proxy to manage networking and Pod execution.</a:t>
            </a:r>
          </a:p>
        </p:txBody>
      </p:sp>
      <p:sp>
        <p:nvSpPr>
          <p:cNvPr id="28" name="TextBox 28"/>
          <p:cNvSpPr txBox="1"/>
          <p:nvPr/>
        </p:nvSpPr>
        <p:spPr>
          <a:xfrm>
            <a:off x="14002144" y="7508907"/>
            <a:ext cx="3816256" cy="82677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Monitors cluster state via the API Server and reconciles actual state with desired state. Manages node, replication, endpoints, and service account controllers.</a:t>
            </a:r>
          </a:p>
        </p:txBody>
      </p:sp>
      <p:sp>
        <p:nvSpPr>
          <p:cNvPr id="29" name="TextBox 29"/>
          <p:cNvSpPr txBox="1"/>
          <p:nvPr/>
        </p:nvSpPr>
        <p:spPr>
          <a:xfrm>
            <a:off x="9261041" y="5133975"/>
            <a:ext cx="1799859" cy="304800"/>
          </a:xfrm>
          <a:prstGeom prst="rect">
            <a:avLst/>
          </a:prstGeom>
        </p:spPr>
        <p:txBody>
          <a:bodyPr lIns="0" tIns="0" rIns="0" bIns="0" rtlCol="0" anchor="t">
            <a:spAutoFit/>
          </a:bodyPr>
          <a:lstStyle/>
          <a:p>
            <a:pPr marL="0" lvl="0" indent="0" algn="l">
              <a:lnSpc>
                <a:spcPts val="2335"/>
              </a:lnSpc>
            </a:pPr>
            <a:r>
              <a:rPr lang="en-US" sz="1946" b="1" spc="-19">
                <a:solidFill>
                  <a:srgbClr val="FFFFFF"/>
                </a:solidFill>
                <a:latin typeface="Montserrat Medium"/>
                <a:ea typeface="Montserrat Medium"/>
                <a:cs typeface="Montserrat Medium"/>
                <a:sym typeface="Montserrat Medium"/>
              </a:rPr>
              <a:t>API Server</a:t>
            </a:r>
          </a:p>
        </p:txBody>
      </p:sp>
      <p:sp>
        <p:nvSpPr>
          <p:cNvPr id="30" name="TextBox 30"/>
          <p:cNvSpPr txBox="1"/>
          <p:nvPr/>
        </p:nvSpPr>
        <p:spPr>
          <a:xfrm>
            <a:off x="9261041" y="7046241"/>
            <a:ext cx="1799859" cy="304800"/>
          </a:xfrm>
          <a:prstGeom prst="rect">
            <a:avLst/>
          </a:prstGeom>
        </p:spPr>
        <p:txBody>
          <a:bodyPr lIns="0" tIns="0" rIns="0" bIns="0" rtlCol="0" anchor="t">
            <a:spAutoFit/>
          </a:bodyPr>
          <a:lstStyle/>
          <a:p>
            <a:pPr marL="0" lvl="0" indent="0" algn="l">
              <a:lnSpc>
                <a:spcPts val="2335"/>
              </a:lnSpc>
            </a:pPr>
            <a:r>
              <a:rPr lang="en-US" sz="1946" b="1" spc="-19">
                <a:solidFill>
                  <a:srgbClr val="FFFFFF"/>
                </a:solidFill>
                <a:latin typeface="Montserrat Medium"/>
                <a:ea typeface="Montserrat Medium"/>
                <a:cs typeface="Montserrat Medium"/>
                <a:sym typeface="Montserrat Medium"/>
              </a:rPr>
              <a:t>Scheduler</a:t>
            </a:r>
          </a:p>
        </p:txBody>
      </p:sp>
      <p:sp>
        <p:nvSpPr>
          <p:cNvPr id="31" name="TextBox 31"/>
          <p:cNvSpPr txBox="1"/>
          <p:nvPr/>
        </p:nvSpPr>
        <p:spPr>
          <a:xfrm>
            <a:off x="14002144" y="5133975"/>
            <a:ext cx="2402692" cy="304800"/>
          </a:xfrm>
          <a:prstGeom prst="rect">
            <a:avLst/>
          </a:prstGeom>
        </p:spPr>
        <p:txBody>
          <a:bodyPr lIns="0" tIns="0" rIns="0" bIns="0" rtlCol="0" anchor="t">
            <a:spAutoFit/>
          </a:bodyPr>
          <a:lstStyle/>
          <a:p>
            <a:pPr marL="0" lvl="0" indent="0" algn="l">
              <a:lnSpc>
                <a:spcPts val="2335"/>
              </a:lnSpc>
            </a:pPr>
            <a:r>
              <a:rPr lang="en-US" sz="1946" b="1" spc="-19">
                <a:solidFill>
                  <a:srgbClr val="FFFFFF"/>
                </a:solidFill>
                <a:latin typeface="Montserrat Medium"/>
                <a:ea typeface="Montserrat Medium"/>
                <a:cs typeface="Montserrat Medium"/>
                <a:sym typeface="Montserrat Medium"/>
              </a:rPr>
              <a:t>Worker Nodes</a:t>
            </a:r>
          </a:p>
        </p:txBody>
      </p:sp>
      <p:sp>
        <p:nvSpPr>
          <p:cNvPr id="32" name="TextBox 32"/>
          <p:cNvSpPr txBox="1"/>
          <p:nvPr/>
        </p:nvSpPr>
        <p:spPr>
          <a:xfrm>
            <a:off x="14002144" y="7046241"/>
            <a:ext cx="2402692" cy="304800"/>
          </a:xfrm>
          <a:prstGeom prst="rect">
            <a:avLst/>
          </a:prstGeom>
        </p:spPr>
        <p:txBody>
          <a:bodyPr lIns="0" tIns="0" rIns="0" bIns="0" rtlCol="0" anchor="t">
            <a:spAutoFit/>
          </a:bodyPr>
          <a:lstStyle/>
          <a:p>
            <a:pPr marL="0" lvl="0" indent="0" algn="l">
              <a:lnSpc>
                <a:spcPts val="2335"/>
              </a:lnSpc>
            </a:pPr>
            <a:r>
              <a:rPr lang="en-US" sz="1946" b="1" spc="-19">
                <a:solidFill>
                  <a:srgbClr val="FFFFFF"/>
                </a:solidFill>
                <a:latin typeface="Montserrat Medium"/>
                <a:ea typeface="Montserrat Medium"/>
                <a:cs typeface="Montserrat Medium"/>
                <a:sym typeface="Montserrat Medium"/>
              </a:rPr>
              <a:t>Controller Manager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9144000" y="6870656"/>
            <a:ext cx="9144000" cy="912579"/>
            <a:chOff x="0" y="0"/>
            <a:chExt cx="2685778" cy="268043"/>
          </a:xfrm>
        </p:grpSpPr>
        <p:sp>
          <p:nvSpPr>
            <p:cNvPr id="4" name="Freeform 4"/>
            <p:cNvSpPr/>
            <p:nvPr/>
          </p:nvSpPr>
          <p:spPr>
            <a:xfrm>
              <a:off x="0" y="0"/>
              <a:ext cx="2685778" cy="268043"/>
            </a:xfrm>
            <a:custGeom>
              <a:avLst/>
              <a:gdLst/>
              <a:ahLst/>
              <a:cxnLst/>
              <a:rect l="l" t="t" r="r" b="b"/>
              <a:pathLst>
                <a:path w="2685778" h="268043">
                  <a:moveTo>
                    <a:pt x="0" y="0"/>
                  </a:moveTo>
                  <a:lnTo>
                    <a:pt x="2685778" y="0"/>
                  </a:lnTo>
                  <a:lnTo>
                    <a:pt x="2685778" y="268043"/>
                  </a:lnTo>
                  <a:lnTo>
                    <a:pt x="0" y="268043"/>
                  </a:lnTo>
                  <a:close/>
                </a:path>
              </a:pathLst>
            </a:custGeom>
            <a:solidFill>
              <a:srgbClr val="CAF0F8"/>
            </a:solidFill>
          </p:spPr>
        </p:sp>
        <p:sp>
          <p:nvSpPr>
            <p:cNvPr id="5" name="TextBox 5"/>
            <p:cNvSpPr txBox="1"/>
            <p:nvPr/>
          </p:nvSpPr>
          <p:spPr>
            <a:xfrm>
              <a:off x="0" y="-38100"/>
              <a:ext cx="2685778" cy="30614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3453468" y="1713897"/>
            <a:ext cx="11381064" cy="1050783"/>
          </a:xfrm>
          <a:prstGeom prst="rect">
            <a:avLst/>
          </a:prstGeom>
        </p:spPr>
        <p:txBody>
          <a:bodyPr lIns="0" tIns="0" rIns="0" bIns="0" rtlCol="0" anchor="t">
            <a:spAutoFit/>
          </a:bodyPr>
          <a:lstStyle/>
          <a:p>
            <a:pPr marL="0" lvl="0" indent="0" algn="ctr">
              <a:lnSpc>
                <a:spcPts val="7994"/>
              </a:lnSpc>
            </a:pPr>
            <a:r>
              <a:rPr lang="en-US" sz="7994" b="1" spc="-639">
                <a:solidFill>
                  <a:srgbClr val="FFFFFF"/>
                </a:solidFill>
                <a:latin typeface="Montserrat Medium"/>
                <a:ea typeface="Montserrat Medium"/>
                <a:cs typeface="Montserrat Medium"/>
                <a:sym typeface="Montserrat Medium"/>
              </a:rPr>
              <a:t>Kubernetes Components</a:t>
            </a:r>
          </a:p>
        </p:txBody>
      </p:sp>
      <p:sp>
        <p:nvSpPr>
          <p:cNvPr id="7" name="TextBox 7"/>
          <p:cNvSpPr txBox="1"/>
          <p:nvPr/>
        </p:nvSpPr>
        <p:spPr>
          <a:xfrm>
            <a:off x="1028700" y="4392652"/>
            <a:ext cx="6310291" cy="1533674"/>
          </a:xfrm>
          <a:prstGeom prst="rect">
            <a:avLst/>
          </a:prstGeom>
        </p:spPr>
        <p:txBody>
          <a:bodyPr lIns="0" tIns="0" rIns="0" bIns="0" rtlCol="0" anchor="t">
            <a:spAutoFit/>
          </a:bodyPr>
          <a:lstStyle/>
          <a:p>
            <a:pPr marL="0" lvl="0" indent="0" algn="l">
              <a:lnSpc>
                <a:spcPts val="2091"/>
              </a:lnSpc>
            </a:pPr>
            <a:r>
              <a:rPr lang="en-US" sz="1494" spc="-14">
                <a:solidFill>
                  <a:srgbClr val="FFFFFF"/>
                </a:solidFill>
                <a:latin typeface="Montserrat Extra-Light"/>
                <a:ea typeface="Montserrat Extra-Light"/>
                <a:cs typeface="Montserrat Extra-Light"/>
                <a:sym typeface="Montserrat Extra-Light"/>
              </a:rPr>
              <a:t>Pod: Smallest deployable unit in Kubernetes; holds one or more containers sharing network and storage.</a:t>
            </a:r>
          </a:p>
          <a:p>
            <a:pPr marL="0" lvl="0" indent="0" algn="l">
              <a:lnSpc>
                <a:spcPts val="2091"/>
              </a:lnSpc>
            </a:pPr>
            <a:r>
              <a:rPr lang="en-US" sz="1494" spc="-14">
                <a:solidFill>
                  <a:srgbClr val="FFFFFF"/>
                </a:solidFill>
                <a:latin typeface="Montserrat Extra-Light"/>
                <a:ea typeface="Montserrat Extra-Light"/>
                <a:cs typeface="Montserrat Extra-Light"/>
                <a:sym typeface="Montserrat Extra-Light"/>
              </a:rPr>
              <a:t>Node: A worker machine (virtual or physical) that runs pods under the control of the Master Node.</a:t>
            </a:r>
          </a:p>
          <a:p>
            <a:pPr marL="0" lvl="0" indent="0" algn="l">
              <a:lnSpc>
                <a:spcPts val="2091"/>
              </a:lnSpc>
            </a:pPr>
            <a:r>
              <a:rPr lang="en-US" sz="1494" spc="-14">
                <a:solidFill>
                  <a:srgbClr val="FFFFFF"/>
                </a:solidFill>
                <a:latin typeface="Montserrat Extra-Light"/>
                <a:ea typeface="Montserrat Extra-Light"/>
                <a:cs typeface="Montserrat Extra-Light"/>
                <a:sym typeface="Montserrat Extra-Light"/>
              </a:rPr>
              <a:t>Deployment: Manages desired state for pods; handles rolling updates and rollbacks automatically.</a:t>
            </a:r>
          </a:p>
        </p:txBody>
      </p:sp>
      <p:sp>
        <p:nvSpPr>
          <p:cNvPr id="8" name="TextBox 8"/>
          <p:cNvSpPr txBox="1"/>
          <p:nvPr/>
        </p:nvSpPr>
        <p:spPr>
          <a:xfrm>
            <a:off x="1028700" y="6910897"/>
            <a:ext cx="6310291" cy="1533674"/>
          </a:xfrm>
          <a:prstGeom prst="rect">
            <a:avLst/>
          </a:prstGeom>
        </p:spPr>
        <p:txBody>
          <a:bodyPr lIns="0" tIns="0" rIns="0" bIns="0" rtlCol="0" anchor="t">
            <a:spAutoFit/>
          </a:bodyPr>
          <a:lstStyle/>
          <a:p>
            <a:pPr marL="0" lvl="0" indent="0" algn="l">
              <a:lnSpc>
                <a:spcPts val="2091"/>
              </a:lnSpc>
            </a:pPr>
            <a:r>
              <a:rPr lang="en-US" sz="1494" spc="-14">
                <a:solidFill>
                  <a:srgbClr val="FFFFFF"/>
                </a:solidFill>
                <a:latin typeface="Montserrat Extra-Light"/>
                <a:ea typeface="Montserrat Extra-Light"/>
                <a:cs typeface="Montserrat Extra-Light"/>
                <a:sym typeface="Montserrat Extra-Light"/>
              </a:rPr>
              <a:t>ReplicaSet: Ensures a specified number of pod replicas are running at all times for high availability.</a:t>
            </a:r>
          </a:p>
          <a:p>
            <a:pPr marL="0" lvl="0" indent="0" algn="l">
              <a:lnSpc>
                <a:spcPts val="2091"/>
              </a:lnSpc>
            </a:pPr>
            <a:r>
              <a:rPr lang="en-US" sz="1494" spc="-14">
                <a:solidFill>
                  <a:srgbClr val="FFFFFF"/>
                </a:solidFill>
                <a:latin typeface="Montserrat Extra-Light"/>
                <a:ea typeface="Montserrat Extra-Light"/>
                <a:cs typeface="Montserrat Extra-Light"/>
                <a:sym typeface="Montserrat Extra-Light"/>
              </a:rPr>
              <a:t>Service: Stable network endpoint that exposes pods; enables load balancing and service discovery.</a:t>
            </a:r>
          </a:p>
          <a:p>
            <a:pPr marL="0" lvl="0" indent="0" algn="l">
              <a:lnSpc>
                <a:spcPts val="2091"/>
              </a:lnSpc>
            </a:pPr>
            <a:r>
              <a:rPr lang="en-US" sz="1494" spc="-14">
                <a:solidFill>
                  <a:srgbClr val="FFFFFF"/>
                </a:solidFill>
                <a:latin typeface="Montserrat Extra-Light"/>
                <a:ea typeface="Montserrat Extra-Light"/>
                <a:cs typeface="Montserrat Extra-Light"/>
                <a:sym typeface="Montserrat Extra-Light"/>
              </a:rPr>
              <a:t>Namespace: Virtual cluster within Kubernetes; isolates resources and organizes workloads by team or environment.</a:t>
            </a:r>
          </a:p>
        </p:txBody>
      </p:sp>
      <p:sp>
        <p:nvSpPr>
          <p:cNvPr id="9" name="TextBox 9"/>
          <p:cNvSpPr txBox="1"/>
          <p:nvPr/>
        </p:nvSpPr>
        <p:spPr>
          <a:xfrm>
            <a:off x="9144000" y="4392652"/>
            <a:ext cx="6310291" cy="1533674"/>
          </a:xfrm>
          <a:prstGeom prst="rect">
            <a:avLst/>
          </a:prstGeom>
        </p:spPr>
        <p:txBody>
          <a:bodyPr lIns="0" tIns="0" rIns="0" bIns="0" rtlCol="0" anchor="t">
            <a:spAutoFit/>
          </a:bodyPr>
          <a:lstStyle/>
          <a:p>
            <a:pPr marL="0" lvl="0" indent="0" algn="l">
              <a:lnSpc>
                <a:spcPts val="2091"/>
              </a:lnSpc>
            </a:pPr>
            <a:r>
              <a:rPr lang="en-US" sz="1494" spc="-14">
                <a:solidFill>
                  <a:srgbClr val="FFFFFF"/>
                </a:solidFill>
                <a:latin typeface="Montserrat Extra-Light"/>
                <a:ea typeface="Montserrat Extra-Light"/>
                <a:cs typeface="Montserrat Extra-Light"/>
                <a:sym typeface="Montserrat Extra-Light"/>
              </a:rPr>
              <a:t>ConfigMap: Stores non-sensitive configuration data as key-value pairs; decouples config from container images.</a:t>
            </a:r>
          </a:p>
          <a:p>
            <a:pPr marL="0" lvl="0" indent="0" algn="l">
              <a:lnSpc>
                <a:spcPts val="2091"/>
              </a:lnSpc>
            </a:pPr>
            <a:r>
              <a:rPr lang="en-US" sz="1494" spc="-14">
                <a:solidFill>
                  <a:srgbClr val="FFFFFF"/>
                </a:solidFill>
                <a:latin typeface="Montserrat Extra-Light"/>
                <a:ea typeface="Montserrat Extra-Light"/>
                <a:cs typeface="Montserrat Extra-Light"/>
                <a:sym typeface="Montserrat Extra-Light"/>
              </a:rPr>
              <a:t>Secret: Securely stores sensitive data such as passwords, tokens, and API keys in encoded form.</a:t>
            </a:r>
          </a:p>
          <a:p>
            <a:pPr marL="0" lvl="0" indent="0" algn="l">
              <a:lnSpc>
                <a:spcPts val="2091"/>
              </a:lnSpc>
            </a:pPr>
            <a:r>
              <a:rPr lang="en-US" sz="1494" spc="-14">
                <a:solidFill>
                  <a:srgbClr val="FFFFFF"/>
                </a:solidFill>
                <a:latin typeface="Montserrat Extra-Light"/>
                <a:ea typeface="Montserrat Extra-Light"/>
                <a:cs typeface="Montserrat Extra-Light"/>
                <a:sym typeface="Montserrat Extra-Light"/>
              </a:rPr>
              <a:t>Scheduler: Assigns pods to nodes based on resource availability, constraints, and affinity rules.</a:t>
            </a:r>
          </a:p>
        </p:txBody>
      </p:sp>
      <p:sp>
        <p:nvSpPr>
          <p:cNvPr id="10" name="TextBox 10"/>
          <p:cNvSpPr txBox="1"/>
          <p:nvPr/>
        </p:nvSpPr>
        <p:spPr>
          <a:xfrm>
            <a:off x="1028700" y="3958561"/>
            <a:ext cx="4161264" cy="285750"/>
          </a:xfrm>
          <a:prstGeom prst="rect">
            <a:avLst/>
          </a:prstGeom>
        </p:spPr>
        <p:txBody>
          <a:bodyPr lIns="0" tIns="0" rIns="0" bIns="0" rtlCol="0" anchor="t">
            <a:spAutoFit/>
          </a:bodyPr>
          <a:lstStyle/>
          <a:p>
            <a:pPr marL="0" lvl="0" indent="0" algn="l">
              <a:lnSpc>
                <a:spcPts val="2398"/>
              </a:lnSpc>
            </a:pPr>
            <a:r>
              <a:rPr lang="en-US" sz="1998" b="1" spc="-19">
                <a:solidFill>
                  <a:srgbClr val="FFFFFF"/>
                </a:solidFill>
                <a:latin typeface="Montserrat Medium"/>
                <a:ea typeface="Montserrat Medium"/>
                <a:cs typeface="Montserrat Medium"/>
                <a:sym typeface="Montserrat Medium"/>
              </a:rPr>
              <a:t>Pods &amp; Nodes</a:t>
            </a:r>
          </a:p>
        </p:txBody>
      </p:sp>
      <p:sp>
        <p:nvSpPr>
          <p:cNvPr id="11" name="TextBox 11"/>
          <p:cNvSpPr txBox="1"/>
          <p:nvPr/>
        </p:nvSpPr>
        <p:spPr>
          <a:xfrm>
            <a:off x="1028700" y="6476806"/>
            <a:ext cx="4161264" cy="285750"/>
          </a:xfrm>
          <a:prstGeom prst="rect">
            <a:avLst/>
          </a:prstGeom>
        </p:spPr>
        <p:txBody>
          <a:bodyPr lIns="0" tIns="0" rIns="0" bIns="0" rtlCol="0" anchor="t">
            <a:spAutoFit/>
          </a:bodyPr>
          <a:lstStyle/>
          <a:p>
            <a:pPr marL="0" lvl="0" indent="0" algn="l">
              <a:lnSpc>
                <a:spcPts val="2398"/>
              </a:lnSpc>
            </a:pPr>
            <a:r>
              <a:rPr lang="en-US" sz="1998" b="1" spc="-19">
                <a:solidFill>
                  <a:srgbClr val="FFFFFF"/>
                </a:solidFill>
                <a:latin typeface="Montserrat Medium"/>
                <a:ea typeface="Montserrat Medium"/>
                <a:cs typeface="Montserrat Medium"/>
                <a:sym typeface="Montserrat Medium"/>
              </a:rPr>
              <a:t>ReplicaSets &amp; Services</a:t>
            </a:r>
          </a:p>
        </p:txBody>
      </p:sp>
      <p:sp>
        <p:nvSpPr>
          <p:cNvPr id="12" name="TextBox 12"/>
          <p:cNvSpPr txBox="1"/>
          <p:nvPr/>
        </p:nvSpPr>
        <p:spPr>
          <a:xfrm>
            <a:off x="9144000" y="3958561"/>
            <a:ext cx="4161264" cy="285750"/>
          </a:xfrm>
          <a:prstGeom prst="rect">
            <a:avLst/>
          </a:prstGeom>
        </p:spPr>
        <p:txBody>
          <a:bodyPr lIns="0" tIns="0" rIns="0" bIns="0" rtlCol="0" anchor="t">
            <a:spAutoFit/>
          </a:bodyPr>
          <a:lstStyle/>
          <a:p>
            <a:pPr marL="0" lvl="0" indent="0" algn="l">
              <a:lnSpc>
                <a:spcPts val="2398"/>
              </a:lnSpc>
            </a:pPr>
            <a:r>
              <a:rPr lang="en-US" sz="1998" b="1" spc="-19">
                <a:solidFill>
                  <a:srgbClr val="FFFFFF"/>
                </a:solidFill>
                <a:latin typeface="Montserrat Medium"/>
                <a:ea typeface="Montserrat Medium"/>
                <a:cs typeface="Montserrat Medium"/>
                <a:sym typeface="Montserrat Medium"/>
              </a:rPr>
              <a:t>ConfigMaps &amp; Secrets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TextBox 3"/>
          <p:cNvSpPr txBox="1"/>
          <p:nvPr/>
        </p:nvSpPr>
        <p:spPr>
          <a:xfrm>
            <a:off x="1028700" y="1643250"/>
            <a:ext cx="5495918" cy="2792730"/>
          </a:xfrm>
          <a:prstGeom prst="rect">
            <a:avLst/>
          </a:prstGeom>
        </p:spPr>
        <p:txBody>
          <a:bodyPr lIns="0" tIns="0" rIns="0" bIns="0" rtlCol="0" anchor="t">
            <a:spAutoFit/>
          </a:bodyPr>
          <a:lstStyle/>
          <a:p>
            <a:pPr marL="0" lvl="0" indent="0" algn="l">
              <a:lnSpc>
                <a:spcPts val="7200"/>
              </a:lnSpc>
            </a:pPr>
            <a:r>
              <a:rPr lang="en-US" sz="7200" b="1" spc="-576">
                <a:solidFill>
                  <a:srgbClr val="FFFFFF"/>
                </a:solidFill>
                <a:latin typeface="Montserrat Medium"/>
                <a:ea typeface="Montserrat Medium"/>
                <a:cs typeface="Montserrat Medium"/>
                <a:sym typeface="Montserrat Medium"/>
              </a:rPr>
              <a:t>Container Orchestration Features</a:t>
            </a:r>
          </a:p>
        </p:txBody>
      </p:sp>
      <p:sp>
        <p:nvSpPr>
          <p:cNvPr id="4" name="TextBox 4"/>
          <p:cNvSpPr txBox="1"/>
          <p:nvPr/>
        </p:nvSpPr>
        <p:spPr>
          <a:xfrm>
            <a:off x="1028700" y="5257053"/>
            <a:ext cx="7643835" cy="2165350"/>
          </a:xfrm>
          <a:prstGeom prst="rect">
            <a:avLst/>
          </a:prstGeom>
        </p:spPr>
        <p:txBody>
          <a:bodyPr lIns="0" tIns="0" rIns="0" bIns="0" rtlCol="0" anchor="t">
            <a:spAutoFit/>
          </a:bodyPr>
          <a:lstStyle/>
          <a:p>
            <a:pPr marL="0" lvl="0" indent="0" algn="l">
              <a:lnSpc>
                <a:spcPts val="3499"/>
              </a:lnSpc>
            </a:pPr>
            <a:r>
              <a:rPr lang="en-US" sz="2499" spc="-24">
                <a:solidFill>
                  <a:srgbClr val="FFFFFF"/>
                </a:solidFill>
                <a:latin typeface="Montserrat"/>
                <a:ea typeface="Montserrat"/>
                <a:cs typeface="Montserrat"/>
                <a:sym typeface="Montserrat"/>
              </a:rPr>
              <a:t>Automatic Deployment &amp; Auto-Scaling</a:t>
            </a:r>
          </a:p>
          <a:p>
            <a:pPr marL="0" lvl="0" indent="0" algn="l">
              <a:lnSpc>
                <a:spcPts val="3499"/>
              </a:lnSpc>
            </a:pPr>
            <a:r>
              <a:rPr lang="en-US" sz="2499" spc="-24">
                <a:solidFill>
                  <a:srgbClr val="FFFFFF"/>
                </a:solidFill>
                <a:latin typeface="Montserrat"/>
                <a:ea typeface="Montserrat"/>
                <a:cs typeface="Montserrat"/>
                <a:sym typeface="Montserrat"/>
              </a:rPr>
              <a:t>Scheduling &amp; Load Balancing</a:t>
            </a:r>
          </a:p>
          <a:p>
            <a:pPr marL="0" lvl="0" indent="0" algn="l">
              <a:lnSpc>
                <a:spcPts val="3499"/>
              </a:lnSpc>
            </a:pPr>
            <a:r>
              <a:rPr lang="en-US" sz="2499" spc="-24">
                <a:solidFill>
                  <a:srgbClr val="FFFFFF"/>
                </a:solidFill>
                <a:latin typeface="Montserrat"/>
                <a:ea typeface="Montserrat"/>
                <a:cs typeface="Montserrat"/>
                <a:sym typeface="Montserrat"/>
              </a:rPr>
              <a:t>Health Monitoring &amp; Self-Healing</a:t>
            </a:r>
          </a:p>
          <a:p>
            <a:pPr marL="0" lvl="0" indent="0" algn="l">
              <a:lnSpc>
                <a:spcPts val="3499"/>
              </a:lnSpc>
            </a:pPr>
            <a:r>
              <a:rPr lang="en-US" sz="2499" spc="-24">
                <a:solidFill>
                  <a:srgbClr val="FFFFFF"/>
                </a:solidFill>
                <a:latin typeface="Montserrat"/>
                <a:ea typeface="Montserrat"/>
                <a:cs typeface="Montserrat"/>
                <a:sym typeface="Montserrat"/>
              </a:rPr>
              <a:t>Rolling Updates &amp; Rollback</a:t>
            </a:r>
          </a:p>
          <a:p>
            <a:pPr marL="0" lvl="0" indent="0" algn="l">
              <a:lnSpc>
                <a:spcPts val="3499"/>
              </a:lnSpc>
            </a:pPr>
            <a:r>
              <a:rPr lang="en-US" sz="2499" spc="-24">
                <a:solidFill>
                  <a:srgbClr val="FFFFFF"/>
                </a:solidFill>
                <a:latin typeface="Montserrat"/>
                <a:ea typeface="Montserrat"/>
                <a:cs typeface="Montserrat"/>
                <a:sym typeface="Montserrat"/>
              </a:rPr>
              <a:t>High Availability Management</a:t>
            </a:r>
          </a:p>
        </p:txBody>
      </p:sp>
      <p:sp>
        <p:nvSpPr>
          <p:cNvPr id="5" name="TextBox 5"/>
          <p:cNvSpPr txBox="1"/>
          <p:nvPr/>
        </p:nvSpPr>
        <p:spPr>
          <a:xfrm>
            <a:off x="1028700" y="7946093"/>
            <a:ext cx="6382626" cy="1166495"/>
          </a:xfrm>
          <a:prstGeom prst="rect">
            <a:avLst/>
          </a:prstGeom>
        </p:spPr>
        <p:txBody>
          <a:bodyPr lIns="0" tIns="0" rIns="0" bIns="0" rtlCol="0" anchor="t">
            <a:spAutoFit/>
          </a:bodyPr>
          <a:lstStyle/>
          <a:p>
            <a:pPr marL="0" lvl="0" indent="0" algn="l">
              <a:lnSpc>
                <a:spcPts val="2380"/>
              </a:lnSpc>
            </a:pPr>
            <a:r>
              <a:rPr lang="en-US" sz="1700" spc="-17">
                <a:solidFill>
                  <a:srgbClr val="FFFFFF"/>
                </a:solidFill>
                <a:latin typeface="Montserrat"/>
                <a:ea typeface="Montserrat"/>
                <a:cs typeface="Montserrat"/>
                <a:sym typeface="Montserrat"/>
              </a:rPr>
              <a:t>Orchestration platforms like Kubernetes automate the full lifecycle of containerized services — ensuring reliability, scalability, and zero-downtime operations across distributed cloud environments.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4181">
                <a:alpha val="100000"/>
              </a:srgbClr>
            </a:gs>
            <a:gs pos="100000">
              <a:srgbClr val="0A2540">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16085289" y="0"/>
            <a:ext cx="2202711" cy="10287000"/>
            <a:chOff x="0" y="0"/>
            <a:chExt cx="341258" cy="1593725"/>
          </a:xfrm>
        </p:grpSpPr>
        <p:sp>
          <p:nvSpPr>
            <p:cNvPr id="3" name="Freeform 3"/>
            <p:cNvSpPr/>
            <p:nvPr/>
          </p:nvSpPr>
          <p:spPr>
            <a:xfrm>
              <a:off x="0" y="0"/>
              <a:ext cx="341258" cy="1593725"/>
            </a:xfrm>
            <a:custGeom>
              <a:avLst/>
              <a:gdLst/>
              <a:ahLst/>
              <a:cxnLst/>
              <a:rect l="l" t="t" r="r" b="b"/>
              <a:pathLst>
                <a:path w="341258" h="1593725">
                  <a:moveTo>
                    <a:pt x="0" y="0"/>
                  </a:moveTo>
                  <a:lnTo>
                    <a:pt x="341258" y="0"/>
                  </a:lnTo>
                  <a:lnTo>
                    <a:pt x="341258" y="1593725"/>
                  </a:lnTo>
                  <a:lnTo>
                    <a:pt x="0" y="1593725"/>
                  </a:lnTo>
                  <a:close/>
                </a:path>
              </a:pathLst>
            </a:custGeom>
            <a:gradFill rotWithShape="1">
              <a:gsLst>
                <a:gs pos="0">
                  <a:srgbClr val="CAF0F8">
                    <a:alpha val="100000"/>
                  </a:srgbClr>
                </a:gs>
                <a:gs pos="100000">
                  <a:srgbClr val="004181">
                    <a:alpha val="100000"/>
                  </a:srgbClr>
                </a:gs>
              </a:gsLst>
              <a:lin ang="5400000"/>
            </a:gradFill>
          </p:spPr>
        </p:sp>
      </p:grpSp>
      <p:sp>
        <p:nvSpPr>
          <p:cNvPr id="4" name="TextBox 4"/>
          <p:cNvSpPr txBox="1"/>
          <p:nvPr/>
        </p:nvSpPr>
        <p:spPr>
          <a:xfrm>
            <a:off x="5931266" y="2148555"/>
            <a:ext cx="8952997" cy="2060444"/>
          </a:xfrm>
          <a:prstGeom prst="rect">
            <a:avLst/>
          </a:prstGeom>
        </p:spPr>
        <p:txBody>
          <a:bodyPr lIns="0" tIns="0" rIns="0" bIns="0" rtlCol="0" anchor="t">
            <a:spAutoFit/>
          </a:bodyPr>
          <a:lstStyle/>
          <a:p>
            <a:pPr marL="0" lvl="0" indent="0" algn="r">
              <a:lnSpc>
                <a:spcPts val="7994"/>
              </a:lnSpc>
            </a:pPr>
            <a:r>
              <a:rPr lang="en-US" sz="7994" b="1" spc="-639">
                <a:solidFill>
                  <a:srgbClr val="FFFFFF"/>
                </a:solidFill>
                <a:latin typeface="Montserrat Medium"/>
                <a:ea typeface="Montserrat Medium"/>
                <a:cs typeface="Montserrat Medium"/>
                <a:sym typeface="Montserrat Medium"/>
              </a:rPr>
              <a:t>Why Orchestration is Important</a:t>
            </a:r>
          </a:p>
        </p:txBody>
      </p:sp>
      <p:sp>
        <p:nvSpPr>
          <p:cNvPr id="5" name="TextBox 5"/>
          <p:cNvSpPr txBox="1"/>
          <p:nvPr/>
        </p:nvSpPr>
        <p:spPr>
          <a:xfrm>
            <a:off x="1028700" y="6281458"/>
            <a:ext cx="6327269" cy="82677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Manual deployment of each container instance</a:t>
            </a:r>
          </a:p>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No automatic scaling — operator must intervene</a:t>
            </a:r>
          </a:p>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Downtime during updates and failures</a:t>
            </a:r>
          </a:p>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Error-prone, repetitive configuration tasks</a:t>
            </a:r>
          </a:p>
        </p:txBody>
      </p:sp>
      <p:sp>
        <p:nvSpPr>
          <p:cNvPr id="6" name="TextBox 6"/>
          <p:cNvSpPr txBox="1"/>
          <p:nvPr/>
        </p:nvSpPr>
        <p:spPr>
          <a:xfrm>
            <a:off x="8556994" y="6281458"/>
            <a:ext cx="6327269" cy="82677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Automatic scaling based on demand and load</a:t>
            </a:r>
          </a:p>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Built-in load balancing across all pods</a:t>
            </a:r>
          </a:p>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Self-healing: auto-restarts failed containers</a:t>
            </a:r>
          </a:p>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High availability with zero-downtime rolling updates</a:t>
            </a:r>
          </a:p>
        </p:txBody>
      </p:sp>
      <p:sp>
        <p:nvSpPr>
          <p:cNvPr id="7" name="TextBox 7"/>
          <p:cNvSpPr txBox="1"/>
          <p:nvPr/>
        </p:nvSpPr>
        <p:spPr>
          <a:xfrm>
            <a:off x="1028700" y="7734025"/>
            <a:ext cx="6327269" cy="82677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High maintenance cost and human effort</a:t>
            </a:r>
          </a:p>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Inconsistent environments across servers</a:t>
            </a:r>
          </a:p>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Difficult to manage hundreds of containers</a:t>
            </a:r>
          </a:p>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Limited fault tolerance and recovery options</a:t>
            </a:r>
          </a:p>
        </p:txBody>
      </p:sp>
      <p:sp>
        <p:nvSpPr>
          <p:cNvPr id="8" name="TextBox 8"/>
          <p:cNvSpPr txBox="1"/>
          <p:nvPr/>
        </p:nvSpPr>
        <p:spPr>
          <a:xfrm>
            <a:off x="8556994" y="7734025"/>
            <a:ext cx="6327269" cy="82677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Declarative configuration with desired state management</a:t>
            </a:r>
          </a:p>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Namespace isolation and resource optimization</a:t>
            </a:r>
          </a:p>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Centralized monitoring, logging, and health checks</a:t>
            </a:r>
          </a:p>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Seamless rollback to previous stable versions</a:t>
            </a:r>
          </a:p>
        </p:txBody>
      </p:sp>
      <p:sp>
        <p:nvSpPr>
          <p:cNvPr id="9" name="TextBox 9"/>
          <p:cNvSpPr txBox="1"/>
          <p:nvPr/>
        </p:nvSpPr>
        <p:spPr>
          <a:xfrm>
            <a:off x="1028700" y="5818793"/>
            <a:ext cx="4145507" cy="285750"/>
          </a:xfrm>
          <a:prstGeom prst="rect">
            <a:avLst/>
          </a:prstGeom>
        </p:spPr>
        <p:txBody>
          <a:bodyPr lIns="0" tIns="0" rIns="0" bIns="0" rtlCol="0" anchor="t">
            <a:spAutoFit/>
          </a:bodyPr>
          <a:lstStyle/>
          <a:p>
            <a:pPr marL="0" lvl="0" indent="0" algn="l">
              <a:lnSpc>
                <a:spcPts val="2209"/>
              </a:lnSpc>
            </a:pPr>
            <a:r>
              <a:rPr lang="en-US" sz="1841" b="1" spc="-18">
                <a:solidFill>
                  <a:srgbClr val="FFFFFF"/>
                </a:solidFill>
                <a:latin typeface="Montserrat Medium"/>
                <a:ea typeface="Montserrat Medium"/>
                <a:cs typeface="Montserrat Medium"/>
                <a:sym typeface="Montserrat Medium"/>
              </a:rPr>
              <a:t>Manual Container Management</a:t>
            </a:r>
          </a:p>
        </p:txBody>
      </p:sp>
      <p:sp>
        <p:nvSpPr>
          <p:cNvPr id="10" name="TextBox 10"/>
          <p:cNvSpPr txBox="1"/>
          <p:nvPr/>
        </p:nvSpPr>
        <p:spPr>
          <a:xfrm>
            <a:off x="8556994" y="5818793"/>
            <a:ext cx="4145507" cy="285750"/>
          </a:xfrm>
          <a:prstGeom prst="rect">
            <a:avLst/>
          </a:prstGeom>
        </p:spPr>
        <p:txBody>
          <a:bodyPr lIns="0" tIns="0" rIns="0" bIns="0" rtlCol="0" anchor="t">
            <a:spAutoFit/>
          </a:bodyPr>
          <a:lstStyle/>
          <a:p>
            <a:pPr marL="0" lvl="0" indent="0" algn="l">
              <a:lnSpc>
                <a:spcPts val="2209"/>
              </a:lnSpc>
            </a:pPr>
            <a:r>
              <a:rPr lang="en-US" sz="1841" b="1" spc="-18">
                <a:solidFill>
                  <a:srgbClr val="FFFFFF"/>
                </a:solidFill>
                <a:latin typeface="Montserrat Medium"/>
                <a:ea typeface="Montserrat Medium"/>
                <a:cs typeface="Montserrat Medium"/>
                <a:sym typeface="Montserrat Medium"/>
              </a:rPr>
              <a:t>Kubernetes-Managed Environment</a:t>
            </a:r>
          </a:p>
        </p:txBody>
      </p:sp>
      <p:sp>
        <p:nvSpPr>
          <p:cNvPr id="11" name="TextBox 11"/>
          <p:cNvSpPr txBox="1"/>
          <p:nvPr/>
        </p:nvSpPr>
        <p:spPr>
          <a:xfrm>
            <a:off x="1028700" y="7271359"/>
            <a:ext cx="4666133" cy="285750"/>
          </a:xfrm>
          <a:prstGeom prst="rect">
            <a:avLst/>
          </a:prstGeom>
        </p:spPr>
        <p:txBody>
          <a:bodyPr lIns="0" tIns="0" rIns="0" bIns="0" rtlCol="0" anchor="t">
            <a:spAutoFit/>
          </a:bodyPr>
          <a:lstStyle/>
          <a:p>
            <a:pPr marL="0" lvl="0" indent="0" algn="l">
              <a:lnSpc>
                <a:spcPts val="2209"/>
              </a:lnSpc>
            </a:pPr>
            <a:r>
              <a:rPr lang="en-US" sz="1841" b="1" spc="-18">
                <a:solidFill>
                  <a:srgbClr val="FFFFFF"/>
                </a:solidFill>
                <a:latin typeface="Montserrat Medium"/>
                <a:ea typeface="Montserrat Medium"/>
                <a:cs typeface="Montserrat Medium"/>
                <a:sym typeface="Montserrat Medium"/>
              </a:rPr>
              <a:t>Scaling &amp; Deployment</a:t>
            </a:r>
          </a:p>
        </p:txBody>
      </p:sp>
      <p:sp>
        <p:nvSpPr>
          <p:cNvPr id="12" name="TextBox 12"/>
          <p:cNvSpPr txBox="1"/>
          <p:nvPr/>
        </p:nvSpPr>
        <p:spPr>
          <a:xfrm>
            <a:off x="8556994" y="7271359"/>
            <a:ext cx="4666133" cy="285750"/>
          </a:xfrm>
          <a:prstGeom prst="rect">
            <a:avLst/>
          </a:prstGeom>
        </p:spPr>
        <p:txBody>
          <a:bodyPr lIns="0" tIns="0" rIns="0" bIns="0" rtlCol="0" anchor="t">
            <a:spAutoFit/>
          </a:bodyPr>
          <a:lstStyle/>
          <a:p>
            <a:pPr marL="0" lvl="0" indent="0" algn="l">
              <a:lnSpc>
                <a:spcPts val="2209"/>
              </a:lnSpc>
            </a:pPr>
            <a:r>
              <a:rPr lang="en-US" sz="1841" b="1" spc="-18">
                <a:solidFill>
                  <a:srgbClr val="FFFFFF"/>
                </a:solidFill>
                <a:latin typeface="Montserrat Medium"/>
                <a:ea typeface="Montserrat Medium"/>
                <a:cs typeface="Montserrat Medium"/>
                <a:sym typeface="Montserrat Medium"/>
              </a:rPr>
              <a:t>Automation &amp; Reliability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TextBox 3"/>
          <p:cNvSpPr txBox="1"/>
          <p:nvPr/>
        </p:nvSpPr>
        <p:spPr>
          <a:xfrm>
            <a:off x="1028700" y="1667063"/>
            <a:ext cx="8739647" cy="1068293"/>
          </a:xfrm>
          <a:prstGeom prst="rect">
            <a:avLst/>
          </a:prstGeom>
        </p:spPr>
        <p:txBody>
          <a:bodyPr lIns="0" tIns="0" rIns="0" bIns="0" rtlCol="0" anchor="t">
            <a:spAutoFit/>
          </a:bodyPr>
          <a:lstStyle/>
          <a:p>
            <a:pPr marL="0" lvl="0" indent="0" algn="l">
              <a:lnSpc>
                <a:spcPts val="4183"/>
              </a:lnSpc>
            </a:pPr>
            <a:r>
              <a:rPr lang="en-US" sz="4183" b="1" spc="-334">
                <a:solidFill>
                  <a:srgbClr val="FFFFFF"/>
                </a:solidFill>
                <a:latin typeface="Montserrat Medium"/>
                <a:ea typeface="Montserrat Medium"/>
                <a:cs typeface="Montserrat Medium"/>
                <a:sym typeface="Montserrat Medium"/>
              </a:rPr>
              <a:t>Real-World Applications of Container Orchestration</a:t>
            </a:r>
          </a:p>
        </p:txBody>
      </p:sp>
      <p:sp>
        <p:nvSpPr>
          <p:cNvPr id="4" name="TextBox 4"/>
          <p:cNvSpPr txBox="1"/>
          <p:nvPr/>
        </p:nvSpPr>
        <p:spPr>
          <a:xfrm>
            <a:off x="1028700" y="5338016"/>
            <a:ext cx="4530746" cy="2281367"/>
          </a:xfrm>
          <a:prstGeom prst="rect">
            <a:avLst/>
          </a:prstGeom>
        </p:spPr>
        <p:txBody>
          <a:bodyPr lIns="0" tIns="0" rIns="0" bIns="0" rtlCol="0" anchor="t">
            <a:spAutoFit/>
          </a:bodyPr>
          <a:lstStyle/>
          <a:p>
            <a:pPr marL="0" lvl="0" indent="0" algn="l">
              <a:lnSpc>
                <a:spcPts val="1830"/>
              </a:lnSpc>
            </a:pPr>
            <a:r>
              <a:rPr lang="en-US" sz="1307" spc="-13">
                <a:solidFill>
                  <a:srgbClr val="FFFFFF"/>
                </a:solidFill>
                <a:latin typeface="Montserrat"/>
                <a:ea typeface="Montserrat"/>
                <a:cs typeface="Montserrat"/>
                <a:sym typeface="Montserrat"/>
              </a:rPr>
              <a:t>Netflix — Microservices at massive scale with Kubernetes</a:t>
            </a:r>
          </a:p>
          <a:p>
            <a:pPr marL="0" lvl="0" indent="0" algn="l">
              <a:lnSpc>
                <a:spcPts val="1830"/>
              </a:lnSpc>
            </a:pPr>
            <a:r>
              <a:rPr lang="en-US" sz="1307" spc="-13">
                <a:solidFill>
                  <a:srgbClr val="FFFFFF"/>
                </a:solidFill>
                <a:latin typeface="Montserrat"/>
                <a:ea typeface="Montserrat"/>
                <a:cs typeface="Montserrat"/>
                <a:sym typeface="Montserrat"/>
              </a:rPr>
              <a:t>Spotify — Container-based deployment for global streaming</a:t>
            </a:r>
          </a:p>
          <a:p>
            <a:pPr marL="0" lvl="0" indent="0" algn="l">
              <a:lnSpc>
                <a:spcPts val="1830"/>
              </a:lnSpc>
            </a:pPr>
            <a:r>
              <a:rPr lang="en-US" sz="1307" spc="-13">
                <a:solidFill>
                  <a:srgbClr val="FFFFFF"/>
                </a:solidFill>
                <a:latin typeface="Montserrat"/>
                <a:ea typeface="Montserrat"/>
                <a:cs typeface="Montserrat"/>
                <a:sym typeface="Montserrat"/>
              </a:rPr>
              <a:t>Uber — Orchestrated services for real-time ride matching</a:t>
            </a:r>
          </a:p>
          <a:p>
            <a:pPr marL="0" lvl="0" indent="0" algn="l">
              <a:lnSpc>
                <a:spcPts val="1830"/>
              </a:lnSpc>
            </a:pPr>
            <a:r>
              <a:rPr lang="en-US" sz="1307" spc="-13">
                <a:solidFill>
                  <a:srgbClr val="FFFFFF"/>
                </a:solidFill>
                <a:latin typeface="Montserrat"/>
                <a:ea typeface="Montserrat"/>
                <a:cs typeface="Montserrat"/>
                <a:sym typeface="Montserrat"/>
              </a:rPr>
              <a:t>Amazon — EKS-powered scalable cloud infrastructure</a:t>
            </a:r>
          </a:p>
          <a:p>
            <a:pPr marL="0" lvl="0" indent="0" algn="l">
              <a:lnSpc>
                <a:spcPts val="1830"/>
              </a:lnSpc>
            </a:pPr>
            <a:r>
              <a:rPr lang="en-US" sz="1307" spc="-13">
                <a:solidFill>
                  <a:srgbClr val="FFFFFF"/>
                </a:solidFill>
                <a:latin typeface="Montserrat"/>
                <a:ea typeface="Montserrat"/>
                <a:cs typeface="Montserrat"/>
                <a:sym typeface="Montserrat"/>
              </a:rPr>
              <a:t>Google — Kubernetes origin; runs billions of containers</a:t>
            </a:r>
          </a:p>
          <a:p>
            <a:pPr marL="0" lvl="0" indent="0" algn="l">
              <a:lnSpc>
                <a:spcPts val="1830"/>
              </a:lnSpc>
            </a:pPr>
            <a:r>
              <a:rPr lang="en-US" sz="1307" spc="-13">
                <a:solidFill>
                  <a:srgbClr val="FFFFFF"/>
                </a:solidFill>
                <a:latin typeface="Montserrat"/>
                <a:ea typeface="Montserrat"/>
                <a:cs typeface="Montserrat"/>
                <a:sym typeface="Montserrat"/>
              </a:rPr>
              <a:t>Microsoft — Azure AKS for enterprise container management</a:t>
            </a:r>
          </a:p>
        </p:txBody>
      </p:sp>
      <p:sp>
        <p:nvSpPr>
          <p:cNvPr id="5" name="TextBox 5"/>
          <p:cNvSpPr txBox="1"/>
          <p:nvPr/>
        </p:nvSpPr>
        <p:spPr>
          <a:xfrm>
            <a:off x="1028700" y="8139317"/>
            <a:ext cx="7152633" cy="40767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Light"/>
                <a:ea typeface="Montserrat Light"/>
                <a:cs typeface="Montserrat Light"/>
                <a:sym typeface="Montserrat Light"/>
              </a:rPr>
              <a:t>Leading global companies rely on container orchestration to achieve high availability, rapid scaling, and consistent deployment across distributed cloud environments.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9144000" y="6870656"/>
            <a:ext cx="9144000" cy="912579"/>
            <a:chOff x="0" y="0"/>
            <a:chExt cx="2685778" cy="268043"/>
          </a:xfrm>
        </p:grpSpPr>
        <p:sp>
          <p:nvSpPr>
            <p:cNvPr id="4" name="Freeform 4"/>
            <p:cNvSpPr/>
            <p:nvPr/>
          </p:nvSpPr>
          <p:spPr>
            <a:xfrm>
              <a:off x="0" y="0"/>
              <a:ext cx="2685778" cy="268043"/>
            </a:xfrm>
            <a:custGeom>
              <a:avLst/>
              <a:gdLst/>
              <a:ahLst/>
              <a:cxnLst/>
              <a:rect l="l" t="t" r="r" b="b"/>
              <a:pathLst>
                <a:path w="2685778" h="268043">
                  <a:moveTo>
                    <a:pt x="0" y="0"/>
                  </a:moveTo>
                  <a:lnTo>
                    <a:pt x="2685778" y="0"/>
                  </a:lnTo>
                  <a:lnTo>
                    <a:pt x="2685778" y="268043"/>
                  </a:lnTo>
                  <a:lnTo>
                    <a:pt x="0" y="268043"/>
                  </a:lnTo>
                  <a:close/>
                </a:path>
              </a:pathLst>
            </a:custGeom>
            <a:solidFill>
              <a:srgbClr val="CAF0F8"/>
            </a:solidFill>
          </p:spPr>
        </p:sp>
        <p:sp>
          <p:nvSpPr>
            <p:cNvPr id="5" name="TextBox 5"/>
            <p:cNvSpPr txBox="1"/>
            <p:nvPr/>
          </p:nvSpPr>
          <p:spPr>
            <a:xfrm>
              <a:off x="0" y="-38100"/>
              <a:ext cx="2685778" cy="30614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3453468" y="1675797"/>
            <a:ext cx="11381064" cy="1741710"/>
          </a:xfrm>
          <a:prstGeom prst="rect">
            <a:avLst/>
          </a:prstGeom>
        </p:spPr>
        <p:txBody>
          <a:bodyPr lIns="0" tIns="0" rIns="0" bIns="0" rtlCol="0" anchor="t">
            <a:spAutoFit/>
          </a:bodyPr>
          <a:lstStyle/>
          <a:p>
            <a:pPr marL="0" lvl="0" indent="0" algn="ctr">
              <a:lnSpc>
                <a:spcPts val="6696"/>
              </a:lnSpc>
            </a:pPr>
            <a:r>
              <a:rPr lang="en-US" sz="6696" b="1" spc="-535">
                <a:solidFill>
                  <a:srgbClr val="FFFFFF"/>
                </a:solidFill>
                <a:latin typeface="Montserrat Medium"/>
                <a:ea typeface="Montserrat Medium"/>
                <a:cs typeface="Montserrat Medium"/>
                <a:sym typeface="Montserrat Medium"/>
              </a:rPr>
              <a:t>Advantages &amp; Challenges of Container Orchestration</a:t>
            </a:r>
          </a:p>
        </p:txBody>
      </p:sp>
      <p:sp>
        <p:nvSpPr>
          <p:cNvPr id="7" name="TextBox 7"/>
          <p:cNvSpPr txBox="1"/>
          <p:nvPr/>
        </p:nvSpPr>
        <p:spPr>
          <a:xfrm>
            <a:off x="1028700" y="4402177"/>
            <a:ext cx="6310291" cy="187452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 High Availability — Services remain online with automatic failover and redundancy across nodes.</a:t>
            </a:r>
          </a:p>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 Portability — Containers run consistently across dev, test, and production environments.</a:t>
            </a:r>
          </a:p>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 Automation — Deployment, scaling, and recovery are fully automated by the orchestrator.</a:t>
            </a:r>
          </a:p>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 Scalability — Workloads scale up or down instantly based on demand.</a:t>
            </a:r>
          </a:p>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 Resource Optimization — Efficient bin-packing maximizes CPU and memory utilization.</a:t>
            </a:r>
          </a:p>
        </p:txBody>
      </p:sp>
      <p:sp>
        <p:nvSpPr>
          <p:cNvPr id="8" name="TextBox 8"/>
          <p:cNvSpPr txBox="1"/>
          <p:nvPr/>
        </p:nvSpPr>
        <p:spPr>
          <a:xfrm>
            <a:off x="1028700" y="6920422"/>
            <a:ext cx="6310291" cy="187452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 Complexity — Setup and ongoing management of clusters requires significant expertise.</a:t>
            </a:r>
          </a:p>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 Networking — Service discovery, DNS, and inter-pod communication add intricacy.</a:t>
            </a:r>
          </a:p>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 Security — Container isolation, RBAC, and secrets management demand careful configuration.</a:t>
            </a:r>
          </a:p>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 Monitoring — Observability across many containers and nodes is difficult without proper tooling.</a:t>
            </a:r>
          </a:p>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 Learning Curve — Teams must invest time to master Kubernetes concepts and best practices.</a:t>
            </a:r>
          </a:p>
        </p:txBody>
      </p:sp>
      <p:sp>
        <p:nvSpPr>
          <p:cNvPr id="9" name="TextBox 9"/>
          <p:cNvSpPr txBox="1"/>
          <p:nvPr/>
        </p:nvSpPr>
        <p:spPr>
          <a:xfrm>
            <a:off x="9144000" y="4402177"/>
            <a:ext cx="6310291" cy="103632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Container orchestration with Kubernetes delivers powerful automation, resilience, and scalability for cloud-native applications. While the initial complexity and learning curve are notable challenges, the long-term operational benefits — including zero-downtime deployments, self-healing infrastructure, and elastic scaling — make orchestration essential for modern service-oriented architectures at scale.</a:t>
            </a:r>
          </a:p>
        </p:txBody>
      </p:sp>
      <p:sp>
        <p:nvSpPr>
          <p:cNvPr id="10" name="TextBox 10"/>
          <p:cNvSpPr txBox="1"/>
          <p:nvPr/>
        </p:nvSpPr>
        <p:spPr>
          <a:xfrm>
            <a:off x="1028700" y="3958561"/>
            <a:ext cx="4161264" cy="285750"/>
          </a:xfrm>
          <a:prstGeom prst="rect">
            <a:avLst/>
          </a:prstGeom>
        </p:spPr>
        <p:txBody>
          <a:bodyPr lIns="0" tIns="0" rIns="0" bIns="0" rtlCol="0" anchor="t">
            <a:spAutoFit/>
          </a:bodyPr>
          <a:lstStyle/>
          <a:p>
            <a:pPr marL="0" lvl="0" indent="0" algn="l">
              <a:lnSpc>
                <a:spcPts val="2398"/>
              </a:lnSpc>
            </a:pPr>
            <a:r>
              <a:rPr lang="en-US" sz="1998" b="1" spc="-19">
                <a:solidFill>
                  <a:srgbClr val="FFFFFF"/>
                </a:solidFill>
                <a:latin typeface="Montserrat Medium"/>
                <a:ea typeface="Montserrat Medium"/>
                <a:cs typeface="Montserrat Medium"/>
                <a:sym typeface="Montserrat Medium"/>
              </a:rPr>
              <a:t>Advantages</a:t>
            </a:r>
          </a:p>
        </p:txBody>
      </p:sp>
      <p:sp>
        <p:nvSpPr>
          <p:cNvPr id="11" name="TextBox 11"/>
          <p:cNvSpPr txBox="1"/>
          <p:nvPr/>
        </p:nvSpPr>
        <p:spPr>
          <a:xfrm>
            <a:off x="1028700" y="6476806"/>
            <a:ext cx="4161264" cy="285750"/>
          </a:xfrm>
          <a:prstGeom prst="rect">
            <a:avLst/>
          </a:prstGeom>
        </p:spPr>
        <p:txBody>
          <a:bodyPr lIns="0" tIns="0" rIns="0" bIns="0" rtlCol="0" anchor="t">
            <a:spAutoFit/>
          </a:bodyPr>
          <a:lstStyle/>
          <a:p>
            <a:pPr marL="0" lvl="0" indent="0" algn="l">
              <a:lnSpc>
                <a:spcPts val="2398"/>
              </a:lnSpc>
            </a:pPr>
            <a:r>
              <a:rPr lang="en-US" sz="1998" b="1" spc="-19">
                <a:solidFill>
                  <a:srgbClr val="FFFFFF"/>
                </a:solidFill>
                <a:latin typeface="Montserrat Medium"/>
                <a:ea typeface="Montserrat Medium"/>
                <a:cs typeface="Montserrat Medium"/>
                <a:sym typeface="Montserrat Medium"/>
              </a:rPr>
              <a:t>Challenges</a:t>
            </a:r>
          </a:p>
        </p:txBody>
      </p:sp>
      <p:sp>
        <p:nvSpPr>
          <p:cNvPr id="12" name="TextBox 12"/>
          <p:cNvSpPr txBox="1"/>
          <p:nvPr/>
        </p:nvSpPr>
        <p:spPr>
          <a:xfrm>
            <a:off x="9144000" y="3958561"/>
            <a:ext cx="4161264" cy="285750"/>
          </a:xfrm>
          <a:prstGeom prst="rect">
            <a:avLst/>
          </a:prstGeom>
        </p:spPr>
        <p:txBody>
          <a:bodyPr lIns="0" tIns="0" rIns="0" bIns="0" rtlCol="0" anchor="t">
            <a:spAutoFit/>
          </a:bodyPr>
          <a:lstStyle/>
          <a:p>
            <a:pPr marL="0" lvl="0" indent="0" algn="l">
              <a:lnSpc>
                <a:spcPts val="2398"/>
              </a:lnSpc>
            </a:pPr>
            <a:r>
              <a:rPr lang="en-US" sz="1998" b="1" spc="-19">
                <a:solidFill>
                  <a:srgbClr val="FFFFFF"/>
                </a:solidFill>
                <a:latin typeface="Montserrat Medium"/>
                <a:ea typeface="Montserrat Medium"/>
                <a:cs typeface="Montserrat Medium"/>
                <a:sym typeface="Montserrat Medium"/>
              </a:rPr>
              <a:t>Key Takeaway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4181">
                <a:alpha val="100000"/>
              </a:srgbClr>
            </a:gs>
            <a:gs pos="100000">
              <a:srgbClr val="0A2540">
                <a:alpha val="100000"/>
              </a:srgbClr>
            </a:gs>
          </a:gsLst>
          <a:path path="circle">
            <a:fillToRect l="50000" t="50000" r="50000" b="50000"/>
          </a:path>
        </a:gra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5936083" cy="8229600"/>
            <a:chOff x="0" y="0"/>
            <a:chExt cx="2856069" cy="3959565"/>
          </a:xfrm>
        </p:grpSpPr>
        <p:sp>
          <p:nvSpPr>
            <p:cNvPr id="3" name="Freeform 3"/>
            <p:cNvSpPr/>
            <p:nvPr/>
          </p:nvSpPr>
          <p:spPr>
            <a:xfrm>
              <a:off x="0" y="0"/>
              <a:ext cx="2856073" cy="3959565"/>
            </a:xfrm>
            <a:custGeom>
              <a:avLst/>
              <a:gdLst/>
              <a:ahLst/>
              <a:cxnLst/>
              <a:rect l="l" t="t" r="r" b="b"/>
              <a:pathLst>
                <a:path w="2856073" h="3959565">
                  <a:moveTo>
                    <a:pt x="2856073" y="3343967"/>
                  </a:moveTo>
                  <a:lnTo>
                    <a:pt x="2856073" y="561989"/>
                  </a:lnTo>
                  <a:cubicBezTo>
                    <a:pt x="2856075" y="522853"/>
                    <a:pt x="2841651" y="485089"/>
                    <a:pt x="2815560" y="455919"/>
                  </a:cubicBezTo>
                  <a:lnTo>
                    <a:pt x="2441808" y="38122"/>
                  </a:lnTo>
                  <a:cubicBezTo>
                    <a:pt x="2420108" y="13865"/>
                    <a:pt x="2389103" y="0"/>
                    <a:pt x="2356557" y="0"/>
                  </a:cubicBezTo>
                  <a:lnTo>
                    <a:pt x="114384" y="0"/>
                  </a:lnTo>
                  <a:cubicBezTo>
                    <a:pt x="51211" y="0"/>
                    <a:pt x="0" y="51211"/>
                    <a:pt x="0" y="114384"/>
                  </a:cubicBezTo>
                  <a:lnTo>
                    <a:pt x="0" y="501214"/>
                  </a:lnTo>
                  <a:lnTo>
                    <a:pt x="0" y="3389310"/>
                  </a:lnTo>
                  <a:cubicBezTo>
                    <a:pt x="0" y="3433775"/>
                    <a:pt x="16390" y="3476680"/>
                    <a:pt x="46036" y="3509820"/>
                  </a:cubicBezTo>
                  <a:lnTo>
                    <a:pt x="414263" y="3921444"/>
                  </a:lnTo>
                  <a:cubicBezTo>
                    <a:pt x="435962" y="3945701"/>
                    <a:pt x="466967" y="3959565"/>
                    <a:pt x="499514" y="3959565"/>
                  </a:cubicBezTo>
                  <a:lnTo>
                    <a:pt x="2340185" y="3959565"/>
                  </a:lnTo>
                  <a:cubicBezTo>
                    <a:pt x="2370522" y="3959566"/>
                    <a:pt x="2399616" y="3947514"/>
                    <a:pt x="2421067" y="3926063"/>
                  </a:cubicBezTo>
                  <a:cubicBezTo>
                    <a:pt x="2442519" y="3904612"/>
                    <a:pt x="2454570" y="3875518"/>
                    <a:pt x="2454570" y="3845182"/>
                  </a:cubicBezTo>
                  <a:lnTo>
                    <a:pt x="2454570" y="3572736"/>
                  </a:lnTo>
                  <a:cubicBezTo>
                    <a:pt x="2454570" y="3509563"/>
                    <a:pt x="2505782" y="3458351"/>
                    <a:pt x="2568955" y="3458351"/>
                  </a:cubicBezTo>
                  <a:lnTo>
                    <a:pt x="2741687" y="3458351"/>
                  </a:lnTo>
                  <a:cubicBezTo>
                    <a:pt x="2772024" y="3458352"/>
                    <a:pt x="2801118" y="3446301"/>
                    <a:pt x="2822570" y="3424849"/>
                  </a:cubicBezTo>
                  <a:cubicBezTo>
                    <a:pt x="2844022" y="3403398"/>
                    <a:pt x="2856073" y="3374304"/>
                    <a:pt x="2856073" y="3343967"/>
                  </a:cubicBezTo>
                  <a:close/>
                </a:path>
              </a:pathLst>
            </a:custGeom>
            <a:blipFill>
              <a:blip r:embed="rId2"/>
              <a:stretch>
                <a:fillRect t="-90" b="-90"/>
              </a:stretch>
            </a:blipFill>
            <a:ln cap="sq">
              <a:noFill/>
              <a:prstDash val="solid"/>
              <a:miter/>
            </a:ln>
          </p:spPr>
        </p:sp>
      </p:grpSp>
      <p:grpSp>
        <p:nvGrpSpPr>
          <p:cNvPr id="4" name="Group 4"/>
          <p:cNvGrpSpPr/>
          <p:nvPr/>
        </p:nvGrpSpPr>
        <p:grpSpPr>
          <a:xfrm>
            <a:off x="8228275" y="4549258"/>
            <a:ext cx="10628249" cy="4351127"/>
            <a:chOff x="0" y="0"/>
            <a:chExt cx="3121732" cy="1278014"/>
          </a:xfrm>
        </p:grpSpPr>
        <p:sp>
          <p:nvSpPr>
            <p:cNvPr id="5" name="Freeform 5"/>
            <p:cNvSpPr/>
            <p:nvPr/>
          </p:nvSpPr>
          <p:spPr>
            <a:xfrm>
              <a:off x="0" y="0"/>
              <a:ext cx="3121732" cy="1278014"/>
            </a:xfrm>
            <a:custGeom>
              <a:avLst/>
              <a:gdLst/>
              <a:ahLst/>
              <a:cxnLst/>
              <a:rect l="l" t="t" r="r" b="b"/>
              <a:pathLst>
                <a:path w="3121732" h="1278014">
                  <a:moveTo>
                    <a:pt x="0" y="0"/>
                  </a:moveTo>
                  <a:lnTo>
                    <a:pt x="3121732" y="0"/>
                  </a:lnTo>
                  <a:lnTo>
                    <a:pt x="3121732" y="1278014"/>
                  </a:lnTo>
                  <a:lnTo>
                    <a:pt x="0" y="1278014"/>
                  </a:lnTo>
                  <a:close/>
                </a:path>
              </a:pathLst>
            </a:custGeom>
            <a:gradFill rotWithShape="1">
              <a:gsLst>
                <a:gs pos="0">
                  <a:srgbClr val="004181">
                    <a:alpha val="100000"/>
                  </a:srgbClr>
                </a:gs>
                <a:gs pos="100000">
                  <a:srgbClr val="004181">
                    <a:alpha val="0"/>
                  </a:srgbClr>
                </a:gs>
              </a:gsLst>
              <a:lin ang="0"/>
            </a:gradFill>
          </p:spPr>
        </p:sp>
        <p:sp>
          <p:nvSpPr>
            <p:cNvPr id="6" name="TextBox 6"/>
            <p:cNvSpPr txBox="1"/>
            <p:nvPr/>
          </p:nvSpPr>
          <p:spPr>
            <a:xfrm>
              <a:off x="0" y="-38100"/>
              <a:ext cx="3121732" cy="131611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7" name="TextBox 7"/>
          <p:cNvSpPr txBox="1"/>
          <p:nvPr/>
        </p:nvSpPr>
        <p:spPr>
          <a:xfrm>
            <a:off x="8455674" y="1143000"/>
            <a:ext cx="6853242" cy="3086100"/>
          </a:xfrm>
          <a:prstGeom prst="rect">
            <a:avLst/>
          </a:prstGeom>
        </p:spPr>
        <p:txBody>
          <a:bodyPr lIns="0" tIns="0" rIns="0" bIns="0" rtlCol="0" anchor="t">
            <a:spAutoFit/>
          </a:bodyPr>
          <a:lstStyle/>
          <a:p>
            <a:pPr marL="0" lvl="0" indent="0" algn="l">
              <a:lnSpc>
                <a:spcPts val="6000"/>
              </a:lnSpc>
            </a:pPr>
            <a:r>
              <a:rPr lang="en-US" sz="6000" b="1" spc="-480">
                <a:solidFill>
                  <a:srgbClr val="FFFFFF"/>
                </a:solidFill>
                <a:latin typeface="Montserrat Medium"/>
                <a:ea typeface="Montserrat Medium"/>
                <a:cs typeface="Montserrat Medium"/>
                <a:sym typeface="Montserrat Medium"/>
              </a:rPr>
              <a:t>Case Study: Microservices-Based Online Shopping System</a:t>
            </a:r>
          </a:p>
        </p:txBody>
      </p:sp>
      <p:grpSp>
        <p:nvGrpSpPr>
          <p:cNvPr id="8" name="Group 8"/>
          <p:cNvGrpSpPr/>
          <p:nvPr/>
        </p:nvGrpSpPr>
        <p:grpSpPr>
          <a:xfrm>
            <a:off x="8686931" y="5159463"/>
            <a:ext cx="432498" cy="288444"/>
            <a:chOff x="0" y="0"/>
            <a:chExt cx="576664" cy="384593"/>
          </a:xfrm>
        </p:grpSpPr>
        <p:grpSp>
          <p:nvGrpSpPr>
            <p:cNvPr id="9" name="Group 9"/>
            <p:cNvGrpSpPr/>
            <p:nvPr/>
          </p:nvGrpSpPr>
          <p:grpSpPr>
            <a:xfrm>
              <a:off x="0" y="0"/>
              <a:ext cx="576664" cy="384593"/>
              <a:chOff x="0" y="0"/>
              <a:chExt cx="127033" cy="84722"/>
            </a:xfrm>
          </p:grpSpPr>
          <p:sp>
            <p:nvSpPr>
              <p:cNvPr id="10" name="Freeform 10"/>
              <p:cNvSpPr/>
              <p:nvPr/>
            </p:nvSpPr>
            <p:spPr>
              <a:xfrm>
                <a:off x="0" y="0"/>
                <a:ext cx="127034" cy="84722"/>
              </a:xfrm>
              <a:custGeom>
                <a:avLst/>
                <a:gdLst/>
                <a:ahLst/>
                <a:cxnLst/>
                <a:rect l="l" t="t" r="r" b="b"/>
                <a:pathLst>
                  <a:path w="127034" h="84722">
                    <a:moveTo>
                      <a:pt x="0" y="0"/>
                    </a:moveTo>
                    <a:lnTo>
                      <a:pt x="127034" y="0"/>
                    </a:lnTo>
                    <a:lnTo>
                      <a:pt x="127034" y="84722"/>
                    </a:lnTo>
                    <a:lnTo>
                      <a:pt x="0" y="84722"/>
                    </a:lnTo>
                    <a:close/>
                  </a:path>
                </a:pathLst>
              </a:custGeom>
              <a:solidFill>
                <a:srgbClr val="CAF0F8"/>
              </a:solidFill>
            </p:spPr>
          </p:sp>
          <p:sp>
            <p:nvSpPr>
              <p:cNvPr id="11" name="TextBox 11"/>
              <p:cNvSpPr txBox="1"/>
              <p:nvPr/>
            </p:nvSpPr>
            <p:spPr>
              <a:xfrm>
                <a:off x="0" y="-38100"/>
                <a:ext cx="127033" cy="12282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TextBox 12"/>
            <p:cNvSpPr txBox="1"/>
            <p:nvPr/>
          </p:nvSpPr>
          <p:spPr>
            <a:xfrm>
              <a:off x="58306" y="83187"/>
              <a:ext cx="460052" cy="246793"/>
            </a:xfrm>
            <a:prstGeom prst="rect">
              <a:avLst/>
            </a:prstGeom>
          </p:spPr>
          <p:txBody>
            <a:bodyPr lIns="0" tIns="0" rIns="0" bIns="0" rtlCol="0" anchor="t">
              <a:spAutoFit/>
            </a:bodyPr>
            <a:lstStyle/>
            <a:p>
              <a:pPr marL="0" lvl="0" indent="0" algn="ctr">
                <a:lnSpc>
                  <a:spcPts val="1380"/>
                </a:lnSpc>
              </a:pPr>
              <a:r>
                <a:rPr lang="en-US" sz="1380" b="1" spc="-110">
                  <a:solidFill>
                    <a:srgbClr val="000000"/>
                  </a:solidFill>
                  <a:latin typeface="Montserrat Semi-Bold"/>
                  <a:ea typeface="Montserrat Semi-Bold"/>
                  <a:cs typeface="Montserrat Semi-Bold"/>
                  <a:sym typeface="Montserrat Semi-Bold"/>
                </a:rPr>
                <a:t>01</a:t>
              </a:r>
            </a:p>
          </p:txBody>
        </p:sp>
      </p:grpSp>
      <p:grpSp>
        <p:nvGrpSpPr>
          <p:cNvPr id="13" name="Group 13"/>
          <p:cNvGrpSpPr/>
          <p:nvPr/>
        </p:nvGrpSpPr>
        <p:grpSpPr>
          <a:xfrm>
            <a:off x="8686931" y="7055766"/>
            <a:ext cx="432498" cy="380332"/>
            <a:chOff x="0" y="0"/>
            <a:chExt cx="127033" cy="111711"/>
          </a:xfrm>
        </p:grpSpPr>
        <p:sp>
          <p:nvSpPr>
            <p:cNvPr id="14" name="Freeform 14"/>
            <p:cNvSpPr/>
            <p:nvPr/>
          </p:nvSpPr>
          <p:spPr>
            <a:xfrm>
              <a:off x="0" y="0"/>
              <a:ext cx="127034" cy="111711"/>
            </a:xfrm>
            <a:custGeom>
              <a:avLst/>
              <a:gdLst/>
              <a:ahLst/>
              <a:cxnLst/>
              <a:rect l="l" t="t" r="r" b="b"/>
              <a:pathLst>
                <a:path w="127034" h="111711">
                  <a:moveTo>
                    <a:pt x="0" y="0"/>
                  </a:moveTo>
                  <a:lnTo>
                    <a:pt x="127034" y="0"/>
                  </a:lnTo>
                  <a:lnTo>
                    <a:pt x="127034" y="111711"/>
                  </a:lnTo>
                  <a:lnTo>
                    <a:pt x="0" y="111711"/>
                  </a:lnTo>
                  <a:close/>
                </a:path>
              </a:pathLst>
            </a:custGeom>
            <a:solidFill>
              <a:srgbClr val="4EA8DE"/>
            </a:solidFill>
          </p:spPr>
        </p:sp>
        <p:sp>
          <p:nvSpPr>
            <p:cNvPr id="15" name="TextBox 15"/>
            <p:cNvSpPr txBox="1"/>
            <p:nvPr/>
          </p:nvSpPr>
          <p:spPr>
            <a:xfrm>
              <a:off x="0" y="-38100"/>
              <a:ext cx="127033" cy="14981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6" name="TextBox 16"/>
          <p:cNvSpPr txBox="1"/>
          <p:nvPr/>
        </p:nvSpPr>
        <p:spPr>
          <a:xfrm>
            <a:off x="8730661" y="7125300"/>
            <a:ext cx="345039" cy="177951"/>
          </a:xfrm>
          <a:prstGeom prst="rect">
            <a:avLst/>
          </a:prstGeom>
        </p:spPr>
        <p:txBody>
          <a:bodyPr lIns="0" tIns="0" rIns="0" bIns="0" rtlCol="0" anchor="t">
            <a:spAutoFit/>
          </a:bodyPr>
          <a:lstStyle/>
          <a:p>
            <a:pPr marL="0" lvl="0" indent="0" algn="ctr">
              <a:lnSpc>
                <a:spcPts val="1380"/>
              </a:lnSpc>
            </a:pPr>
            <a:r>
              <a:rPr lang="en-US" sz="1380" b="1" spc="-110">
                <a:solidFill>
                  <a:srgbClr val="000000"/>
                </a:solidFill>
                <a:latin typeface="Montserrat Semi-Bold"/>
                <a:ea typeface="Montserrat Semi-Bold"/>
                <a:cs typeface="Montserrat Semi-Bold"/>
                <a:sym typeface="Montserrat Semi-Bold"/>
              </a:rPr>
              <a:t>02</a:t>
            </a:r>
          </a:p>
        </p:txBody>
      </p:sp>
      <p:grpSp>
        <p:nvGrpSpPr>
          <p:cNvPr id="17" name="Group 17"/>
          <p:cNvGrpSpPr/>
          <p:nvPr/>
        </p:nvGrpSpPr>
        <p:grpSpPr>
          <a:xfrm>
            <a:off x="13426771" y="5159463"/>
            <a:ext cx="432498" cy="380332"/>
            <a:chOff x="0" y="0"/>
            <a:chExt cx="127033" cy="111711"/>
          </a:xfrm>
        </p:grpSpPr>
        <p:sp>
          <p:nvSpPr>
            <p:cNvPr id="18" name="Freeform 18"/>
            <p:cNvSpPr/>
            <p:nvPr/>
          </p:nvSpPr>
          <p:spPr>
            <a:xfrm>
              <a:off x="0" y="0"/>
              <a:ext cx="127034" cy="111711"/>
            </a:xfrm>
            <a:custGeom>
              <a:avLst/>
              <a:gdLst/>
              <a:ahLst/>
              <a:cxnLst/>
              <a:rect l="l" t="t" r="r" b="b"/>
              <a:pathLst>
                <a:path w="127034" h="111711">
                  <a:moveTo>
                    <a:pt x="0" y="0"/>
                  </a:moveTo>
                  <a:lnTo>
                    <a:pt x="127034" y="0"/>
                  </a:lnTo>
                  <a:lnTo>
                    <a:pt x="127034" y="111711"/>
                  </a:lnTo>
                  <a:lnTo>
                    <a:pt x="0" y="111711"/>
                  </a:lnTo>
                  <a:close/>
                </a:path>
              </a:pathLst>
            </a:custGeom>
            <a:solidFill>
              <a:srgbClr val="4EA8DE"/>
            </a:solidFill>
          </p:spPr>
        </p:sp>
        <p:sp>
          <p:nvSpPr>
            <p:cNvPr id="19" name="TextBox 19"/>
            <p:cNvSpPr txBox="1"/>
            <p:nvPr/>
          </p:nvSpPr>
          <p:spPr>
            <a:xfrm>
              <a:off x="0" y="-38100"/>
              <a:ext cx="127033" cy="14981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0" name="TextBox 20"/>
          <p:cNvSpPr txBox="1"/>
          <p:nvPr/>
        </p:nvSpPr>
        <p:spPr>
          <a:xfrm>
            <a:off x="13470501" y="5228998"/>
            <a:ext cx="345039" cy="177951"/>
          </a:xfrm>
          <a:prstGeom prst="rect">
            <a:avLst/>
          </a:prstGeom>
        </p:spPr>
        <p:txBody>
          <a:bodyPr lIns="0" tIns="0" rIns="0" bIns="0" rtlCol="0" anchor="t">
            <a:spAutoFit/>
          </a:bodyPr>
          <a:lstStyle/>
          <a:p>
            <a:pPr marL="0" lvl="0" indent="0" algn="ctr">
              <a:lnSpc>
                <a:spcPts val="1380"/>
              </a:lnSpc>
            </a:pPr>
            <a:r>
              <a:rPr lang="en-US" sz="1380" b="1" spc="-110">
                <a:solidFill>
                  <a:srgbClr val="000000"/>
                </a:solidFill>
                <a:latin typeface="Montserrat Semi-Bold"/>
                <a:ea typeface="Montserrat Semi-Bold"/>
                <a:cs typeface="Montserrat Semi-Bold"/>
                <a:sym typeface="Montserrat Semi-Bold"/>
              </a:rPr>
              <a:t>03</a:t>
            </a:r>
          </a:p>
        </p:txBody>
      </p:sp>
      <p:grpSp>
        <p:nvGrpSpPr>
          <p:cNvPr id="21" name="Group 21"/>
          <p:cNvGrpSpPr/>
          <p:nvPr/>
        </p:nvGrpSpPr>
        <p:grpSpPr>
          <a:xfrm>
            <a:off x="13426771" y="7055766"/>
            <a:ext cx="432498" cy="380332"/>
            <a:chOff x="0" y="0"/>
            <a:chExt cx="127033" cy="111711"/>
          </a:xfrm>
        </p:grpSpPr>
        <p:sp>
          <p:nvSpPr>
            <p:cNvPr id="22" name="Freeform 22"/>
            <p:cNvSpPr/>
            <p:nvPr/>
          </p:nvSpPr>
          <p:spPr>
            <a:xfrm>
              <a:off x="0" y="0"/>
              <a:ext cx="127034" cy="111711"/>
            </a:xfrm>
            <a:custGeom>
              <a:avLst/>
              <a:gdLst/>
              <a:ahLst/>
              <a:cxnLst/>
              <a:rect l="l" t="t" r="r" b="b"/>
              <a:pathLst>
                <a:path w="127034" h="111711">
                  <a:moveTo>
                    <a:pt x="0" y="0"/>
                  </a:moveTo>
                  <a:lnTo>
                    <a:pt x="127034" y="0"/>
                  </a:lnTo>
                  <a:lnTo>
                    <a:pt x="127034" y="111711"/>
                  </a:lnTo>
                  <a:lnTo>
                    <a:pt x="0" y="111711"/>
                  </a:lnTo>
                  <a:close/>
                </a:path>
              </a:pathLst>
            </a:custGeom>
            <a:solidFill>
              <a:srgbClr val="CAF0F8"/>
            </a:solidFill>
          </p:spPr>
        </p:sp>
        <p:sp>
          <p:nvSpPr>
            <p:cNvPr id="23" name="TextBox 23"/>
            <p:cNvSpPr txBox="1"/>
            <p:nvPr/>
          </p:nvSpPr>
          <p:spPr>
            <a:xfrm>
              <a:off x="0" y="-38100"/>
              <a:ext cx="127033" cy="14981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4" name="TextBox 24"/>
          <p:cNvSpPr txBox="1"/>
          <p:nvPr/>
        </p:nvSpPr>
        <p:spPr>
          <a:xfrm>
            <a:off x="13470501" y="7125300"/>
            <a:ext cx="345039" cy="177951"/>
          </a:xfrm>
          <a:prstGeom prst="rect">
            <a:avLst/>
          </a:prstGeom>
        </p:spPr>
        <p:txBody>
          <a:bodyPr lIns="0" tIns="0" rIns="0" bIns="0" rtlCol="0" anchor="t">
            <a:spAutoFit/>
          </a:bodyPr>
          <a:lstStyle/>
          <a:p>
            <a:pPr marL="0" lvl="0" indent="0" algn="ctr">
              <a:lnSpc>
                <a:spcPts val="1380"/>
              </a:lnSpc>
            </a:pPr>
            <a:r>
              <a:rPr lang="en-US" sz="1380" b="1" spc="-110">
                <a:solidFill>
                  <a:srgbClr val="000000"/>
                </a:solidFill>
                <a:latin typeface="Montserrat Semi-Bold"/>
                <a:ea typeface="Montserrat Semi-Bold"/>
                <a:cs typeface="Montserrat Semi-Bold"/>
                <a:sym typeface="Montserrat Semi-Bold"/>
              </a:rPr>
              <a:t>04</a:t>
            </a:r>
          </a:p>
        </p:txBody>
      </p:sp>
      <p:sp>
        <p:nvSpPr>
          <p:cNvPr id="25" name="TextBox 25"/>
          <p:cNvSpPr txBox="1"/>
          <p:nvPr/>
        </p:nvSpPr>
        <p:spPr>
          <a:xfrm>
            <a:off x="9261041" y="5596641"/>
            <a:ext cx="3885633" cy="82677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End users send requests to a central API Gateway, which routes traffic to the appropriate backend microservice. The gateway handles authentication, load balancing, and request management.</a:t>
            </a:r>
          </a:p>
        </p:txBody>
      </p:sp>
      <p:sp>
        <p:nvSpPr>
          <p:cNvPr id="26" name="TextBox 26"/>
          <p:cNvSpPr txBox="1"/>
          <p:nvPr/>
        </p:nvSpPr>
        <p:spPr>
          <a:xfrm>
            <a:off x="9261041" y="7508907"/>
            <a:ext cx="3885633" cy="82677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Four independent services handle core business logic: Product Service, Order Service, Payment Service, and Inventory Service — each deployed and scaled independently.</a:t>
            </a:r>
          </a:p>
        </p:txBody>
      </p:sp>
      <p:sp>
        <p:nvSpPr>
          <p:cNvPr id="27" name="TextBox 27"/>
          <p:cNvSpPr txBox="1"/>
          <p:nvPr/>
        </p:nvSpPr>
        <p:spPr>
          <a:xfrm>
            <a:off x="14002144" y="5596641"/>
            <a:ext cx="3816256" cy="82677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Each microservice runs in its own Docker container. Kubernetes orchestrates all containers, managing deployment, auto-scaling, health checks, and rolling updates across the cluster.</a:t>
            </a:r>
          </a:p>
        </p:txBody>
      </p:sp>
      <p:sp>
        <p:nvSpPr>
          <p:cNvPr id="28" name="TextBox 28"/>
          <p:cNvSpPr txBox="1"/>
          <p:nvPr/>
        </p:nvSpPr>
        <p:spPr>
          <a:xfrm>
            <a:off x="14002144" y="7508907"/>
            <a:ext cx="3816256" cy="82677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Extra-Light"/>
                <a:ea typeface="Montserrat Extra-Light"/>
                <a:cs typeface="Montserrat Extra-Light"/>
                <a:sym typeface="Montserrat Extra-Light"/>
              </a:rPr>
              <a:t>The entire Kubernetes cluster is hosted on cloud infrastructure, providing high availability, elastic scaling, persistent storage, and global accessibility for the shopping platform.</a:t>
            </a:r>
          </a:p>
        </p:txBody>
      </p:sp>
      <p:sp>
        <p:nvSpPr>
          <p:cNvPr id="29" name="TextBox 29"/>
          <p:cNvSpPr txBox="1"/>
          <p:nvPr/>
        </p:nvSpPr>
        <p:spPr>
          <a:xfrm>
            <a:off x="9261041" y="5143500"/>
            <a:ext cx="1799859" cy="209550"/>
          </a:xfrm>
          <a:prstGeom prst="rect">
            <a:avLst/>
          </a:prstGeom>
        </p:spPr>
        <p:txBody>
          <a:bodyPr lIns="0" tIns="0" rIns="0" bIns="0" rtlCol="0" anchor="t">
            <a:spAutoFit/>
          </a:bodyPr>
          <a:lstStyle/>
          <a:p>
            <a:pPr marL="0" lvl="0" indent="0" algn="l">
              <a:lnSpc>
                <a:spcPts val="1657"/>
              </a:lnSpc>
            </a:pPr>
            <a:r>
              <a:rPr lang="en-US" sz="1380" b="1" spc="-13">
                <a:solidFill>
                  <a:srgbClr val="FFFFFF"/>
                </a:solidFill>
                <a:latin typeface="Montserrat Medium"/>
                <a:ea typeface="Montserrat Medium"/>
                <a:cs typeface="Montserrat Medium"/>
                <a:sym typeface="Montserrat Medium"/>
              </a:rPr>
              <a:t>Users &amp; API Gateway</a:t>
            </a:r>
          </a:p>
        </p:txBody>
      </p:sp>
      <p:sp>
        <p:nvSpPr>
          <p:cNvPr id="30" name="TextBox 30"/>
          <p:cNvSpPr txBox="1"/>
          <p:nvPr/>
        </p:nvSpPr>
        <p:spPr>
          <a:xfrm>
            <a:off x="9261041" y="7055766"/>
            <a:ext cx="1799859" cy="209550"/>
          </a:xfrm>
          <a:prstGeom prst="rect">
            <a:avLst/>
          </a:prstGeom>
        </p:spPr>
        <p:txBody>
          <a:bodyPr lIns="0" tIns="0" rIns="0" bIns="0" rtlCol="0" anchor="t">
            <a:spAutoFit/>
          </a:bodyPr>
          <a:lstStyle/>
          <a:p>
            <a:pPr marL="0" lvl="0" indent="0" algn="l">
              <a:lnSpc>
                <a:spcPts val="1657"/>
              </a:lnSpc>
            </a:pPr>
            <a:r>
              <a:rPr lang="en-US" sz="1380" b="1" spc="-13">
                <a:solidFill>
                  <a:srgbClr val="FFFFFF"/>
                </a:solidFill>
                <a:latin typeface="Montserrat Medium"/>
                <a:ea typeface="Montserrat Medium"/>
                <a:cs typeface="Montserrat Medium"/>
                <a:sym typeface="Montserrat Medium"/>
              </a:rPr>
              <a:t>Microservices Layer</a:t>
            </a:r>
          </a:p>
        </p:txBody>
      </p:sp>
      <p:sp>
        <p:nvSpPr>
          <p:cNvPr id="31" name="TextBox 31"/>
          <p:cNvSpPr txBox="1"/>
          <p:nvPr/>
        </p:nvSpPr>
        <p:spPr>
          <a:xfrm>
            <a:off x="14002144" y="5143500"/>
            <a:ext cx="2402692" cy="209550"/>
          </a:xfrm>
          <a:prstGeom prst="rect">
            <a:avLst/>
          </a:prstGeom>
        </p:spPr>
        <p:txBody>
          <a:bodyPr lIns="0" tIns="0" rIns="0" bIns="0" rtlCol="0" anchor="t">
            <a:spAutoFit/>
          </a:bodyPr>
          <a:lstStyle/>
          <a:p>
            <a:pPr marL="0" lvl="0" indent="0" algn="l">
              <a:lnSpc>
                <a:spcPts val="1657"/>
              </a:lnSpc>
            </a:pPr>
            <a:r>
              <a:rPr lang="en-US" sz="1380" b="1" spc="-13">
                <a:solidFill>
                  <a:srgbClr val="FFFFFF"/>
                </a:solidFill>
                <a:latin typeface="Montserrat Medium"/>
                <a:ea typeface="Montserrat Medium"/>
                <a:cs typeface="Montserrat Medium"/>
                <a:sym typeface="Montserrat Medium"/>
              </a:rPr>
              <a:t>Docker &amp; Kubernetes</a:t>
            </a:r>
          </a:p>
        </p:txBody>
      </p:sp>
      <p:sp>
        <p:nvSpPr>
          <p:cNvPr id="32" name="TextBox 32"/>
          <p:cNvSpPr txBox="1"/>
          <p:nvPr/>
        </p:nvSpPr>
        <p:spPr>
          <a:xfrm>
            <a:off x="14002144" y="7055766"/>
            <a:ext cx="2402692" cy="209550"/>
          </a:xfrm>
          <a:prstGeom prst="rect">
            <a:avLst/>
          </a:prstGeom>
        </p:spPr>
        <p:txBody>
          <a:bodyPr lIns="0" tIns="0" rIns="0" bIns="0" rtlCol="0" anchor="t">
            <a:spAutoFit/>
          </a:bodyPr>
          <a:lstStyle/>
          <a:p>
            <a:pPr marL="0" lvl="0" indent="0" algn="l">
              <a:lnSpc>
                <a:spcPts val="1657"/>
              </a:lnSpc>
            </a:pPr>
            <a:r>
              <a:rPr lang="en-US" sz="1380" b="1" spc="-13">
                <a:solidFill>
                  <a:srgbClr val="FFFFFF"/>
                </a:solidFill>
                <a:latin typeface="Montserrat Medium"/>
                <a:ea typeface="Montserrat Medium"/>
                <a:cs typeface="Montserrat Medium"/>
                <a:sym typeface="Montserrat Medium"/>
              </a:rPr>
              <a:t>Cloud Infrastructure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4181">
                <a:alpha val="100000"/>
              </a:srgbClr>
            </a:gs>
            <a:gs pos="100000">
              <a:srgbClr val="0A254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028700" y="3926038"/>
            <a:ext cx="16230600" cy="4974747"/>
            <a:chOff x="0" y="0"/>
            <a:chExt cx="4767256" cy="1461184"/>
          </a:xfrm>
        </p:grpSpPr>
        <p:sp>
          <p:nvSpPr>
            <p:cNvPr id="3" name="Freeform 3"/>
            <p:cNvSpPr/>
            <p:nvPr/>
          </p:nvSpPr>
          <p:spPr>
            <a:xfrm>
              <a:off x="0" y="0"/>
              <a:ext cx="4767256" cy="1461184"/>
            </a:xfrm>
            <a:custGeom>
              <a:avLst/>
              <a:gdLst/>
              <a:ahLst/>
              <a:cxnLst/>
              <a:rect l="l" t="t" r="r" b="b"/>
              <a:pathLst>
                <a:path w="4767256" h="1461184">
                  <a:moveTo>
                    <a:pt x="0" y="0"/>
                  </a:moveTo>
                  <a:lnTo>
                    <a:pt x="4767256" y="0"/>
                  </a:lnTo>
                  <a:lnTo>
                    <a:pt x="4767256" y="1461184"/>
                  </a:lnTo>
                  <a:lnTo>
                    <a:pt x="0" y="1461184"/>
                  </a:lnTo>
                  <a:close/>
                </a:path>
              </a:pathLst>
            </a:custGeom>
            <a:gradFill rotWithShape="1">
              <a:gsLst>
                <a:gs pos="0">
                  <a:srgbClr val="004181">
                    <a:alpha val="0"/>
                  </a:srgbClr>
                </a:gs>
                <a:gs pos="100000">
                  <a:srgbClr val="004181">
                    <a:alpha val="100000"/>
                  </a:srgbClr>
                </a:gs>
              </a:gsLst>
              <a:lin ang="5400000"/>
            </a:gradFill>
          </p:spPr>
        </p:sp>
        <p:sp>
          <p:nvSpPr>
            <p:cNvPr id="4" name="TextBox 4"/>
            <p:cNvSpPr txBox="1"/>
            <p:nvPr/>
          </p:nvSpPr>
          <p:spPr>
            <a:xfrm>
              <a:off x="0" y="-38100"/>
              <a:ext cx="4767256" cy="149928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2393662" y="1839849"/>
            <a:ext cx="4041163" cy="3303651"/>
          </a:xfrm>
          <a:custGeom>
            <a:avLst/>
            <a:gdLst/>
            <a:ahLst/>
            <a:cxnLst/>
            <a:rect l="l" t="t" r="r" b="b"/>
            <a:pathLst>
              <a:path w="4041163" h="3303651">
                <a:moveTo>
                  <a:pt x="0" y="0"/>
                </a:moveTo>
                <a:lnTo>
                  <a:pt x="4041164" y="0"/>
                </a:lnTo>
                <a:lnTo>
                  <a:pt x="4041164" y="3303651"/>
                </a:lnTo>
                <a:lnTo>
                  <a:pt x="0" y="3303651"/>
                </a:lnTo>
                <a:lnTo>
                  <a:pt x="0" y="0"/>
                </a:lnTo>
                <a:close/>
              </a:path>
            </a:pathLst>
          </a:custGeom>
          <a:blipFill>
            <a:blip r:embed="rId2"/>
            <a:stretch>
              <a:fillRect/>
            </a:stretch>
          </a:blipFill>
        </p:spPr>
      </p:sp>
      <p:sp>
        <p:nvSpPr>
          <p:cNvPr id="6" name="TextBox 6"/>
          <p:cNvSpPr txBox="1"/>
          <p:nvPr/>
        </p:nvSpPr>
        <p:spPr>
          <a:xfrm>
            <a:off x="7682784" y="2135980"/>
            <a:ext cx="8211554" cy="2060433"/>
          </a:xfrm>
          <a:prstGeom prst="rect">
            <a:avLst/>
          </a:prstGeom>
        </p:spPr>
        <p:txBody>
          <a:bodyPr lIns="0" tIns="0" rIns="0" bIns="0" rtlCol="0" anchor="t">
            <a:spAutoFit/>
          </a:bodyPr>
          <a:lstStyle/>
          <a:p>
            <a:pPr marL="0" lvl="0" indent="0" algn="l">
              <a:lnSpc>
                <a:spcPts val="7994"/>
              </a:lnSpc>
            </a:pPr>
            <a:r>
              <a:rPr lang="en-US" sz="7994" b="1" spc="-639">
                <a:solidFill>
                  <a:srgbClr val="FFFFFF"/>
                </a:solidFill>
                <a:latin typeface="Montserrat Medium"/>
                <a:ea typeface="Montserrat Medium"/>
                <a:cs typeface="Montserrat Medium"/>
                <a:sym typeface="Montserrat Medium"/>
              </a:rPr>
              <a:t>Summary of Key Concepts</a:t>
            </a:r>
          </a:p>
        </p:txBody>
      </p:sp>
      <p:grpSp>
        <p:nvGrpSpPr>
          <p:cNvPr id="7" name="Group 7"/>
          <p:cNvGrpSpPr/>
          <p:nvPr/>
        </p:nvGrpSpPr>
        <p:grpSpPr>
          <a:xfrm>
            <a:off x="1864676" y="6149534"/>
            <a:ext cx="4161264" cy="1995058"/>
            <a:chOff x="0" y="0"/>
            <a:chExt cx="5548351" cy="2660077"/>
          </a:xfrm>
        </p:grpSpPr>
        <p:sp>
          <p:nvSpPr>
            <p:cNvPr id="8" name="TextBox 8"/>
            <p:cNvSpPr txBox="1"/>
            <p:nvPr/>
          </p:nvSpPr>
          <p:spPr>
            <a:xfrm>
              <a:off x="0" y="540787"/>
              <a:ext cx="5268634" cy="2119290"/>
            </a:xfrm>
            <a:prstGeom prst="rect">
              <a:avLst/>
            </a:prstGeom>
          </p:spPr>
          <p:txBody>
            <a:bodyPr lIns="0" tIns="0" rIns="0" bIns="0" rtlCol="0" anchor="t">
              <a:spAutoFit/>
            </a:bodyPr>
            <a:lstStyle/>
            <a:p>
              <a:pPr marL="0" lvl="0" indent="0" algn="l">
                <a:lnSpc>
                  <a:spcPts val="2166"/>
                </a:lnSpc>
              </a:pPr>
              <a:r>
                <a:rPr lang="en-US" sz="1547" spc="-15">
                  <a:solidFill>
                    <a:srgbClr val="FFFFFF"/>
                  </a:solidFill>
                  <a:latin typeface="Montserrat Extra-Light"/>
                  <a:ea typeface="Montserrat Extra-Light"/>
                  <a:cs typeface="Montserrat Extra-Light"/>
                  <a:sym typeface="Montserrat Extra-Light"/>
                </a:rPr>
                <a:t>Containers are lightweight, portable, isolated software packages bundling app code and dependencies. Docker provides a platform to build, ship, and run containers consistently across environments with high efficiency.</a:t>
              </a:r>
            </a:p>
          </p:txBody>
        </p:sp>
        <p:sp>
          <p:nvSpPr>
            <p:cNvPr id="9" name="TextBox 9"/>
            <p:cNvSpPr txBox="1"/>
            <p:nvPr/>
          </p:nvSpPr>
          <p:spPr>
            <a:xfrm>
              <a:off x="0" y="0"/>
              <a:ext cx="5548351" cy="355600"/>
            </a:xfrm>
            <a:prstGeom prst="rect">
              <a:avLst/>
            </a:prstGeom>
          </p:spPr>
          <p:txBody>
            <a:bodyPr lIns="0" tIns="0" rIns="0" bIns="0" rtlCol="0" anchor="t">
              <a:spAutoFit/>
            </a:bodyPr>
            <a:lstStyle/>
            <a:p>
              <a:pPr marL="0" lvl="0" indent="0" algn="l">
                <a:lnSpc>
                  <a:spcPts val="2109"/>
                </a:lnSpc>
              </a:pPr>
              <a:r>
                <a:rPr lang="en-US" sz="1757" b="1" spc="-17">
                  <a:solidFill>
                    <a:srgbClr val="FFFFFF"/>
                  </a:solidFill>
                  <a:latin typeface="Montserrat Medium"/>
                  <a:ea typeface="Montserrat Medium"/>
                  <a:cs typeface="Montserrat Medium"/>
                  <a:sym typeface="Montserrat Medium"/>
                </a:rPr>
                <a:t>Container Technology &amp; Docker</a:t>
              </a:r>
            </a:p>
          </p:txBody>
        </p:sp>
      </p:grpSp>
      <p:grpSp>
        <p:nvGrpSpPr>
          <p:cNvPr id="10" name="Group 10"/>
          <p:cNvGrpSpPr/>
          <p:nvPr/>
        </p:nvGrpSpPr>
        <p:grpSpPr>
          <a:xfrm>
            <a:off x="7319662" y="6149534"/>
            <a:ext cx="3939913" cy="1728358"/>
            <a:chOff x="0" y="0"/>
            <a:chExt cx="5253217" cy="2304477"/>
          </a:xfrm>
        </p:grpSpPr>
        <p:sp>
          <p:nvSpPr>
            <p:cNvPr id="11" name="TextBox 11"/>
            <p:cNvSpPr txBox="1"/>
            <p:nvPr/>
          </p:nvSpPr>
          <p:spPr>
            <a:xfrm>
              <a:off x="0" y="540787"/>
              <a:ext cx="5253217" cy="1763690"/>
            </a:xfrm>
            <a:prstGeom prst="rect">
              <a:avLst/>
            </a:prstGeom>
          </p:spPr>
          <p:txBody>
            <a:bodyPr lIns="0" tIns="0" rIns="0" bIns="0" rtlCol="0" anchor="t">
              <a:spAutoFit/>
            </a:bodyPr>
            <a:lstStyle/>
            <a:p>
              <a:pPr marL="0" lvl="0" indent="0" algn="l">
                <a:lnSpc>
                  <a:spcPts val="2166"/>
                </a:lnSpc>
              </a:pPr>
              <a:r>
                <a:rPr lang="en-US" sz="1547" spc="-15">
                  <a:solidFill>
                    <a:srgbClr val="FFFFFF"/>
                  </a:solidFill>
                  <a:latin typeface="Montserrat Extra-Light"/>
                  <a:ea typeface="Montserrat Extra-Light"/>
                  <a:cs typeface="Montserrat Extra-Light"/>
                  <a:sym typeface="Montserrat Extra-Light"/>
                </a:rPr>
                <a:t>Docker images are read-only layered templates; containers are their running instances. Registries such as Docker Hub, Azure CR, and Amazon ECR store and distribute images via push/pull workflows.</a:t>
              </a:r>
            </a:p>
          </p:txBody>
        </p:sp>
        <p:sp>
          <p:nvSpPr>
            <p:cNvPr id="12" name="TextBox 12"/>
            <p:cNvSpPr txBox="1"/>
            <p:nvPr/>
          </p:nvSpPr>
          <p:spPr>
            <a:xfrm>
              <a:off x="0" y="0"/>
              <a:ext cx="4700411" cy="355600"/>
            </a:xfrm>
            <a:prstGeom prst="rect">
              <a:avLst/>
            </a:prstGeom>
          </p:spPr>
          <p:txBody>
            <a:bodyPr lIns="0" tIns="0" rIns="0" bIns="0" rtlCol="0" anchor="t">
              <a:spAutoFit/>
            </a:bodyPr>
            <a:lstStyle/>
            <a:p>
              <a:pPr marL="0" lvl="0" indent="0" algn="l">
                <a:lnSpc>
                  <a:spcPts val="2109"/>
                </a:lnSpc>
              </a:pPr>
              <a:r>
                <a:rPr lang="en-US" sz="1757" b="1" spc="-17">
                  <a:solidFill>
                    <a:srgbClr val="FFFFFF"/>
                  </a:solidFill>
                  <a:latin typeface="Montserrat Medium"/>
                  <a:ea typeface="Montserrat Medium"/>
                  <a:cs typeface="Montserrat Medium"/>
                  <a:sym typeface="Montserrat Medium"/>
                </a:rPr>
                <a:t>Images, Containers &amp; Registries</a:t>
              </a:r>
            </a:p>
          </p:txBody>
        </p:sp>
      </p:grpSp>
      <p:grpSp>
        <p:nvGrpSpPr>
          <p:cNvPr id="13" name="Group 13"/>
          <p:cNvGrpSpPr/>
          <p:nvPr/>
        </p:nvGrpSpPr>
        <p:grpSpPr>
          <a:xfrm>
            <a:off x="12553297" y="6149534"/>
            <a:ext cx="3939913" cy="1995058"/>
            <a:chOff x="0" y="0"/>
            <a:chExt cx="5253217" cy="2660077"/>
          </a:xfrm>
        </p:grpSpPr>
        <p:sp>
          <p:nvSpPr>
            <p:cNvPr id="14" name="TextBox 14"/>
            <p:cNvSpPr txBox="1"/>
            <p:nvPr/>
          </p:nvSpPr>
          <p:spPr>
            <a:xfrm>
              <a:off x="0" y="540787"/>
              <a:ext cx="5253217" cy="2119290"/>
            </a:xfrm>
            <a:prstGeom prst="rect">
              <a:avLst/>
            </a:prstGeom>
          </p:spPr>
          <p:txBody>
            <a:bodyPr lIns="0" tIns="0" rIns="0" bIns="0" rtlCol="0" anchor="t">
              <a:spAutoFit/>
            </a:bodyPr>
            <a:lstStyle/>
            <a:p>
              <a:pPr marL="0" lvl="0" indent="0" algn="l">
                <a:lnSpc>
                  <a:spcPts val="2166"/>
                </a:lnSpc>
              </a:pPr>
              <a:r>
                <a:rPr lang="en-US" sz="1547" spc="-15">
                  <a:solidFill>
                    <a:srgbClr val="FFFFFF"/>
                  </a:solidFill>
                  <a:latin typeface="Montserrat Extra-Light"/>
                  <a:ea typeface="Montserrat Extra-Light"/>
                  <a:cs typeface="Montserrat Extra-Light"/>
                  <a:sym typeface="Montserrat Extra-Light"/>
                </a:rPr>
                <a:t>Kubernetes automates deployment, scaling, load balancing, and self-healing of containerized services. Its master-worker architecture manages pods across nodes, enabling high availability and zero-downtime rolling updates.</a:t>
              </a:r>
            </a:p>
          </p:txBody>
        </p:sp>
        <p:sp>
          <p:nvSpPr>
            <p:cNvPr id="15" name="TextBox 15"/>
            <p:cNvSpPr txBox="1"/>
            <p:nvPr/>
          </p:nvSpPr>
          <p:spPr>
            <a:xfrm>
              <a:off x="0" y="0"/>
              <a:ext cx="4700411" cy="355600"/>
            </a:xfrm>
            <a:prstGeom prst="rect">
              <a:avLst/>
            </a:prstGeom>
          </p:spPr>
          <p:txBody>
            <a:bodyPr lIns="0" tIns="0" rIns="0" bIns="0" rtlCol="0" anchor="t">
              <a:spAutoFit/>
            </a:bodyPr>
            <a:lstStyle/>
            <a:p>
              <a:pPr marL="0" lvl="0" indent="0" algn="l">
                <a:lnSpc>
                  <a:spcPts val="2109"/>
                </a:lnSpc>
              </a:pPr>
              <a:r>
                <a:rPr lang="en-US" sz="1757" b="1" spc="-17">
                  <a:solidFill>
                    <a:srgbClr val="FFFFFF"/>
                  </a:solidFill>
                  <a:latin typeface="Montserrat Medium"/>
                  <a:ea typeface="Montserrat Medium"/>
                  <a:cs typeface="Montserrat Medium"/>
                  <a:sym typeface="Montserrat Medium"/>
                </a:rPr>
                <a:t>Kubernetes &amp; Orchestration</a:t>
              </a:r>
            </a:p>
          </p:txBody>
        </p:sp>
      </p:grpSp>
      <p:grpSp>
        <p:nvGrpSpPr>
          <p:cNvPr id="16" name="Group 16"/>
          <p:cNvGrpSpPr/>
          <p:nvPr/>
        </p:nvGrpSpPr>
        <p:grpSpPr>
          <a:xfrm>
            <a:off x="-425100" y="7079291"/>
            <a:ext cx="850199" cy="1072772"/>
            <a:chOff x="0" y="0"/>
            <a:chExt cx="249721" cy="315095"/>
          </a:xfrm>
        </p:grpSpPr>
        <p:sp>
          <p:nvSpPr>
            <p:cNvPr id="17" name="Freeform 17"/>
            <p:cNvSpPr/>
            <p:nvPr/>
          </p:nvSpPr>
          <p:spPr>
            <a:xfrm>
              <a:off x="0" y="0"/>
              <a:ext cx="249721" cy="315095"/>
            </a:xfrm>
            <a:custGeom>
              <a:avLst/>
              <a:gdLst/>
              <a:ahLst/>
              <a:cxnLst/>
              <a:rect l="l" t="t" r="r" b="b"/>
              <a:pathLst>
                <a:path w="249721" h="315095">
                  <a:moveTo>
                    <a:pt x="0" y="0"/>
                  </a:moveTo>
                  <a:lnTo>
                    <a:pt x="249721" y="0"/>
                  </a:lnTo>
                  <a:lnTo>
                    <a:pt x="249721" y="315095"/>
                  </a:lnTo>
                  <a:lnTo>
                    <a:pt x="0" y="315095"/>
                  </a:lnTo>
                  <a:close/>
                </a:path>
              </a:pathLst>
            </a:custGeom>
            <a:solidFill>
              <a:srgbClr val="CAF0F8"/>
            </a:solidFill>
          </p:spPr>
        </p:sp>
        <p:sp>
          <p:nvSpPr>
            <p:cNvPr id="18" name="TextBox 18"/>
            <p:cNvSpPr txBox="1"/>
            <p:nvPr/>
          </p:nvSpPr>
          <p:spPr>
            <a:xfrm>
              <a:off x="0" y="-38100"/>
              <a:ext cx="249721" cy="353195"/>
            </a:xfrm>
            <a:prstGeom prst="rect">
              <a:avLst/>
            </a:prstGeom>
          </p:spPr>
          <p:txBody>
            <a:bodyPr lIns="50800" tIns="50800" rIns="50800" bIns="50800" rtlCol="0" anchor="ctr"/>
            <a:lstStyle/>
            <a:p>
              <a:pPr marL="0" lvl="0" indent="0" algn="ctr">
                <a:lnSpc>
                  <a:spcPts val="2659"/>
                </a:lnSpc>
                <a:spcBef>
                  <a:spcPct val="0"/>
                </a:spcBef>
              </a:pP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TextBox 3"/>
          <p:cNvSpPr txBox="1"/>
          <p:nvPr/>
        </p:nvSpPr>
        <p:spPr>
          <a:xfrm>
            <a:off x="1028700" y="1657538"/>
            <a:ext cx="8739647" cy="507112"/>
          </a:xfrm>
          <a:prstGeom prst="rect">
            <a:avLst/>
          </a:prstGeom>
        </p:spPr>
        <p:txBody>
          <a:bodyPr lIns="0" tIns="0" rIns="0" bIns="0" rtlCol="0" anchor="t">
            <a:spAutoFit/>
          </a:bodyPr>
          <a:lstStyle/>
          <a:p>
            <a:pPr marL="0" lvl="0" indent="0" algn="l">
              <a:lnSpc>
                <a:spcPts val="3840"/>
              </a:lnSpc>
            </a:pPr>
            <a:r>
              <a:rPr lang="en-US" sz="3840" b="1" spc="-307">
                <a:solidFill>
                  <a:srgbClr val="FFFFFF"/>
                </a:solidFill>
                <a:latin typeface="Montserrat Medium"/>
                <a:ea typeface="Montserrat Medium"/>
                <a:cs typeface="Montserrat Medium"/>
                <a:sym typeface="Montserrat Medium"/>
              </a:rPr>
              <a:t>Quiz: Test Your Knowledge</a:t>
            </a:r>
          </a:p>
        </p:txBody>
      </p:sp>
      <p:sp>
        <p:nvSpPr>
          <p:cNvPr id="4" name="TextBox 4"/>
          <p:cNvSpPr txBox="1"/>
          <p:nvPr/>
        </p:nvSpPr>
        <p:spPr>
          <a:xfrm>
            <a:off x="1028700" y="5347541"/>
            <a:ext cx="4530746" cy="438912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a:ea typeface="Montserrat"/>
                <a:cs typeface="Montserrat"/>
                <a:sym typeface="Montserrat"/>
              </a:rPr>
              <a:t>Q1. What is the main advantage of containers over virtual machines?</a:t>
            </a:r>
          </a:p>
          <a:p>
            <a:pPr marL="0" lvl="0" indent="0" algn="l">
              <a:lnSpc>
                <a:spcPts val="1679"/>
              </a:lnSpc>
            </a:pPr>
            <a:r>
              <a:rPr lang="en-US" sz="1200" spc="-12">
                <a:solidFill>
                  <a:srgbClr val="FFFFFF"/>
                </a:solidFill>
                <a:latin typeface="Montserrat"/>
                <a:ea typeface="Montserrat"/>
                <a:cs typeface="Montserrat"/>
                <a:sym typeface="Montserrat"/>
              </a:rPr>
              <a:t>A) Containers include a full OS   B) Containers are lightweight and share the host OS kernel   C) Containers require a hypervisor   D) Containers are slower to start</a:t>
            </a:r>
          </a:p>
          <a:p>
            <a:pPr marL="0" lvl="0" indent="0" algn="l">
              <a:lnSpc>
                <a:spcPts val="1679"/>
              </a:lnSpc>
            </a:pPr>
            <a:r>
              <a:rPr lang="en-US" sz="1200" spc="-12">
                <a:solidFill>
                  <a:srgbClr val="FFFFFF"/>
                </a:solidFill>
                <a:latin typeface="Montserrat"/>
                <a:ea typeface="Montserrat"/>
                <a:cs typeface="Montserrat"/>
                <a:sym typeface="Montserrat"/>
              </a:rPr>
              <a:t>Q2. Which component of Docker is responsible for building and running containers?</a:t>
            </a:r>
          </a:p>
          <a:p>
            <a:pPr marL="0" lvl="0" indent="0" algn="l">
              <a:lnSpc>
                <a:spcPts val="1679"/>
              </a:lnSpc>
            </a:pPr>
            <a:r>
              <a:rPr lang="en-US" sz="1200" spc="-12">
                <a:solidFill>
                  <a:srgbClr val="FFFFFF"/>
                </a:solidFill>
                <a:latin typeface="Montserrat"/>
                <a:ea typeface="Montserrat"/>
                <a:cs typeface="Montserrat"/>
                <a:sym typeface="Montserrat"/>
              </a:rPr>
              <a:t>A) Docker Registry   B) Docker Client   C) Docker Daemon   D) Docker Hub</a:t>
            </a:r>
          </a:p>
          <a:p>
            <a:pPr marL="0" lvl="0" indent="0" algn="l">
              <a:lnSpc>
                <a:spcPts val="1679"/>
              </a:lnSpc>
            </a:pPr>
            <a:r>
              <a:rPr lang="en-US" sz="1200" spc="-12">
                <a:solidFill>
                  <a:srgbClr val="FFFFFF"/>
                </a:solidFill>
                <a:latin typeface="Montserrat"/>
                <a:ea typeface="Montserrat"/>
                <a:cs typeface="Montserrat"/>
                <a:sym typeface="Montserrat"/>
              </a:rPr>
              <a:t>Q3. What is a Docker image?</a:t>
            </a:r>
          </a:p>
          <a:p>
            <a:pPr marL="0" lvl="0" indent="0" algn="l">
              <a:lnSpc>
                <a:spcPts val="1679"/>
              </a:lnSpc>
            </a:pPr>
            <a:r>
              <a:rPr lang="en-US" sz="1200" spc="-12">
                <a:solidFill>
                  <a:srgbClr val="FFFFFF"/>
                </a:solidFill>
                <a:latin typeface="Montserrat"/>
                <a:ea typeface="Montserrat"/>
                <a:cs typeface="Montserrat"/>
                <a:sym typeface="Montserrat"/>
              </a:rPr>
              <a:t>A) A running container instance   B) A read-only template used to create containers   C) A storage registry   D) A network configuration file</a:t>
            </a:r>
          </a:p>
          <a:p>
            <a:pPr marL="0" lvl="0" indent="0" algn="l">
              <a:lnSpc>
                <a:spcPts val="1679"/>
              </a:lnSpc>
            </a:pPr>
            <a:r>
              <a:rPr lang="en-US" sz="1200" spc="-12">
                <a:solidFill>
                  <a:srgbClr val="FFFFFF"/>
                </a:solidFill>
                <a:latin typeface="Montserrat"/>
                <a:ea typeface="Montserrat"/>
                <a:cs typeface="Montserrat"/>
                <a:sym typeface="Montserrat"/>
              </a:rPr>
              <a:t>Q4. In Kubernetes architecture, which component schedules workloads onto worker nodes?</a:t>
            </a:r>
          </a:p>
          <a:p>
            <a:pPr marL="0" lvl="0" indent="0" algn="l">
              <a:lnSpc>
                <a:spcPts val="1679"/>
              </a:lnSpc>
            </a:pPr>
            <a:r>
              <a:rPr lang="en-US" sz="1200" spc="-12">
                <a:solidFill>
                  <a:srgbClr val="FFFFFF"/>
                </a:solidFill>
                <a:latin typeface="Montserrat"/>
                <a:ea typeface="Montserrat"/>
                <a:cs typeface="Montserrat"/>
                <a:sym typeface="Montserrat"/>
              </a:rPr>
              <a:t>A) Controller Manager   B) kubelet   C) API Server   D) Scheduler</a:t>
            </a:r>
          </a:p>
          <a:p>
            <a:pPr marL="0" lvl="0" indent="0" algn="l">
              <a:lnSpc>
                <a:spcPts val="1679"/>
              </a:lnSpc>
            </a:pPr>
            <a:r>
              <a:rPr lang="en-US" sz="1200" spc="-12">
                <a:solidFill>
                  <a:srgbClr val="FFFFFF"/>
                </a:solidFill>
                <a:latin typeface="Montserrat"/>
                <a:ea typeface="Montserrat"/>
                <a:cs typeface="Montserrat"/>
                <a:sym typeface="Montserrat"/>
              </a:rPr>
              <a:t>Q5. Which feature of container orchestration ensures a failed container is automatically restarted?</a:t>
            </a:r>
          </a:p>
          <a:p>
            <a:pPr marL="0" lvl="0" indent="0" algn="l">
              <a:lnSpc>
                <a:spcPts val="1679"/>
              </a:lnSpc>
            </a:pPr>
            <a:r>
              <a:rPr lang="en-US" sz="1200" spc="-12">
                <a:solidFill>
                  <a:srgbClr val="FFFFFF"/>
                </a:solidFill>
                <a:latin typeface="Montserrat"/>
                <a:ea typeface="Montserrat"/>
                <a:cs typeface="Montserrat"/>
                <a:sym typeface="Montserrat"/>
              </a:rPr>
              <a:t>A) Load balancing   B) Rolling updates   C) Self-healing   D) Auto-scaling</a:t>
            </a:r>
          </a:p>
        </p:txBody>
      </p:sp>
      <p:sp>
        <p:nvSpPr>
          <p:cNvPr id="5" name="TextBox 5"/>
          <p:cNvSpPr txBox="1"/>
          <p:nvPr/>
        </p:nvSpPr>
        <p:spPr>
          <a:xfrm>
            <a:off x="1028700" y="8139317"/>
            <a:ext cx="7152633" cy="198120"/>
          </a:xfrm>
          <a:prstGeom prst="rect">
            <a:avLst/>
          </a:prstGeom>
        </p:spPr>
        <p:txBody>
          <a:bodyPr lIns="0" tIns="0" rIns="0" bIns="0" rtlCol="0" anchor="t">
            <a:spAutoFit/>
          </a:bodyPr>
          <a:lstStyle/>
          <a:p>
            <a:pPr marL="0" lvl="0" indent="0" algn="l">
              <a:lnSpc>
                <a:spcPts val="1679"/>
              </a:lnSpc>
            </a:pPr>
            <a:r>
              <a:rPr lang="en-US" sz="1200" spc="-12">
                <a:solidFill>
                  <a:srgbClr val="FFFFFF"/>
                </a:solidFill>
                <a:latin typeface="Montserrat Light"/>
                <a:ea typeface="Montserrat Light"/>
                <a:cs typeface="Montserrat Light"/>
                <a:sym typeface="Montserrat Light"/>
              </a:rPr>
              <a:t>Answers: Q1-B | Q2-C | Q3-B | Q4-D | Q5-C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2698</Words>
  <Application>Microsoft Office PowerPoint</Application>
  <PresentationFormat>Custom</PresentationFormat>
  <Paragraphs>259</Paragraphs>
  <Slides>25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Montserrat Extra-Light</vt:lpstr>
      <vt:lpstr>Montserrat</vt:lpstr>
      <vt:lpstr>Montserrat Light</vt:lpstr>
      <vt:lpstr>Calibri</vt:lpstr>
      <vt:lpstr>Arial</vt:lpstr>
      <vt:lpstr>Montserrat Semi-Bold</vt:lpstr>
      <vt:lpstr>Montserrat Bold</vt:lpstr>
      <vt:lpstr>Montserrat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Containerization &amp; Orchestration in Service-Oriented Computing</dc:title>
  <cp:lastModifiedBy>Dileepa Hewapaula</cp:lastModifiedBy>
  <cp:revision>3</cp:revision>
  <dcterms:created xsi:type="dcterms:W3CDTF">2006-08-16T00:00:00Z</dcterms:created>
  <dcterms:modified xsi:type="dcterms:W3CDTF">2026-07-16T04:06:03Z</dcterms:modified>
  <dc:identifier>DAHPg79Q4f8</dc:identifier>
</cp:coreProperties>
</file>